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comments/modernComment_105_0.xml" ContentType="application/vnd.ms-powerpoint.comments+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E5E640-7F79-FF29-205D-1B29E61CA69F}" name="Joaquin Parraud ." initials="J." userId="S::j.parraud@udd.cl::da4bcfb9-3e74-4f6e-becb-854b82d367b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2" dt="2026-10-27T02:48:38.868"/>
    <p1510:client id="{15E97443-650F-44DE-A624-5B4B4F22B577}" v="5" dt="2026-10-27T02:26:05.836"/>
    <p1510:client id="{2EB3F7DB-372A-9D29-63AD-F344EC44389F}" v="8" dt="2026-10-27T01:52:04.443"/>
    <p1510:client id="{52D57F31-4A7C-FB6B-8010-4A07E0E8CE10}" v="15" dt="2026-10-27T02:50:06.546"/>
    <p1510:client id="{9D8545D6-CC1A-2802-995B-4E8A4E8CD36C}" v="21" dt="2026-10-27T02:41:05.517"/>
    <p1510:client id="{A46D2EBF-A78F-3E42-8476-7476AE74CC8F}" v="247" dt="2026-10-27T02:50:58.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4"/>
    <p:restoredTop sz="90462"/>
  </p:normalViewPr>
  <p:slideViewPr>
    <p:cSldViewPr snapToGrid="0" snapToObjects="1">
      <p:cViewPr>
        <p:scale>
          <a:sx n="107" d="100"/>
          <a:sy n="107" d="100"/>
        </p:scale>
        <p:origin x="2152" y="1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doughnutChart>
        <c:varyColors val="1"/>
        <c:ser>
          <c:idx val="0"/>
          <c:order val="0"/>
          <c:tx>
            <c:strRef>
              <c:f>Sheet1!$B$1</c:f>
              <c:strCache>
                <c:ptCount val="1"/>
                <c:pt idx="0">
                  <c:v>Buyers</c:v>
                </c:pt>
              </c:strCache>
            </c:strRef>
          </c:tx>
          <c:spPr>
            <a:solidFill>
              <a:schemeClr val="accent1"/>
            </a:solidFill>
            <a:ln w="9525" cap="flat">
              <a:solidFill>
                <a:srgbClr val="F9F9F9"/>
              </a:solidFill>
              <a:prstDash val="solid"/>
              <a:round/>
            </a:ln>
            <a:effectLst/>
          </c:spPr>
          <c:dPt>
            <c:idx val="0"/>
            <c:bubble3D val="0"/>
            <c:spPr>
              <a:solidFill>
                <a:srgbClr val="2340E0"/>
              </a:solidFill>
              <a:ln w="25400" cap="flat">
                <a:solidFill>
                  <a:srgbClr val="FFFFFF"/>
                </a:solidFill>
                <a:prstDash val="solid"/>
                <a:round/>
              </a:ln>
              <a:effectLst/>
            </c:spPr>
            <c:extLst>
              <c:ext xmlns:c16="http://schemas.microsoft.com/office/drawing/2014/chart" uri="{C3380CC4-5D6E-409C-BE32-E72D297353CC}">
                <c16:uniqueId val="{00000001-F33D-6942-BDEE-2F511024015D}"/>
              </c:ext>
            </c:extLst>
          </c:dPt>
          <c:dPt>
            <c:idx val="1"/>
            <c:bubble3D val="0"/>
            <c:spPr>
              <a:solidFill>
                <a:srgbClr val="FFCF1F"/>
              </a:solidFill>
              <a:ln w="25400" cap="flat">
                <a:solidFill>
                  <a:srgbClr val="FFFFFF"/>
                </a:solidFill>
                <a:prstDash val="solid"/>
                <a:round/>
              </a:ln>
              <a:effectLst/>
            </c:spPr>
            <c:extLst>
              <c:ext xmlns:c16="http://schemas.microsoft.com/office/drawing/2014/chart" uri="{C3380CC4-5D6E-409C-BE32-E72D297353CC}">
                <c16:uniqueId val="{00000003-F33D-6942-BDEE-2F511024015D}"/>
              </c:ext>
            </c:extLst>
          </c:dPt>
          <c:cat>
            <c:strRef>
              <c:f>Sheet1!$A$2:$A$3</c:f>
              <c:strCache>
                <c:ptCount val="2"/>
                <c:pt idx="0">
                  <c:v>People</c:v>
                </c:pt>
                <c:pt idx="1">
                  <c:v>Companies</c:v>
                </c:pt>
              </c:strCache>
            </c:strRef>
          </c:cat>
          <c:val>
            <c:numRef>
              <c:f>Sheet1!$B$2:$B$3</c:f>
              <c:numCache>
                <c:formatCode>General</c:formatCode>
                <c:ptCount val="2"/>
                <c:pt idx="0">
                  <c:v>83.8</c:v>
                </c:pt>
                <c:pt idx="1">
                  <c:v>16.2</c:v>
                </c:pt>
              </c:numCache>
            </c:numRef>
          </c:val>
          <c:extLst>
            <c:ext xmlns:c16="http://schemas.microsoft.com/office/drawing/2014/chart" uri="{C3380CC4-5D6E-409C-BE32-E72D297353CC}">
              <c16:uniqueId val="{00000004-F33D-6942-BDEE-2F511024015D}"/>
            </c:ext>
          </c:extLst>
        </c:ser>
        <c:dLbls>
          <c:showLegendKey val="0"/>
          <c:showVal val="0"/>
          <c:showCatName val="0"/>
          <c:showSerName val="0"/>
          <c:showPercent val="0"/>
          <c:showBubbleSize val="0"/>
          <c:showLeaderLines val="0"/>
        </c:dLbls>
        <c:firstSliceAng val="0"/>
        <c:holeSize val="64"/>
      </c:doughnutChart>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3_0.xml><?xml version="1.0" encoding="utf-8"?>
<p188:cmLst xmlns:a="http://schemas.openxmlformats.org/drawingml/2006/main" xmlns:r="http://schemas.openxmlformats.org/officeDocument/2006/relationships" xmlns:p188="http://schemas.microsoft.com/office/powerpoint/2018/8/main">
  <p188:cm id="{29C6002C-29E6-4218-9B9F-F4713F609A93}" authorId="{52E5E640-7F79-FF29-205D-1B29E61CA69F}" created="2026-10-27T02:20:02.146">
    <pc:sldMkLst xmlns:pc="http://schemas.microsoft.com/office/powerpoint/2013/main/command">
      <pc:docMk/>
      <pc:sldMk cId="0" sldId="259"/>
    </pc:sldMkLst>
    <p188:replyLst>
      <p188:reply id="{2D0B50BB-E9CF-4ED4-B2E4-BAA94C038CAE}" authorId="{52E5E640-7F79-FF29-205D-1B29E61CA69F}" created="2026-10-27T02:20:22.662">
        <p188:txBody>
          <a:bodyPr/>
          <a:lstStyle/>
          <a:p>
            <a:r>
              <a:rPr lang="en-US"/>
              <a:t>De la misma manera - Cuanto tarda en hacer la revisión que hacemos nosotros?</a:t>
            </a:r>
          </a:p>
        </p188:txBody>
      </p188:reply>
    </p188:replyLst>
    <p188:txBody>
      <a:bodyPr/>
      <a:lstStyle/>
      <a:p>
        <a:r>
          <a:rPr lang="en-US"/>
          <a:t>Agregar costo de una revisión por un mecánico</a:t>
        </a:r>
      </a:p>
    </p188:txBody>
  </p188:cm>
  <p188:cm id="{688E257C-3FA6-459E-B7D6-33A311504186}" authorId="{52E5E640-7F79-FF29-205D-1B29E61CA69F}" created="2026-10-27T02:36:01.444">
    <ac:deMkLst xmlns:ac="http://schemas.microsoft.com/office/drawing/2013/main/command">
      <pc:docMk xmlns:pc="http://schemas.microsoft.com/office/powerpoint/2013/main/command"/>
      <pc:sldMk xmlns:pc="http://schemas.microsoft.com/office/powerpoint/2013/main/command" cId="0" sldId="259"/>
      <ac:spMk id="187" creationId="{00000000-0000-0000-0000-000000000000}"/>
    </ac:deMkLst>
    <p188:txBody>
      <a:bodyPr/>
      <a:lstStyle/>
      <a:p>
        <a:r>
          <a:rPr lang="en-US"/>
          <a:t>Que es OE5?</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9B659A89-9998-4DA4-BEE9-E54B8038C0D7}" authorId="{52E5E640-7F79-FF29-205D-1B29E61CA69F}" created="2026-10-27T02:21:59.525">
    <pc:sldMkLst xmlns:pc="http://schemas.microsoft.com/office/powerpoint/2013/main/command">
      <pc:docMk/>
      <pc:sldMk cId="0" sldId="260"/>
    </pc:sldMkLst>
    <p188:txBody>
      <a:bodyPr/>
      <a:lstStyle/>
      <a:p>
        <a:r>
          <a:rPr lang="en-US"/>
          <a:t>SMART:
Specific
Measurable
Achievable
Relevant
Timeable</a:t>
        </a:r>
      </a:p>
    </p188:txBody>
  </p188:cm>
  <p188:cm id="{4C31AA2D-E508-463F-A8F7-DE3991E2265E}" authorId="{52E5E640-7F79-FF29-205D-1B29E61CA69F}" created="2026-10-27T02:37:25.447">
    <pc:sldMkLst xmlns:pc="http://schemas.microsoft.com/office/powerpoint/2013/main/command">
      <pc:docMk/>
      <pc:sldMk cId="0" sldId="260"/>
    </pc:sldMkLst>
    <p188:txBody>
      <a:bodyPr/>
      <a:lstStyle/>
      <a:p>
        <a:r>
          <a:rPr lang="en-US"/>
          <a:t>Hay que ponerle plazo teórico a cada uno para ver si nos da un solo mes</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EAF02C53-84DC-42EC-B651-EC20810B35C3}" authorId="{52E5E640-7F79-FF29-205D-1B29E61CA69F}" created="2026-10-27T02:24:01.139">
    <ac:deMkLst xmlns:ac="http://schemas.microsoft.com/office/drawing/2013/main/command">
      <pc:docMk xmlns:pc="http://schemas.microsoft.com/office/powerpoint/2013/main/command"/>
      <pc:sldMk xmlns:pc="http://schemas.microsoft.com/office/powerpoint/2013/main/command" cId="0" sldId="261"/>
      <ac:spMk id="15" creationId="{00000000-0000-0000-0000-000000000000}"/>
    </ac:deMkLst>
    <p188:replyLst>
      <p188:reply id="{65C2664A-DFA9-4752-A1C1-5FE4A7E457F7}" authorId="{52E5E640-7F79-FF29-205D-1B29E61CA69F}" created="2026-10-27T02:38:11.589">
        <p188:txBody>
          <a:bodyPr/>
          <a:lstStyle/>
          <a:p>
            <a:r>
              <a:rPr lang="en-US"/>
              <a:t>No será SO? specific objective
En vez de Objetivo específico</a:t>
            </a:r>
          </a:p>
        </p188:txBody>
      </p188:reply>
    </p188:replyLst>
    <p188:txBody>
      <a:bodyPr/>
      <a:lstStyle/>
      <a:p>
        <a:r>
          <a:rPr lang="en-US"/>
          <a:t>A que se refiere?</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1E0A16B2-7533-4DF0-955B-97B16E9AD691}" authorId="{52E5E640-7F79-FF29-205D-1B29E61CA69F}" created="2026-10-27T02:39:35.561">
    <pc:sldMkLst xmlns:pc="http://schemas.microsoft.com/office/powerpoint/2013/main/command">
      <pc:docMk/>
      <pc:sldMk cId="0" sldId="262"/>
    </pc:sldMkLst>
    <p188:txBody>
      <a:bodyPr/>
      <a:lstStyle/>
      <a:p>
        <a:r>
          <a:rPr lang="en-US"/>
          <a:t>La herramienta no son las entrevistas ni el focus group - Sería laPauta guía para la entrevista en profundidad y la pauta de focus group (No me acuerdo el nombre real) para ese</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00DB285-D539-4BD2-8D7E-43050EE8AB74}" authorId="{52E5E640-7F79-FF29-205D-1B29E61CA69F}" created="2026-10-27T02:40:57.439">
    <pc:sldMkLst xmlns:pc="http://schemas.microsoft.com/office/powerpoint/2013/main/command">
      <pc:docMk/>
      <pc:sldMk cId="0" sldId="263"/>
    </pc:sldMkLst>
    <p188:txBody>
      <a:bodyPr/>
      <a:lstStyle/>
      <a:p>
        <a:r>
          <a:rPr lang="en-US"/>
          <a:t>Entre esta y la anterior hay redundancias ("Why it fits best")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D209C0F-165C-41D3-B448-8B33295B4676}" type="datetimeFigureOut">
              <a:t>26-10-26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24FDDB6-FE4C-4717-8DD8-83F4AFE1FFF4}" type="slidenum">
              <a:t>‹Nº›</a:t>
            </a:fld>
            <a:endParaRPr lang="en-US"/>
          </a:p>
        </p:txBody>
      </p:sp>
    </p:spTree>
    <p:extLst>
      <p:ext uri="{BB962C8B-B14F-4D97-AF65-F5344CB8AC3E}">
        <p14:creationId xmlns:p14="http://schemas.microsoft.com/office/powerpoint/2010/main" val="2641215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InfoCar is B2B and B2C: dealers pay a monthly plan, and private buyers can buy a single report. Today we present our research methodology: the context and what changed after your feedback, our objectives, the mixed sequential method, and the techniques.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1:15. The core of the project is information asymmetry. The seller knows the car's history: crashes, repaint, hidden filler. The buyer only sees an ad and a price. Akerlof called this a market for lemons: since the buyer cannot check, every car is discounted and good cars leave. Two numbers show the cost: the same model is listed from 2 to almost 69 million pesos, so price does not reveal condition; and a car spends 52.3 days on average in an insured repair workshop, so hidden damage shows up late and is costly.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Now we project that gap onto the market. Who faces it: in 2025 there were 1,060,919 used-car transfers; people are 83.8% of buyers, but they buy a car every few years. Our scope, the 557 core dealers from the TAM-SAM-SOM, buy between 3 and 27 cars a month, about 9 on average and some 4,900 in total: they face the gap on every purchase. What widens it: Chinese brands are 41.4% of new sales and 12.95% of used transfers; as their 3 to 5 year warranties end, they reach the used market with little local record of faults or part prices. Who protects the buyer: a dealer sale has a 6-month legal warranty; a private sale has no SERNAC protection, and vehicle-fraud cases rose 64% in 2025 to 41,700.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1:15. Who pays to close the gap. InfoCar builds one condition report from phone photos, and there are two ways to pay for it. B2B: the dealer pays a monthly plan and prices each car knowing the repair cost. B2C: a person buying from a private seller, where there is no legal warranty, buys a single report. Today the alternative is a mechanic: a pre-purchase inspection costs CLP 82,000 to 85,990 per car and takes 1 to 3 hours; an in-house mechanic costs about CLP 4,000 an hour in salary, our estimate, but is not always free. On the plan, InfoCar costs about CLP 6,700 per car, the 59,900 plan divided by about 9 cars a month, and takes minutes. To be fair, photos only see the exterior body; a mechanic also checks the engine and chassis. Rodar reads engine data with an OBD-II scanner. Both prices are hypotheses that specific objective 5, on the next slide, tests.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These objectives are not evaluated again, but they explain the method. The general objective uses a higher-order verb and only names the phenomenon: no method, no who, no where. Each specific objective, SO, is SMART: specific, measurable, achievable, relevant and time-bound. It studies one dimension and informs one business decision. The time column is a theoretical plan: week 1 we explore with interviews and focus groups, week 2 we turn that into the questionnaire and pilot it, and weeks 3 and 4 we measure. All five objectives close within one month.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1:45. We chose a mixed, sequential design. Stage 1 is qualitative, to explore; stage 2 is quantitative, to conclude. The order matters for two reasons. First, appraisal in Chile has no standard: it runs on rules of thumb and informal words, so a closed survey first would measure the wrong things. Second, what we hear in stage 1 becomes the answer options and scales of stage 2. Both stages cover the five specific objectives, SO1 to SO5: stage 1 finds the words and reasons, stage 2 measures how common they 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1:45. For dealers the technique is the one-on-one in-depth interview: margins and workshop deals are trade secrets, and nobody shares them in front of competitors. The instrument is a semi-structured interview guide of 30 to 35 minutes. It gives us hidden pricing rules, how far dealers trust AI, and what fails in tools like GoAuto or Rodar. For private buyers the technique is the moderated focus group: fear of fraud is social, and hearing other people's stories makes buyers talk. The instrument is a moderator's discussion guide for 6 to 8 people, 75 to 90 minutes. It gives us shared risk perceptions, the buyer's own words, and a first reaction to the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For dealers we go face to face to their workplace, in car hubs like Gran Avenida or Av. Bilbao, because dealers rarely answer web surveys; phone calls (CATI) cover regions. The instrument is a structured questionnaire of 8 to 10 minutes on a tablet, so we can show the report prototype. For private buyers we use an online panel with quotas by gender, age, car age and buying channel, and intercept buyers at notaries and inspection plants if a quota fills slowly. The instrument is a self-administered online questionnaire with the same mock-up. What each one measures, objective by objective,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This matrix links the method to the five specific objectives, SO1 to SO5. Read each row from left to right. Step one, in yellow, is stage 1: the outlined boxes are what interviews and focus groups explore, such as the dealers' words for each damage or their objections to AI. That becomes the questions of stage 2, in black: the filled boxes are what the surveys measure, such as severity on a 1 to 5 scale, a choice experiment with and without the repair cost, or a concept test with the Van Westendorp price sensitivity meter (PSM). Step three, in blue, is the business decision each objective informs. A dash means that technique is not used for that objective. As the brief says, population and sample size come in the next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0:45. To close: the diagnosis is a market for lemons; our objective is to understand what certainty is worth; and the method is to listen first and then measure. Thank you.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marL="0" indent="0">
              <a:buNone/>
            </a:pPr>
            <a:r>
              <a:rPr lang="en-US" sz="1300" b="1" dirty="0">
                <a:solidFill>
                  <a:schemeClr val="tx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marL="0" indent="0">
              <a:buNone/>
            </a:pPr>
            <a:r>
              <a:rPr lang="en-US" sz="1000" dirty="0">
                <a:solidFill>
                  <a:schemeClr val="tx2"/>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002-1.png"/>
          <p:cNvPicPr>
            <a:picLocks noChangeAspect="1"/>
          </p:cNvPicPr>
          <p:nvPr/>
        </p:nvPicPr>
        <p:blipFill>
          <a:blip r:embed="rId2"/>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tx1"/>
            </a:solidFill>
          </a:ln>
        </p:spPr>
        <p:txBody>
          <a:bodyPr wrap="square" rtlCol="0" anchor="ctr"/>
          <a:lstStyle/>
          <a:p>
            <a:pPr marL="0" indent="0">
              <a:buNone/>
            </a:pPr>
            <a:endParaRPr lang="en-US" dirty="0"/>
          </a:p>
        </p:txBody>
      </p:sp>
      <p:sp>
        <p:nvSpPr>
          <p:cNvPr id="6" name="Text 3"/>
          <p:cNvSpPr>
            <a:spLocks noGrp="1"/>
          </p:cNvSpPr>
          <p:nvPr>
            <p:ph type="title" idx="104" hasCustomPrompt="1"/>
          </p:nvPr>
        </p:nvSpPr>
        <p:spPr>
          <a:xfrm>
            <a:off x="548640" y="841248"/>
            <a:ext cx="969264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r>
              <a:rPr lang="en-US" sz="3600" b="1" dirty="0">
                <a:solidFill>
                  <a:schemeClr val="tx1"/>
                </a:solidFill>
              </a:rPr>
              <a:t>Title</a:t>
            </a:r>
            <a:endParaRPr lang="en-US" sz="3600" dirty="0"/>
          </a:p>
        </p:txBody>
      </p:sp>
      <p:sp>
        <p:nvSpPr>
          <p:cNvPr id="7" name="Text 3"/>
          <p:cNvSpPr>
            <a:spLocks noGrp="1"/>
          </p:cNvSpPr>
          <p:nvPr>
            <p:ph type="body" idx="105" hasCustomPrompt="1"/>
          </p:nvPr>
        </p:nvSpPr>
        <p:spPr>
          <a:xfrm>
            <a:off x="548640" y="1536192"/>
            <a:ext cx="9692640" cy="548640"/>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r>
              <a:rPr lang="en-US" sz="1500" dirty="0">
                <a:solidFill>
                  <a:schemeClr val="tx2"/>
                </a:solidFill>
              </a:rPr>
              <a:t>Subtitle</a:t>
            </a:r>
            <a:endParaRPr lang="en-US" sz="1500" dirty="0"/>
          </a:p>
        </p:txBody>
      </p:sp>
      <p:sp>
        <p:nvSpPr>
          <p:cNvPr id="8" name="Text 3"/>
          <p:cNvSpPr>
            <a:spLocks noGrp="1"/>
          </p:cNvSpPr>
          <p:nvPr>
            <p:ph type="body" idx="106" hasCustomPrompt="1"/>
          </p:nvPr>
        </p:nvSpPr>
        <p:spPr>
          <a:xfrm>
            <a:off x="548640" y="6309360"/>
            <a:ext cx="9966960" cy="292608"/>
          </a:xfrm>
          <a:prstGeom prst="rect">
            <a:avLst/>
          </a:prstGeom>
          <a:noFill/>
          <a:ln/>
        </p:spPr>
        <p:txBody>
          <a:bodyPr wrap="square" rtlCol="0"/>
          <a:lstStyle>
            <a:lvl1pPr marL="0" indent="0" algn="l">
              <a:buNone/>
              <a:defRPr lang="en-US" sz="850" dirty="0">
                <a:solidFill>
                  <a:schemeClr val="tx2"/>
                </a:solidFill>
              </a:defRPr>
            </a:lvl1pPr>
          </a:lstStyle>
          <a:p>
            <a:pPr marL="0" indent="0" algn="l">
              <a:buNone/>
            </a:pPr>
            <a:r>
              <a:rPr lang="en-US" sz="850" dirty="0">
                <a:solidFill>
                  <a:schemeClr val="tx2"/>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xmlns="" val="0"/>
            </a:ext>
          </a:extLst>
        </p:spPr>
        <p:txBody>
          <a:bodyPr anchor="ctr"/>
          <a:lstStyle>
            <a:lvl1pPr>
              <a:defRPr sz="1000">
                <a:solidFill>
                  <a:schemeClr val="tx1"/>
                </a:solidFill>
              </a:defRPr>
            </a:lvl1pPr>
          </a:lstStyle>
          <a:p>
            <a:pPr algn="ct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chemeClr val="accent3"/>
        </a:solidFill>
        <a:effectLst/>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marL="0" indent="0">
              <a:buNone/>
            </a:pPr>
            <a:r>
              <a:rPr lang="en-US" sz="1300" b="1" dirty="0">
                <a:solidFill>
                  <a:schemeClr val="tx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marL="0" indent="0">
              <a:buNone/>
            </a:pPr>
            <a:r>
              <a:rPr lang="en-US" sz="1000" dirty="0">
                <a:solidFill>
                  <a:schemeClr val="tx2"/>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002-1.png"/>
          <p:cNvPicPr>
            <a:picLocks noChangeAspect="1"/>
          </p:cNvPicPr>
          <p:nvPr/>
        </p:nvPicPr>
        <p:blipFill>
          <a:blip r:embed="rId2"/>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tx1"/>
            </a:solidFill>
          </a:ln>
        </p:spPr>
        <p:txBody>
          <a:bodyPr wrap="square" rtlCol="0" anchor="ctr"/>
          <a:lstStyle/>
          <a:p>
            <a:pPr marL="0" indent="0">
              <a:buNone/>
            </a:pPr>
            <a:endParaRPr lang="en-US" dirty="0"/>
          </a:p>
        </p:txBody>
      </p:sp>
      <p:sp>
        <p:nvSpPr>
          <p:cNvPr id="6" name="Text 3"/>
          <p:cNvSpPr>
            <a:spLocks noGrp="1"/>
          </p:cNvSpPr>
          <p:nvPr>
            <p:ph type="title" idx="104" hasCustomPrompt="1"/>
          </p:nvPr>
        </p:nvSpPr>
        <p:spPr>
          <a:xfrm>
            <a:off x="548640" y="841248"/>
            <a:ext cx="969264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r>
              <a:rPr lang="en-US" sz="3600" b="1" dirty="0">
                <a:solidFill>
                  <a:schemeClr val="tx1"/>
                </a:solidFill>
              </a:rPr>
              <a:t>Title</a:t>
            </a:r>
            <a:endParaRPr lang="en-US" sz="3600" dirty="0"/>
          </a:p>
        </p:txBody>
      </p:sp>
      <p:sp>
        <p:nvSpPr>
          <p:cNvPr id="7" name="Text 3"/>
          <p:cNvSpPr>
            <a:spLocks noGrp="1"/>
          </p:cNvSpPr>
          <p:nvPr>
            <p:ph type="body" idx="105" hasCustomPrompt="1"/>
          </p:nvPr>
        </p:nvSpPr>
        <p:spPr>
          <a:xfrm>
            <a:off x="548640" y="1536192"/>
            <a:ext cx="9692640" cy="548640"/>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r>
              <a:rPr lang="en-US" sz="1500" dirty="0">
                <a:solidFill>
                  <a:schemeClr val="tx2"/>
                </a:solidFill>
              </a:rPr>
              <a:t>Subtitle</a:t>
            </a:r>
            <a:endParaRPr lang="en-US" sz="1500" dirty="0"/>
          </a:p>
        </p:txBody>
      </p:sp>
      <p:sp>
        <p:nvSpPr>
          <p:cNvPr id="8" name="Text 3"/>
          <p:cNvSpPr>
            <a:spLocks noGrp="1"/>
          </p:cNvSpPr>
          <p:nvPr>
            <p:ph type="body" idx="106" hasCustomPrompt="1"/>
          </p:nvPr>
        </p:nvSpPr>
        <p:spPr>
          <a:xfrm>
            <a:off x="548640" y="6309360"/>
            <a:ext cx="9966960" cy="292608"/>
          </a:xfrm>
          <a:prstGeom prst="rect">
            <a:avLst/>
          </a:prstGeom>
          <a:noFill/>
          <a:ln/>
        </p:spPr>
        <p:txBody>
          <a:bodyPr wrap="square" rtlCol="0"/>
          <a:lstStyle>
            <a:lvl1pPr marL="0" indent="0" algn="l">
              <a:buNone/>
              <a:defRPr lang="en-US" sz="850" dirty="0">
                <a:solidFill>
                  <a:schemeClr val="tx2"/>
                </a:solidFill>
              </a:defRPr>
            </a:lvl1pPr>
          </a:lstStyle>
          <a:p>
            <a:pPr marL="0" indent="0" algn="l">
              <a:buNone/>
            </a:pPr>
            <a:r>
              <a:rPr lang="en-US" sz="850" dirty="0">
                <a:solidFill>
                  <a:schemeClr val="tx2"/>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xmlns="" val="0"/>
            </a:ext>
          </a:extLst>
        </p:spPr>
        <p:txBody>
          <a:bodyPr anchor="ctr"/>
          <a:lstStyle>
            <a:lvl1pPr>
              <a:defRPr sz="1000">
                <a:solidFill>
                  <a:schemeClr val="tx1"/>
                </a:solidFill>
              </a:defRPr>
            </a:lvl1pPr>
          </a:lstStyle>
          <a:p>
            <a:pPr algn="ct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chemeClr val="accent1"/>
        </a:solidFill>
        <a:effectLst/>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marL="0" indent="0">
              <a:buNone/>
            </a:pPr>
            <a:r>
              <a:rPr lang="en-US" sz="1300" b="1" dirty="0">
                <a:solidFill>
                  <a:schemeClr val="bg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1.png"/>
          <p:cNvPicPr>
            <a:picLocks noChangeAspect="1"/>
          </p:cNvPicPr>
          <p:nvPr/>
        </p:nvPicPr>
        <p:blipFill>
          <a:blip r:embed="rId2"/>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bg1"/>
            </a:solidFill>
          </a:ln>
        </p:spPr>
        <p:txBody>
          <a:bodyPr wrap="square" rtlCol="0" anchor="ctr"/>
          <a:lstStyle/>
          <a:p>
            <a:pPr marL="0" indent="0">
              <a:buNone/>
            </a:pPr>
            <a:endParaRPr lang="en-US" dirty="0"/>
          </a:p>
        </p:txBody>
      </p:sp>
      <p:sp>
        <p:nvSpPr>
          <p:cNvPr id="6" name="Text 3"/>
          <p:cNvSpPr>
            <a:spLocks noGrp="1"/>
          </p:cNvSpPr>
          <p:nvPr>
            <p:ph type="title" idx="104" hasCustomPrompt="1"/>
          </p:nvPr>
        </p:nvSpPr>
        <p:spPr>
          <a:xfrm>
            <a:off x="548640" y="841248"/>
            <a:ext cx="969264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r>
              <a:rPr lang="en-US" sz="3600" b="1" dirty="0">
                <a:solidFill>
                  <a:schemeClr val="bg1"/>
                </a:solidFill>
              </a:rPr>
              <a:t>Title</a:t>
            </a:r>
            <a:endParaRPr lang="en-US" sz="3600" dirty="0"/>
          </a:p>
        </p:txBody>
      </p:sp>
      <p:sp>
        <p:nvSpPr>
          <p:cNvPr id="7" name="Text 3"/>
          <p:cNvSpPr>
            <a:spLocks noGrp="1"/>
          </p:cNvSpPr>
          <p:nvPr>
            <p:ph type="body" idx="105" hasCustomPrompt="1"/>
          </p:nvPr>
        </p:nvSpPr>
        <p:spPr>
          <a:xfrm>
            <a:off x="548640" y="1536192"/>
            <a:ext cx="9692640" cy="548640"/>
          </a:xfrm>
          <a:prstGeom prst="rect">
            <a:avLst/>
          </a:prstGeom>
          <a:noFill/>
          <a:ln/>
        </p:spPr>
        <p:txBody>
          <a:bodyPr wrap="square" rtlCol="0"/>
          <a:lstStyle>
            <a:lvl1pPr marL="0" indent="0" algn="l">
              <a:buNone/>
              <a:defRPr lang="en-US" sz="1500" dirty="0">
                <a:solidFill>
                  <a:schemeClr val="accent5"/>
                </a:solidFill>
              </a:defRPr>
            </a:lvl1pPr>
          </a:lstStyle>
          <a:p>
            <a:pPr marL="0" indent="0" algn="l">
              <a:buNone/>
            </a:pPr>
            <a:r>
              <a:rPr lang="en-US" sz="1500" dirty="0">
                <a:solidFill>
                  <a:schemeClr val="accent5"/>
                </a:solidFill>
              </a:rPr>
              <a:t>Subtitle</a:t>
            </a:r>
            <a:endParaRPr lang="en-US" sz="1500" dirty="0"/>
          </a:p>
        </p:txBody>
      </p:sp>
      <p:sp>
        <p:nvSpPr>
          <p:cNvPr id="8" name="Text 3"/>
          <p:cNvSpPr>
            <a:spLocks noGrp="1"/>
          </p:cNvSpPr>
          <p:nvPr>
            <p:ph type="body" idx="106" hasCustomPrompt="1"/>
          </p:nvPr>
        </p:nvSpPr>
        <p:spPr>
          <a:xfrm>
            <a:off x="548640" y="6309360"/>
            <a:ext cx="9966960" cy="292608"/>
          </a:xfrm>
          <a:prstGeom prst="rect">
            <a:avLst/>
          </a:prstGeom>
          <a:noFill/>
          <a:ln/>
        </p:spPr>
        <p:txBody>
          <a:bodyPr wrap="square" rtlCol="0"/>
          <a:lstStyle>
            <a:lvl1pPr marL="0" indent="0" algn="l">
              <a:buNone/>
              <a:defRPr lang="en-US" sz="850" dirty="0">
                <a:solidFill>
                  <a:schemeClr val="accent5"/>
                </a:solidFill>
              </a:defRPr>
            </a:lvl1pPr>
          </a:lstStyle>
          <a:p>
            <a:pPr marL="0" indent="0" algn="l">
              <a:buNone/>
            </a:pPr>
            <a:r>
              <a:rPr lang="en-US" sz="850" dirty="0">
                <a:solidFill>
                  <a:schemeClr val="accent5"/>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xmlns="" val="0"/>
            </a:ext>
          </a:extLst>
        </p:spPr>
        <p:txBody>
          <a:bodyPr anchor="ctr"/>
          <a:lstStyle>
            <a:lvl1pPr>
              <a:defRPr sz="1000">
                <a:solidFill>
                  <a:schemeClr val="bg1"/>
                </a:solidFill>
              </a:defRPr>
            </a:lvl1pPr>
          </a:lstStyle>
          <a:p>
            <a:pPr algn="ct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xmlns="" val="0"/>
            </a:ext>
          </a:extLst>
        </p:spPr>
        <p:txBody>
          <a:bodyPr anchor="ctr"/>
          <a:lstStyle>
            <a:lvl1pPr>
              <a:defRPr sz="1000">
                <a:solidFill>
                  <a:schemeClr val="tx1"/>
                </a:solidFill>
              </a:defRPr>
            </a:lvl1pPr>
          </a:lstStyle>
          <a:p>
            <a:pPr algn="ct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seba-Documents-Visual-Studio-Proyectos-Acad-micos-Marketing/f45da085-a5d6-4f69-9770-44d4abda6eac/scratchpad/v3x/ppt/media/image-1-1.png"/>
          <p:cNvPicPr>
            <a:picLocks noChangeAspect="1"/>
          </p:cNvPicPr>
          <p:nvPr/>
        </p:nvPicPr>
        <p:blipFill>
          <a:blip r:embed="rId3"/>
          <a:stretch>
            <a:fillRect/>
          </a:stretch>
        </p:blipFill>
        <p:spPr>
          <a:xfrm>
            <a:off x="548640" y="411480"/>
            <a:ext cx="1463040" cy="512064"/>
          </a:xfrm>
          <a:prstGeom prst="rect">
            <a:avLst/>
          </a:prstGeom>
        </p:spPr>
      </p:pic>
      <p:sp>
        <p:nvSpPr>
          <p:cNvPr id="3" name="Text 0"/>
          <p:cNvSpPr txBox="1"/>
          <p:nvPr/>
        </p:nvSpPr>
        <p:spPr>
          <a:xfrm>
            <a:off x="8119872" y="457200"/>
            <a:ext cx="1783080" cy="365760"/>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100" dirty="0">
                <a:solidFill>
                  <a:schemeClr val="bg1"/>
                </a:solidFill>
              </a:rPr>
              <a:t>Strategic Marketing</a:t>
            </a:r>
            <a:endParaRPr lang="en-US" sz="1100" dirty="0"/>
          </a:p>
        </p:txBody>
      </p:sp>
      <p:sp>
        <p:nvSpPr>
          <p:cNvPr id="4" name="Text 1"/>
          <p:cNvSpPr txBox="1"/>
          <p:nvPr/>
        </p:nvSpPr>
        <p:spPr>
          <a:xfrm>
            <a:off x="10040112" y="457200"/>
            <a:ext cx="1600200" cy="365760"/>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100" dirty="0">
                <a:solidFill>
                  <a:schemeClr val="bg1"/>
                </a:solidFill>
              </a:rPr>
              <a:t>Exam 1 · Oct 2026</a:t>
            </a:r>
            <a:endParaRPr lang="en-US" sz="1100" dirty="0"/>
          </a:p>
        </p:txBody>
      </p:sp>
      <p:sp>
        <p:nvSpPr>
          <p:cNvPr id="5" name="Text 2"/>
          <p:cNvSpPr txBox="1"/>
          <p:nvPr/>
        </p:nvSpPr>
        <p:spPr>
          <a:xfrm>
            <a:off x="384048" y="1097280"/>
            <a:ext cx="11430000" cy="2377440"/>
          </a:xfrm>
          <a:prstGeom prst="rect">
            <a:avLst/>
          </a:prstGeom>
          <a:noFill/>
          <a:ln/>
        </p:spPr>
        <p:txBody>
          <a:bodyPr wrap="square" lIns="0" tIns="0" rIns="0" bIns="0" rtlCol="0" anchor="ctr"/>
          <a:lstStyle/>
          <a:p>
            <a:pPr marL="0" indent="0">
              <a:buNone/>
            </a:pPr>
            <a:r>
              <a:rPr lang="en-US" sz="18000" b="1" dirty="0">
                <a:solidFill>
                  <a:schemeClr val="bg1"/>
                </a:solidFill>
              </a:rPr>
              <a:t>InfoCar</a:t>
            </a:r>
            <a:endParaRPr lang="en-US" sz="18000" dirty="0"/>
          </a:p>
        </p:txBody>
      </p:sp>
      <p:pic>
        <p:nvPicPr>
          <p:cNvPr id="6" name="Image 1" descr="/private/tmp/claude-501/-Users-seba-Documents-Visual-Studio-Proyectos-Acad-micos-Marketing/f45da085-a5d6-4f69-9770-44d4abda6eac/scratchpad/v3x/ppt/media/image-1-2.png"/>
          <p:cNvPicPr>
            <a:picLocks noChangeAspect="1"/>
          </p:cNvPicPr>
          <p:nvPr/>
        </p:nvPicPr>
        <p:blipFill>
          <a:blip r:embed="rId4"/>
          <a:stretch>
            <a:fillRect/>
          </a:stretch>
        </p:blipFill>
        <p:spPr>
          <a:xfrm>
            <a:off x="4800600" y="2487168"/>
            <a:ext cx="6995160" cy="2152498"/>
          </a:xfrm>
          <a:prstGeom prst="rect">
            <a:avLst/>
          </a:prstGeom>
        </p:spPr>
      </p:pic>
      <p:sp>
        <p:nvSpPr>
          <p:cNvPr id="7" name="sparkle"/>
          <p:cNvSpPr/>
          <p:nvPr/>
        </p:nvSpPr>
        <p:spPr>
          <a:xfrm>
            <a:off x="8732520" y="1051560"/>
            <a:ext cx="731520" cy="731520"/>
          </a:xfrm>
          <a:prstGeom prst="star4">
            <a:avLst/>
          </a:prstGeom>
          <a:solidFill>
            <a:schemeClr val="accent2"/>
          </a:solidFill>
          <a:ln/>
        </p:spPr>
        <p:txBody>
          <a:bodyPr/>
          <a:lstStyle/>
          <a:p>
            <a:endParaRPr lang="es-CL"/>
          </a:p>
        </p:txBody>
      </p:sp>
      <p:sp>
        <p:nvSpPr>
          <p:cNvPr id="8" name="sparkle"/>
          <p:cNvSpPr/>
          <p:nvPr/>
        </p:nvSpPr>
        <p:spPr>
          <a:xfrm>
            <a:off x="11201400" y="2057400"/>
            <a:ext cx="347472" cy="347472"/>
          </a:xfrm>
          <a:prstGeom prst="star4">
            <a:avLst/>
          </a:prstGeom>
          <a:solidFill>
            <a:schemeClr val="bg1"/>
          </a:solidFill>
          <a:ln/>
        </p:spPr>
        <p:txBody>
          <a:bodyPr/>
          <a:lstStyle/>
          <a:p>
            <a:endParaRPr lang="es-CL"/>
          </a:p>
        </p:txBody>
      </p:sp>
      <p:sp>
        <p:nvSpPr>
          <p:cNvPr id="9" name="Text 5"/>
          <p:cNvSpPr txBox="1"/>
          <p:nvPr/>
        </p:nvSpPr>
        <p:spPr>
          <a:xfrm>
            <a:off x="548640" y="4526280"/>
            <a:ext cx="3520440" cy="384048"/>
          </a:xfrm>
          <a:prstGeom prst="roundRect">
            <a:avLst>
              <a:gd name="adj" fmla="val 50000"/>
            </a:avLst>
          </a:prstGeom>
          <a:solidFill>
            <a:schemeClr val="accent2"/>
          </a:solidFill>
          <a:ln/>
        </p:spPr>
        <p:txBody>
          <a:bodyPr wrap="square" lIns="0" tIns="0" rIns="0" bIns="0" rtlCol="0" anchor="ctr"/>
          <a:lstStyle/>
          <a:p>
            <a:pPr algn="ctr"/>
            <a:r>
              <a:rPr lang="en-US" sz="1200" b="1"/>
              <a:t>B2B &amp; B2C·  For used-car dealers in Chile</a:t>
            </a:r>
            <a:endParaRPr lang="en-US" sz="1200"/>
          </a:p>
        </p:txBody>
      </p:sp>
      <p:sp>
        <p:nvSpPr>
          <p:cNvPr id="10" name="Text 6"/>
          <p:cNvSpPr txBox="1"/>
          <p:nvPr/>
        </p:nvSpPr>
        <p:spPr>
          <a:xfrm>
            <a:off x="548640" y="5074920"/>
            <a:ext cx="6400800" cy="457200"/>
          </a:xfrm>
          <a:prstGeom prst="rect">
            <a:avLst/>
          </a:prstGeom>
          <a:noFill/>
          <a:ln/>
        </p:spPr>
        <p:txBody>
          <a:bodyPr wrap="square" lIns="0" tIns="0" rIns="0" bIns="0" rtlCol="0" anchor="t"/>
          <a:lstStyle/>
          <a:p>
            <a:pPr marL="0" indent="0">
              <a:buNone/>
            </a:pPr>
            <a:r>
              <a:rPr lang="en-US" sz="2000" dirty="0">
                <a:solidFill>
                  <a:schemeClr val="bg1"/>
                </a:solidFill>
              </a:rPr>
              <a:t>Our plan to learn what certainty is worth.</a:t>
            </a:r>
            <a:endParaRPr lang="en-US" sz="2000" dirty="0"/>
          </a:p>
        </p:txBody>
      </p:sp>
      <p:sp>
        <p:nvSpPr>
          <p:cNvPr id="11" name="Text 7"/>
          <p:cNvSpPr txBox="1"/>
          <p:nvPr/>
        </p:nvSpPr>
        <p:spPr>
          <a:xfrm>
            <a:off x="6373368" y="5138928"/>
            <a:ext cx="1143000" cy="347472"/>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000" dirty="0">
                <a:solidFill>
                  <a:schemeClr val="bg1"/>
                </a:solidFill>
              </a:rPr>
              <a:t>01  Context</a:t>
            </a:r>
            <a:endParaRPr lang="en-US" sz="1000" dirty="0"/>
          </a:p>
        </p:txBody>
      </p:sp>
      <p:sp>
        <p:nvSpPr>
          <p:cNvPr id="12" name="Text 8"/>
          <p:cNvSpPr txBox="1"/>
          <p:nvPr/>
        </p:nvSpPr>
        <p:spPr>
          <a:xfrm>
            <a:off x="7626096" y="5138928"/>
            <a:ext cx="1325880" cy="347472"/>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000" dirty="0">
                <a:solidFill>
                  <a:schemeClr val="bg1"/>
                </a:solidFill>
              </a:rPr>
              <a:t>02  Objectives</a:t>
            </a:r>
            <a:endParaRPr lang="en-US" sz="1000" dirty="0"/>
          </a:p>
        </p:txBody>
      </p:sp>
      <p:sp>
        <p:nvSpPr>
          <p:cNvPr id="13" name="Text 9"/>
          <p:cNvSpPr txBox="1"/>
          <p:nvPr/>
        </p:nvSpPr>
        <p:spPr>
          <a:xfrm>
            <a:off x="9061704" y="5138928"/>
            <a:ext cx="1097280" cy="347472"/>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000" dirty="0">
                <a:solidFill>
                  <a:schemeClr val="bg1"/>
                </a:solidFill>
              </a:rPr>
              <a:t>03  Method</a:t>
            </a:r>
            <a:endParaRPr lang="en-US" sz="1000" dirty="0"/>
          </a:p>
        </p:txBody>
      </p:sp>
      <p:sp>
        <p:nvSpPr>
          <p:cNvPr id="14" name="Text 10"/>
          <p:cNvSpPr txBox="1"/>
          <p:nvPr/>
        </p:nvSpPr>
        <p:spPr>
          <a:xfrm>
            <a:off x="10268712" y="5138928"/>
            <a:ext cx="1371600" cy="347472"/>
          </a:xfrm>
          <a:prstGeom prst="roundRect">
            <a:avLst>
              <a:gd name="adj" fmla="val 50000"/>
            </a:avLst>
          </a:prstGeom>
          <a:ln w="12700">
            <a:solidFill>
              <a:schemeClr val="bg1"/>
            </a:solidFill>
          </a:ln>
        </p:spPr>
        <p:txBody>
          <a:bodyPr wrap="square" lIns="0" tIns="0" rIns="0" bIns="0" rtlCol="0" anchor="ctr"/>
          <a:lstStyle/>
          <a:p>
            <a:pPr marL="0" indent="0" algn="ctr">
              <a:buNone/>
            </a:pPr>
            <a:r>
              <a:rPr lang="en-US" sz="1000" dirty="0">
                <a:solidFill>
                  <a:schemeClr val="bg1"/>
                </a:solidFill>
              </a:rPr>
              <a:t>04  Techniques</a:t>
            </a:r>
            <a:endParaRPr lang="en-US" sz="1000" dirty="0"/>
          </a:p>
        </p:txBody>
      </p:sp>
      <p:sp>
        <p:nvSpPr>
          <p:cNvPr id="15" name="Text 11"/>
          <p:cNvSpPr txBox="1"/>
          <p:nvPr/>
        </p:nvSpPr>
        <p:spPr>
          <a:xfrm>
            <a:off x="548640" y="6263640"/>
            <a:ext cx="7315200" cy="274320"/>
          </a:xfrm>
          <a:prstGeom prst="rect">
            <a:avLst/>
          </a:prstGeom>
          <a:noFill/>
          <a:ln/>
        </p:spPr>
        <p:txBody>
          <a:bodyPr wrap="square" lIns="0" tIns="0" rIns="0" bIns="0" rtlCol="0" anchor="ctr"/>
          <a:lstStyle/>
          <a:p>
            <a:r>
              <a:rPr lang="en-US" sz="1100" dirty="0">
                <a:solidFill>
                  <a:schemeClr val="accent5"/>
                </a:solidFill>
              </a:rPr>
              <a:t>Caro </a:t>
            </a:r>
            <a:r>
              <a:rPr lang="en-US" sz="1100">
                <a:solidFill>
                  <a:schemeClr val="accent5"/>
                </a:solidFill>
              </a:rPr>
              <a:t>B. </a:t>
            </a:r>
            <a:r>
              <a:rPr lang="en-US" sz="1100" dirty="0">
                <a:solidFill>
                  <a:schemeClr val="accent5"/>
                </a:solidFill>
              </a:rPr>
              <a:t>· Cuero </a:t>
            </a:r>
            <a:r>
              <a:rPr lang="en-US" sz="1100">
                <a:solidFill>
                  <a:schemeClr val="accent5"/>
                </a:solidFill>
              </a:rPr>
              <a:t>D.· </a:t>
            </a:r>
            <a:r>
              <a:rPr lang="en-US" sz="1100" dirty="0">
                <a:solidFill>
                  <a:schemeClr val="accent5"/>
                </a:solidFill>
              </a:rPr>
              <a:t>León </a:t>
            </a:r>
            <a:r>
              <a:rPr lang="en-US" sz="1100">
                <a:solidFill>
                  <a:schemeClr val="accent5"/>
                </a:solidFill>
              </a:rPr>
              <a:t>M. </a:t>
            </a:r>
            <a:r>
              <a:rPr lang="en-US" sz="1100" dirty="0">
                <a:solidFill>
                  <a:schemeClr val="accent5"/>
                </a:solidFill>
              </a:rPr>
              <a:t>· Marín </a:t>
            </a:r>
            <a:r>
              <a:rPr lang="en-US" sz="1100">
                <a:solidFill>
                  <a:schemeClr val="accent5"/>
                </a:solidFill>
              </a:rPr>
              <a:t>G.· </a:t>
            </a:r>
            <a:r>
              <a:rPr lang="en-US" sz="1100" dirty="0">
                <a:solidFill>
                  <a:schemeClr val="accent5"/>
                </a:solidFill>
              </a:rPr>
              <a:t>Parraud</a:t>
            </a:r>
            <a:r>
              <a:rPr lang="en-US" sz="1100">
                <a:solidFill>
                  <a:schemeClr val="accent5"/>
                </a:solidFill>
              </a:rPr>
              <a:t> J.</a:t>
            </a:r>
            <a:r>
              <a:rPr lang="en-US" sz="1100" dirty="0">
                <a:solidFill>
                  <a:schemeClr val="accent5"/>
                </a:solidFill>
              </a:rPr>
              <a:t> · Ramírez S. · Ramírez V.</a:t>
            </a:r>
            <a:endParaRPr lang="en-US" sz="1100">
              <a:solidFill>
                <a:schemeClr val="accent5"/>
              </a:solidFill>
            </a:endParaRPr>
          </a:p>
        </p:txBody>
      </p:sp>
      <p:sp>
        <p:nvSpPr>
          <p:cNvPr id="16" name="Text 12"/>
          <p:cNvSpPr txBox="1"/>
          <p:nvPr/>
        </p:nvSpPr>
        <p:spPr>
          <a:xfrm>
            <a:off x="7982712" y="6263640"/>
            <a:ext cx="3657600" cy="274320"/>
          </a:xfrm>
          <a:prstGeom prst="rect">
            <a:avLst/>
          </a:prstGeom>
          <a:noFill/>
          <a:ln/>
        </p:spPr>
        <p:txBody>
          <a:bodyPr wrap="square" lIns="0" tIns="0" rIns="0" bIns="0" rtlCol="0" anchor="ctr"/>
          <a:lstStyle/>
          <a:p>
            <a:pPr marL="0" indent="0" algn="r">
              <a:buNone/>
            </a:pPr>
            <a:r>
              <a:rPr lang="en-US" sz="1100" dirty="0">
                <a:solidFill>
                  <a:schemeClr val="accent5"/>
                </a:solidFill>
              </a:rPr>
              <a:t>Professor: Claudia Scherman 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Information asymmetry</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The seller knows the car's condition; the buyer only sees a price.</a:t>
            </a:r>
            <a:endParaRPr lang="en-US" sz="1500" dirty="0"/>
          </a:p>
        </p:txBody>
      </p:sp>
      <p:sp>
        <p:nvSpPr>
          <p:cNvPr id="4"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pPr marL="0" indent="0" algn="l">
              <a:buNone/>
            </a:pPr>
            <a:r>
              <a:rPr lang="en-US" sz="850" dirty="0">
                <a:solidFill>
                  <a:schemeClr val="tx2"/>
                </a:solidFill>
              </a:rPr>
              <a:t>Concept: market for lemons (Akerlof, 1970). Sources: Guzmán (2026), Emol; Farías (2026), La Tercera.</a:t>
            </a:r>
            <a:endParaRPr lang="en-US" sz="850" dirty="0"/>
          </a:p>
        </p:txBody>
      </p:sp>
      <p:sp>
        <p:nvSpPr>
          <p:cNvPr id="101" name="Card 101"/>
          <p:cNvSpPr/>
          <p:nvPr/>
        </p:nvSpPr>
        <p:spPr>
          <a:xfrm>
            <a:off x="548640" y="2240280"/>
            <a:ext cx="2560320" cy="1417320"/>
          </a:xfrm>
          <a:prstGeom prst="roundRect">
            <a:avLst>
              <a:gd name="adj" fmla="val 8333"/>
            </a:avLst>
          </a:prstGeom>
          <a:solidFill>
            <a:schemeClr val="accent1"/>
          </a:solidFill>
          <a:ln>
            <a:noFill/>
          </a:ln>
        </p:spPr>
        <p:txBody>
          <a:bodyPr/>
          <a:lstStyle/>
          <a:p>
            <a:endParaRPr lang="es-CL"/>
          </a:p>
        </p:txBody>
      </p:sp>
      <p:sp>
        <p:nvSpPr>
          <p:cNvPr id="102" name="Text 102"/>
          <p:cNvSpPr txBox="1"/>
          <p:nvPr/>
        </p:nvSpPr>
        <p:spPr>
          <a:xfrm>
            <a:off x="804672" y="2468880"/>
            <a:ext cx="2048256" cy="1051560"/>
          </a:xfrm>
          <a:prstGeom prst="rect">
            <a:avLst/>
          </a:prstGeom>
          <a:noFill/>
          <a:ln>
            <a:noFill/>
          </a:ln>
        </p:spPr>
        <p:txBody>
          <a:bodyPr wrap="square" lIns="0" tIns="0" rIns="0" bIns="0" rtlCol="0" anchor="t"/>
          <a:lstStyle/>
          <a:p>
            <a:pPr marL="0" indent="0" algn="l">
              <a:spcAft>
                <a:spcPts val="400"/>
              </a:spcAft>
              <a:buNone/>
            </a:pPr>
            <a:r>
              <a:rPr lang="en-US" sz="950" b="1" dirty="0">
                <a:solidFill>
                  <a:schemeClr val="accent2"/>
                </a:solidFill>
              </a:rPr>
              <a:t>SELLER</a:t>
            </a:r>
            <a:endParaRPr lang="en-US" sz="950" dirty="0"/>
          </a:p>
          <a:p>
            <a:pPr marL="0" indent="0" algn="l">
              <a:spcAft>
                <a:spcPts val="400"/>
              </a:spcAft>
              <a:buNone/>
            </a:pPr>
            <a:r>
              <a:rPr lang="en-US" sz="1600" b="1" dirty="0">
                <a:solidFill>
                  <a:schemeClr val="bg1"/>
                </a:solidFill>
              </a:rPr>
              <a:t>Knows the car</a:t>
            </a:r>
            <a:endParaRPr lang="en-US" sz="1600" dirty="0"/>
          </a:p>
          <a:p>
            <a:pPr marL="0" indent="0" algn="l">
              <a:buNone/>
            </a:pPr>
            <a:r>
              <a:rPr lang="en-US" sz="1100" dirty="0">
                <a:solidFill>
                  <a:schemeClr val="accent5"/>
                </a:solidFill>
              </a:rPr>
              <a:t>Past crashes, repaint, hidden filler, old faults.</a:t>
            </a:r>
            <a:endParaRPr lang="en-US" sz="1100" dirty="0"/>
          </a:p>
        </p:txBody>
      </p:sp>
      <p:sp>
        <p:nvSpPr>
          <p:cNvPr id="103" name="Line 103"/>
          <p:cNvSpPr/>
          <p:nvPr/>
        </p:nvSpPr>
        <p:spPr>
          <a:xfrm>
            <a:off x="3200400" y="2807208"/>
            <a:ext cx="2194560" cy="0"/>
          </a:xfrm>
          <a:prstGeom prst="line">
            <a:avLst/>
          </a:prstGeom>
          <a:noFill/>
          <a:ln w="19050">
            <a:solidFill>
              <a:schemeClr val="accent4"/>
            </a:solidFill>
            <a:prstDash val="dash"/>
          </a:ln>
        </p:spPr>
        <p:txBody>
          <a:bodyPr/>
          <a:lstStyle/>
          <a:p>
            <a:endParaRPr lang="es-CL"/>
          </a:p>
        </p:txBody>
      </p:sp>
      <p:sp>
        <p:nvSpPr>
          <p:cNvPr id="104" name="Circle 104"/>
          <p:cNvSpPr txBox="1"/>
          <p:nvPr/>
        </p:nvSpPr>
        <p:spPr>
          <a:xfrm>
            <a:off x="3968496" y="2478024"/>
            <a:ext cx="658368" cy="658368"/>
          </a:xfrm>
          <a:prstGeom prst="ellipse">
            <a:avLst/>
          </a:prstGeom>
          <a:solidFill>
            <a:schemeClr val="accent2"/>
          </a:solidFill>
          <a:ln>
            <a:noFill/>
          </a:ln>
        </p:spPr>
        <p:txBody>
          <a:bodyPr wrap="square" lIns="0" tIns="0" rIns="0" bIns="0" rtlCol="0" anchor="ctr"/>
          <a:lstStyle/>
          <a:p>
            <a:pPr marL="0" indent="0" algn="ctr">
              <a:buNone/>
            </a:pPr>
            <a:r>
              <a:rPr lang="en-US" sz="2400" b="1" dirty="0">
                <a:solidFill>
                  <a:schemeClr val="tx1"/>
                </a:solidFill>
              </a:rPr>
              <a:t>?</a:t>
            </a:r>
            <a:endParaRPr lang="en-US" sz="2400" dirty="0"/>
          </a:p>
        </p:txBody>
      </p:sp>
      <p:sp>
        <p:nvSpPr>
          <p:cNvPr id="105" name="Text 105"/>
          <p:cNvSpPr txBox="1"/>
          <p:nvPr/>
        </p:nvSpPr>
        <p:spPr>
          <a:xfrm>
            <a:off x="3246120" y="3264408"/>
            <a:ext cx="2103120" cy="640080"/>
          </a:xfrm>
          <a:prstGeom prst="rect">
            <a:avLst/>
          </a:prstGeom>
          <a:noFill/>
          <a:ln>
            <a:noFill/>
          </a:ln>
        </p:spPr>
        <p:txBody>
          <a:bodyPr wrap="square" lIns="0" tIns="0" rIns="0" bIns="0" rtlCol="0" anchor="t"/>
          <a:lstStyle/>
          <a:p>
            <a:pPr marL="0" indent="0" algn="ctr">
              <a:spcAft>
                <a:spcPts val="200"/>
              </a:spcAft>
              <a:buNone/>
            </a:pPr>
            <a:r>
              <a:rPr lang="en-US" sz="1150" b="1" dirty="0">
                <a:solidFill>
                  <a:schemeClr val="tx1"/>
                </a:solidFill>
              </a:rPr>
              <a:t>Information gap</a:t>
            </a:r>
            <a:endParaRPr lang="en-US" sz="1150" dirty="0"/>
          </a:p>
          <a:p>
            <a:pPr marL="0" indent="0" algn="ctr">
              <a:buNone/>
            </a:pPr>
            <a:r>
              <a:rPr lang="en-US" sz="950" dirty="0">
                <a:solidFill>
                  <a:schemeClr val="tx2"/>
                </a:solidFill>
              </a:rPr>
              <a:t>Condition can't be checked before paying</a:t>
            </a:r>
            <a:endParaRPr lang="en-US" sz="950" dirty="0"/>
          </a:p>
        </p:txBody>
      </p:sp>
      <p:sp>
        <p:nvSpPr>
          <p:cNvPr id="106" name="Card 106"/>
          <p:cNvSpPr/>
          <p:nvPr/>
        </p:nvSpPr>
        <p:spPr>
          <a:xfrm>
            <a:off x="5486400" y="2240280"/>
            <a:ext cx="2560320" cy="1417320"/>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07" name="Text 107"/>
          <p:cNvSpPr txBox="1"/>
          <p:nvPr/>
        </p:nvSpPr>
        <p:spPr>
          <a:xfrm>
            <a:off x="5742432" y="2468880"/>
            <a:ext cx="2048256" cy="1051560"/>
          </a:xfrm>
          <a:prstGeom prst="rect">
            <a:avLst/>
          </a:prstGeom>
          <a:noFill/>
          <a:ln>
            <a:noFill/>
          </a:ln>
        </p:spPr>
        <p:txBody>
          <a:bodyPr wrap="square" lIns="0" tIns="0" rIns="0" bIns="0" rtlCol="0" anchor="t"/>
          <a:lstStyle/>
          <a:p>
            <a:pPr marL="0" indent="0" algn="l">
              <a:spcAft>
                <a:spcPts val="400"/>
              </a:spcAft>
              <a:buNone/>
            </a:pPr>
            <a:r>
              <a:rPr lang="en-US" sz="950" b="1" dirty="0">
                <a:solidFill>
                  <a:schemeClr val="accent1"/>
                </a:solidFill>
              </a:rPr>
              <a:t>BUYER</a:t>
            </a:r>
            <a:endParaRPr lang="en-US" sz="950" dirty="0"/>
          </a:p>
          <a:p>
            <a:pPr marL="0" indent="0" algn="l">
              <a:spcAft>
                <a:spcPts val="400"/>
              </a:spcAft>
              <a:buNone/>
            </a:pPr>
            <a:r>
              <a:rPr lang="en-US" sz="1600" b="1" dirty="0">
                <a:solidFill>
                  <a:schemeClr val="tx1"/>
                </a:solidFill>
              </a:rPr>
              <a:t>Sees a price</a:t>
            </a:r>
            <a:endParaRPr lang="en-US" sz="1600" dirty="0"/>
          </a:p>
          <a:p>
            <a:pPr marL="0" indent="0" algn="l">
              <a:buNone/>
            </a:pPr>
            <a:r>
              <a:rPr lang="en-US" sz="1100" dirty="0">
                <a:solidFill>
                  <a:schemeClr val="tx2"/>
                </a:solidFill>
              </a:rPr>
              <a:t>An ad, a few photos, a short test drive.</a:t>
            </a:r>
            <a:endParaRPr lang="en-US" sz="1100" dirty="0"/>
          </a:p>
        </p:txBody>
      </p:sp>
      <p:sp>
        <p:nvSpPr>
          <p:cNvPr id="108" name="Circle 108"/>
          <p:cNvSpPr txBox="1"/>
          <p:nvPr/>
        </p:nvSpPr>
        <p:spPr>
          <a:xfrm>
            <a:off x="8165592" y="2642616"/>
            <a:ext cx="329184" cy="329184"/>
          </a:xfrm>
          <a:prstGeom prst="ellipse">
            <a:avLst/>
          </a:prstGeom>
          <a:solidFill>
            <a:schemeClr val="tx1"/>
          </a:solidFill>
          <a:ln>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09" name="Card 109"/>
          <p:cNvSpPr/>
          <p:nvPr/>
        </p:nvSpPr>
        <p:spPr>
          <a:xfrm>
            <a:off x="8613648" y="2240280"/>
            <a:ext cx="3026664" cy="1417320"/>
          </a:xfrm>
          <a:prstGeom prst="roundRect">
            <a:avLst>
              <a:gd name="adj" fmla="val 8333"/>
            </a:avLst>
          </a:prstGeom>
          <a:solidFill>
            <a:schemeClr val="tx1"/>
          </a:solidFill>
          <a:ln>
            <a:noFill/>
          </a:ln>
        </p:spPr>
        <p:txBody>
          <a:bodyPr/>
          <a:lstStyle/>
          <a:p>
            <a:endParaRPr lang="es-CL"/>
          </a:p>
        </p:txBody>
      </p:sp>
      <p:sp>
        <p:nvSpPr>
          <p:cNvPr id="110" name="Text 110"/>
          <p:cNvSpPr txBox="1"/>
          <p:nvPr/>
        </p:nvSpPr>
        <p:spPr>
          <a:xfrm>
            <a:off x="8869680" y="2468880"/>
            <a:ext cx="2514600" cy="1051560"/>
          </a:xfrm>
          <a:prstGeom prst="rect">
            <a:avLst/>
          </a:prstGeom>
          <a:noFill/>
          <a:ln>
            <a:noFill/>
          </a:ln>
        </p:spPr>
        <p:txBody>
          <a:bodyPr wrap="square" lIns="0" tIns="0" rIns="0" bIns="0" rtlCol="0" anchor="t"/>
          <a:lstStyle/>
          <a:p>
            <a:pPr marL="0" indent="0" algn="l">
              <a:spcAft>
                <a:spcPts val="400"/>
              </a:spcAft>
              <a:buNone/>
            </a:pPr>
            <a:r>
              <a:rPr lang="en-US" sz="950" b="1" dirty="0">
                <a:solidFill>
                  <a:schemeClr val="accent2"/>
                </a:solidFill>
              </a:rPr>
              <a:t>RESULT</a:t>
            </a:r>
            <a:endParaRPr lang="en-US" sz="950" dirty="0"/>
          </a:p>
          <a:p>
            <a:pPr marL="0" indent="0" algn="l">
              <a:spcAft>
                <a:spcPts val="400"/>
              </a:spcAft>
              <a:buNone/>
            </a:pPr>
            <a:r>
              <a:rPr lang="en-US" sz="1600" b="1" dirty="0">
                <a:solidFill>
                  <a:schemeClr val="bg1"/>
                </a:solidFill>
              </a:rPr>
              <a:t>Every car is discounted</a:t>
            </a:r>
            <a:endParaRPr lang="en-US" sz="1600" dirty="0"/>
          </a:p>
          <a:p>
            <a:pPr marL="0" indent="0" algn="l">
              <a:buNone/>
            </a:pPr>
            <a:r>
              <a:rPr lang="en-US" sz="1100" dirty="0">
                <a:solidFill>
                  <a:schemeClr val="accent5"/>
                </a:solidFill>
              </a:rPr>
              <a:t>Doubt sets the price, so good cars leave the market.</a:t>
            </a:r>
            <a:endParaRPr lang="en-US" sz="1100" dirty="0"/>
          </a:p>
        </p:txBody>
      </p:sp>
      <p:sp>
        <p:nvSpPr>
          <p:cNvPr id="111" name="sparkle 111"/>
          <p:cNvSpPr/>
          <p:nvPr/>
        </p:nvSpPr>
        <p:spPr>
          <a:xfrm>
            <a:off x="11338560" y="1965960"/>
            <a:ext cx="548640" cy="548640"/>
          </a:xfrm>
          <a:prstGeom prst="star4">
            <a:avLst/>
          </a:prstGeom>
          <a:solidFill>
            <a:schemeClr val="accent2"/>
          </a:solidFill>
          <a:ln>
            <a:noFill/>
          </a:ln>
        </p:spPr>
        <p:txBody>
          <a:bodyPr/>
          <a:lstStyle/>
          <a:p>
            <a:endParaRPr lang="es-CL"/>
          </a:p>
        </p:txBody>
      </p:sp>
      <p:sp>
        <p:nvSpPr>
          <p:cNvPr id="112" name="Text 112"/>
          <p:cNvSpPr txBox="1"/>
          <p:nvPr/>
        </p:nvSpPr>
        <p:spPr>
          <a:xfrm>
            <a:off x="548640" y="3977640"/>
            <a:ext cx="7315200" cy="274320"/>
          </a:xfrm>
          <a:prstGeom prst="rect">
            <a:avLst/>
          </a:prstGeom>
          <a:noFill/>
          <a:ln>
            <a:noFill/>
          </a:ln>
        </p:spPr>
        <p:txBody>
          <a:bodyPr wrap="square" lIns="0" tIns="0" rIns="0" bIns="0" rtlCol="0" anchor="ctr"/>
          <a:lstStyle/>
          <a:p>
            <a:pPr marL="0" indent="0" algn="l">
              <a:buNone/>
            </a:pPr>
            <a:r>
              <a:rPr lang="en-US" sz="1100" b="1" dirty="0">
                <a:solidFill>
                  <a:schemeClr val="tx2"/>
                </a:solidFill>
              </a:rPr>
              <a:t>What the gap costs</a:t>
            </a:r>
            <a:endParaRPr lang="en-US" sz="1100" dirty="0"/>
          </a:p>
        </p:txBody>
      </p:sp>
      <p:sp>
        <p:nvSpPr>
          <p:cNvPr id="113" name="Card 113"/>
          <p:cNvSpPr/>
          <p:nvPr/>
        </p:nvSpPr>
        <p:spPr>
          <a:xfrm>
            <a:off x="548640" y="4325112"/>
            <a:ext cx="5413248" cy="1188720"/>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14" name="Text 114"/>
          <p:cNvSpPr txBox="1"/>
          <p:nvPr/>
        </p:nvSpPr>
        <p:spPr>
          <a:xfrm>
            <a:off x="822960" y="4325112"/>
            <a:ext cx="2331720" cy="1188720"/>
          </a:xfrm>
          <a:prstGeom prst="rect">
            <a:avLst/>
          </a:prstGeom>
          <a:noFill/>
          <a:ln>
            <a:noFill/>
          </a:ln>
        </p:spPr>
        <p:txBody>
          <a:bodyPr wrap="square" lIns="0" tIns="0" rIns="0" bIns="0" rtlCol="0" anchor="ctr"/>
          <a:lstStyle/>
          <a:p>
            <a:pPr marL="0" indent="0" algn="l">
              <a:buNone/>
            </a:pPr>
            <a:r>
              <a:rPr lang="en-US" sz="3000" b="1" dirty="0">
                <a:solidFill>
                  <a:schemeClr val="accent1"/>
                </a:solidFill>
              </a:rPr>
              <a:t>2.0–68.9M</a:t>
            </a:r>
            <a:endParaRPr lang="en-US" sz="3000" dirty="0"/>
          </a:p>
        </p:txBody>
      </p:sp>
      <p:sp>
        <p:nvSpPr>
          <p:cNvPr id="115" name="Text 115"/>
          <p:cNvSpPr txBox="1"/>
          <p:nvPr/>
        </p:nvSpPr>
        <p:spPr>
          <a:xfrm>
            <a:off x="3246120" y="4434840"/>
            <a:ext cx="2487168" cy="969264"/>
          </a:xfrm>
          <a:prstGeom prst="rect">
            <a:avLst/>
          </a:prstGeom>
          <a:noFill/>
          <a:ln>
            <a:noFill/>
          </a:ln>
        </p:spPr>
        <p:txBody>
          <a:bodyPr wrap="square" lIns="0" tIns="0" rIns="0" bIns="0" rtlCol="0" anchor="ctr"/>
          <a:lstStyle/>
          <a:p>
            <a:pPr marL="0" indent="0" algn="l">
              <a:spcAft>
                <a:spcPts val="300"/>
              </a:spcAft>
              <a:buNone/>
            </a:pPr>
            <a:r>
              <a:rPr lang="en-US" sz="1100" dirty="0">
                <a:solidFill>
                  <a:schemeClr val="tx1"/>
                </a:solidFill>
              </a:rPr>
              <a:t>CLP asking prices for the same model, the Ford F‑150, in 2025. Price alone does not reveal condition.</a:t>
            </a:r>
            <a:endParaRPr lang="en-US" sz="1100" dirty="0"/>
          </a:p>
          <a:p>
            <a:pPr marL="0" indent="0" algn="l">
              <a:buNone/>
            </a:pPr>
            <a:r>
              <a:rPr lang="en-US" sz="900" dirty="0">
                <a:solidFill>
                  <a:schemeClr val="tx2"/>
                </a:solidFill>
              </a:rPr>
              <a:t>Guzmán, 2026</a:t>
            </a:r>
            <a:endParaRPr lang="en-US" sz="900" dirty="0"/>
          </a:p>
        </p:txBody>
      </p:sp>
      <p:sp>
        <p:nvSpPr>
          <p:cNvPr id="116" name="Card 116"/>
          <p:cNvSpPr/>
          <p:nvPr/>
        </p:nvSpPr>
        <p:spPr>
          <a:xfrm>
            <a:off x="6227064" y="4325112"/>
            <a:ext cx="5413248" cy="1188720"/>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17" name="Text 117"/>
          <p:cNvSpPr txBox="1"/>
          <p:nvPr/>
        </p:nvSpPr>
        <p:spPr>
          <a:xfrm>
            <a:off x="6501384" y="4325112"/>
            <a:ext cx="2331720" cy="1188720"/>
          </a:xfrm>
          <a:prstGeom prst="rect">
            <a:avLst/>
          </a:prstGeom>
          <a:noFill/>
          <a:ln>
            <a:noFill/>
          </a:ln>
        </p:spPr>
        <p:txBody>
          <a:bodyPr wrap="square" lIns="0" tIns="0" rIns="0" bIns="0" rtlCol="0" anchor="ctr"/>
          <a:lstStyle/>
          <a:p>
            <a:pPr marL="0" indent="0" algn="l">
              <a:buNone/>
            </a:pPr>
            <a:r>
              <a:rPr lang="en-US" sz="3000" b="1" dirty="0">
                <a:solidFill>
                  <a:schemeClr val="accent1"/>
                </a:solidFill>
              </a:rPr>
              <a:t>52.3 days</a:t>
            </a:r>
            <a:endParaRPr lang="en-US" sz="3000" dirty="0"/>
          </a:p>
        </p:txBody>
      </p:sp>
      <p:sp>
        <p:nvSpPr>
          <p:cNvPr id="118" name="Text 118"/>
          <p:cNvSpPr txBox="1"/>
          <p:nvPr/>
        </p:nvSpPr>
        <p:spPr>
          <a:xfrm>
            <a:off x="8924544" y="4434840"/>
            <a:ext cx="2487168" cy="969264"/>
          </a:xfrm>
          <a:prstGeom prst="rect">
            <a:avLst/>
          </a:prstGeom>
          <a:noFill/>
          <a:ln>
            <a:noFill/>
          </a:ln>
        </p:spPr>
        <p:txBody>
          <a:bodyPr wrap="square" lIns="0" tIns="0" rIns="0" bIns="0" rtlCol="0" anchor="ctr"/>
          <a:lstStyle/>
          <a:p>
            <a:pPr marL="0" indent="0" algn="l">
              <a:spcAft>
                <a:spcPts val="300"/>
              </a:spcAft>
              <a:buNone/>
            </a:pPr>
            <a:r>
              <a:rPr lang="en-US" sz="1100" dirty="0">
                <a:solidFill>
                  <a:schemeClr val="tx1"/>
                </a:solidFill>
              </a:rPr>
              <a:t>average time a car spends in an insured repair workshop. Hidden damage shows up late.</a:t>
            </a:r>
            <a:endParaRPr lang="en-US" sz="1100" dirty="0"/>
          </a:p>
          <a:p>
            <a:pPr marL="0" indent="0" algn="l">
              <a:buNone/>
            </a:pPr>
            <a:r>
              <a:rPr lang="en-US" sz="900" dirty="0">
                <a:solidFill>
                  <a:schemeClr val="tx2"/>
                </a:solidFill>
              </a:rPr>
              <a:t>Farías, 2026</a:t>
            </a:r>
            <a:endParaRPr lang="en-US" sz="900" dirty="0"/>
          </a:p>
        </p:txBody>
      </p:sp>
      <p:sp>
        <p:nvSpPr>
          <p:cNvPr id="119" name="Pill 119"/>
          <p:cNvSpPr txBox="1"/>
          <p:nvPr/>
        </p:nvSpPr>
        <p:spPr>
          <a:xfrm>
            <a:off x="548640" y="5760720"/>
            <a:ext cx="5120640" cy="365760"/>
          </a:xfrm>
          <a:prstGeom prst="roundRect">
            <a:avLst>
              <a:gd name="adj" fmla="val 50000"/>
            </a:avLst>
          </a:prstGeom>
          <a:solidFill>
            <a:schemeClr val="tx1"/>
          </a:solidFill>
          <a:ln>
            <a:noFill/>
          </a:ln>
        </p:spPr>
        <p:txBody>
          <a:bodyPr wrap="square" lIns="36576" tIns="0" rIns="36576" bIns="0" rtlCol="0" anchor="ctr"/>
          <a:lstStyle/>
          <a:p>
            <a:pPr marL="0" indent="0" algn="ctr">
              <a:buNone/>
            </a:pPr>
            <a:r>
              <a:rPr lang="en-US" sz="1150" b="1" dirty="0">
                <a:solidFill>
                  <a:schemeClr val="bg1"/>
                </a:solidFill>
              </a:rPr>
              <a:t>Hidden condition = a cost on every deal</a:t>
            </a:r>
            <a:endParaRPr lang="en-US" sz="11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Who carries the gap</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1,060,919 used-car transfers in 2025: who faces the gap, what widens it, who protects the buyer.</a:t>
            </a:r>
            <a:endParaRPr lang="en-US" sz="1500" dirty="0"/>
          </a:p>
        </p:txBody>
      </p:sp>
      <p:sp>
        <p:nvSpPr>
          <p:cNvPr id="4"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r>
              <a:rPr lang="en-US" sz="850" dirty="0">
                <a:solidFill>
                  <a:schemeClr val="tx2"/>
                </a:solidFill>
              </a:rPr>
              <a:t>Sources: CAVEM (2026a, 2026c, 2026e); ANAC (2026); SII (2024), own estimate of purchases per dealer; Ley N.° </a:t>
            </a:r>
            <a:r>
              <a:rPr lang="es-CL" dirty="0"/>
              <a:t>21.398</a:t>
            </a:r>
            <a:r>
              <a:rPr lang="en-US" sz="850" dirty="0">
                <a:solidFill>
                  <a:schemeClr val="tx2"/>
                </a:solidFill>
              </a:rPr>
              <a:t> (2021); Melelli Viveros (2026).</a:t>
            </a:r>
            <a:endParaRPr lang="en-US" sz="850" dirty="0"/>
          </a:p>
        </p:txBody>
      </p:sp>
      <p:sp>
        <p:nvSpPr>
          <p:cNvPr id="120" name="Card 120"/>
          <p:cNvSpPr/>
          <p:nvPr/>
        </p:nvSpPr>
        <p:spPr>
          <a:xfrm>
            <a:off x="548640" y="2240280"/>
            <a:ext cx="4160520" cy="3310128"/>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21" name="Text 121"/>
          <p:cNvSpPr txBox="1"/>
          <p:nvPr/>
        </p:nvSpPr>
        <p:spPr>
          <a:xfrm>
            <a:off x="822960" y="2468880"/>
            <a:ext cx="3611880" cy="502920"/>
          </a:xfrm>
          <a:prstGeom prst="rect">
            <a:avLst/>
          </a:prstGeom>
          <a:noFill/>
          <a:ln>
            <a:noFill/>
          </a:ln>
        </p:spPr>
        <p:txBody>
          <a:bodyPr wrap="square" lIns="0" tIns="0" rIns="0" bIns="0" rtlCol="0" anchor="t"/>
          <a:lstStyle/>
          <a:p>
            <a:pPr marL="0" indent="0" algn="l">
              <a:spcAft>
                <a:spcPts val="200"/>
              </a:spcAft>
              <a:buNone/>
            </a:pPr>
            <a:r>
              <a:rPr lang="en-US" sz="1500" b="1" dirty="0">
                <a:solidFill>
                  <a:schemeClr val="tx1"/>
                </a:solidFill>
              </a:rPr>
              <a:t>Who faces it</a:t>
            </a:r>
            <a:endParaRPr lang="en-US" sz="1500" dirty="0"/>
          </a:p>
          <a:p>
            <a:pPr marL="0" indent="0" algn="l">
              <a:buNone/>
            </a:pPr>
            <a:r>
              <a:rPr lang="en-US" sz="1000" dirty="0">
                <a:solidFill>
                  <a:schemeClr val="tx2"/>
                </a:solidFill>
              </a:rPr>
              <a:t>Share of used-car buyers, 2025</a:t>
            </a:r>
            <a:endParaRPr lang="en-US" sz="1000" dirty="0"/>
          </a:p>
        </p:txBody>
      </p:sp>
      <p:graphicFrame>
        <p:nvGraphicFramePr>
          <p:cNvPr id="6" name="chart-buyers"/>
          <p:cNvGraphicFramePr/>
          <p:nvPr/>
        </p:nvGraphicFramePr>
        <p:xfrm>
          <a:off x="731520" y="2898648"/>
          <a:ext cx="141732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122" name="Text 122"/>
          <p:cNvSpPr txBox="1"/>
          <p:nvPr/>
        </p:nvSpPr>
        <p:spPr>
          <a:xfrm>
            <a:off x="731520" y="3282696"/>
            <a:ext cx="1417320" cy="640080"/>
          </a:xfrm>
          <a:prstGeom prst="rect">
            <a:avLst/>
          </a:prstGeom>
          <a:noFill/>
          <a:ln>
            <a:noFill/>
          </a:ln>
        </p:spPr>
        <p:txBody>
          <a:bodyPr wrap="square" lIns="0" tIns="0" rIns="0" bIns="0" rtlCol="0" anchor="ctr"/>
          <a:lstStyle/>
          <a:p>
            <a:pPr marL="0" indent="0" algn="ctr">
              <a:buNone/>
            </a:pPr>
            <a:r>
              <a:rPr lang="en-US" sz="1200" b="1" dirty="0">
                <a:solidFill>
                  <a:schemeClr val="accent1"/>
                </a:solidFill>
              </a:rPr>
              <a:t>83.8%</a:t>
            </a:r>
            <a:endParaRPr lang="en-US" sz="1200" dirty="0"/>
          </a:p>
          <a:p>
            <a:pPr marL="0" indent="0" algn="ctr">
              <a:buNone/>
            </a:pPr>
            <a:r>
              <a:rPr lang="en-US" sz="800" dirty="0">
                <a:solidFill>
                  <a:schemeClr val="tx2"/>
                </a:solidFill>
              </a:rPr>
              <a:t>people</a:t>
            </a:r>
            <a:endParaRPr lang="en-US" sz="800" dirty="0"/>
          </a:p>
        </p:txBody>
      </p:sp>
      <p:sp>
        <p:nvSpPr>
          <p:cNvPr id="123" name="Pill 123"/>
          <p:cNvSpPr txBox="1"/>
          <p:nvPr/>
        </p:nvSpPr>
        <p:spPr>
          <a:xfrm>
            <a:off x="2377440" y="3136392"/>
            <a:ext cx="1463040" cy="274320"/>
          </a:xfrm>
          <a:prstGeom prst="roundRect">
            <a:avLst>
              <a:gd name="adj" fmla="val 50000"/>
            </a:avLst>
          </a:prstGeom>
          <a:solidFill>
            <a:schemeClr val="accent1"/>
          </a:solidFill>
          <a:ln>
            <a:noFill/>
          </a:ln>
        </p:spPr>
        <p:txBody>
          <a:bodyPr wrap="square" lIns="36576" tIns="0" rIns="36576" bIns="0" rtlCol="0" anchor="ctr"/>
          <a:lstStyle/>
          <a:p>
            <a:pPr marL="0" indent="0" algn="ctr">
              <a:buNone/>
            </a:pPr>
            <a:r>
              <a:rPr lang="en-US" sz="950" b="1" dirty="0">
                <a:solidFill>
                  <a:schemeClr val="bg1"/>
                </a:solidFill>
              </a:rPr>
              <a:t>People 83.8%</a:t>
            </a:r>
            <a:endParaRPr lang="en-US" sz="950" dirty="0"/>
          </a:p>
        </p:txBody>
      </p:sp>
      <p:sp>
        <p:nvSpPr>
          <p:cNvPr id="124" name="Pill 124"/>
          <p:cNvSpPr txBox="1"/>
          <p:nvPr/>
        </p:nvSpPr>
        <p:spPr>
          <a:xfrm>
            <a:off x="2377440" y="3483864"/>
            <a:ext cx="1463040" cy="274320"/>
          </a:xfrm>
          <a:prstGeom prst="roundRect">
            <a:avLst>
              <a:gd name="adj" fmla="val 50000"/>
            </a:avLst>
          </a:prstGeom>
          <a:solidFill>
            <a:schemeClr val="accent2"/>
          </a:solidFill>
          <a:ln>
            <a:noFill/>
          </a:ln>
        </p:spPr>
        <p:txBody>
          <a:bodyPr wrap="square" lIns="36576" tIns="0" rIns="36576" bIns="0" rtlCol="0" anchor="ctr"/>
          <a:lstStyle/>
          <a:p>
            <a:pPr marL="0" indent="0" algn="ctr">
              <a:buNone/>
            </a:pPr>
            <a:r>
              <a:rPr lang="en-US" sz="950" b="1" dirty="0">
                <a:solidFill>
                  <a:schemeClr val="tx1"/>
                </a:solidFill>
              </a:rPr>
              <a:t>Companies 16.2%</a:t>
            </a:r>
            <a:endParaRPr lang="en-US" sz="950" dirty="0"/>
          </a:p>
        </p:txBody>
      </p:sp>
      <p:sp>
        <p:nvSpPr>
          <p:cNvPr id="125" name="Text 125"/>
          <p:cNvSpPr txBox="1"/>
          <p:nvPr/>
        </p:nvSpPr>
        <p:spPr>
          <a:xfrm>
            <a:off x="2377440" y="3831336"/>
            <a:ext cx="2057400" cy="411480"/>
          </a:xfrm>
          <a:prstGeom prst="rect">
            <a:avLst/>
          </a:prstGeom>
          <a:noFill/>
          <a:ln>
            <a:noFill/>
          </a:ln>
        </p:spPr>
        <p:txBody>
          <a:bodyPr wrap="square" lIns="0" tIns="0" rIns="0" bIns="0" rtlCol="0" anchor="t"/>
          <a:lstStyle/>
          <a:p>
            <a:pPr marL="0" indent="0" algn="l">
              <a:buNone/>
            </a:pPr>
            <a:r>
              <a:rPr lang="en-US" sz="950" dirty="0">
                <a:solidFill>
                  <a:schemeClr val="tx2"/>
                </a:solidFill>
              </a:rPr>
              <a:t>Most buyers are people, but few buy often.</a:t>
            </a:r>
            <a:endParaRPr lang="en-US" sz="950" dirty="0"/>
          </a:p>
        </p:txBody>
      </p:sp>
      <p:sp>
        <p:nvSpPr>
          <p:cNvPr id="126" name="Line 126"/>
          <p:cNvSpPr/>
          <p:nvPr/>
        </p:nvSpPr>
        <p:spPr>
          <a:xfrm>
            <a:off x="822960" y="4297680"/>
            <a:ext cx="3611880" cy="0"/>
          </a:xfrm>
          <a:prstGeom prst="line">
            <a:avLst/>
          </a:prstGeom>
          <a:noFill/>
          <a:ln w="12700">
            <a:solidFill>
              <a:schemeClr val="accent6"/>
            </a:solidFill>
          </a:ln>
        </p:spPr>
        <p:txBody>
          <a:bodyPr/>
          <a:lstStyle/>
          <a:p>
            <a:endParaRPr lang="es-CL"/>
          </a:p>
        </p:txBody>
      </p:sp>
      <p:sp>
        <p:nvSpPr>
          <p:cNvPr id="127" name="Text 127"/>
          <p:cNvSpPr txBox="1"/>
          <p:nvPr/>
        </p:nvSpPr>
        <p:spPr>
          <a:xfrm>
            <a:off x="822960" y="4370832"/>
            <a:ext cx="3566160" cy="228600"/>
          </a:xfrm>
          <a:prstGeom prst="rect">
            <a:avLst/>
          </a:prstGeom>
          <a:noFill/>
          <a:ln>
            <a:noFill/>
          </a:ln>
        </p:spPr>
        <p:txBody>
          <a:bodyPr wrap="square" lIns="0" tIns="0" rIns="0" bIns="0" rtlCol="0" anchor="ctr"/>
          <a:lstStyle/>
          <a:p>
            <a:pPr marL="0" indent="0" algn="l">
              <a:buNone/>
            </a:pPr>
            <a:r>
              <a:rPr lang="en-US" sz="1000" b="1" dirty="0">
                <a:solidFill>
                  <a:schemeClr val="tx2"/>
                </a:solidFill>
              </a:rPr>
              <a:t>How often they buy</a:t>
            </a:r>
            <a:endParaRPr lang="en-US" sz="1000" dirty="0"/>
          </a:p>
        </p:txBody>
      </p:sp>
      <p:sp>
        <p:nvSpPr>
          <p:cNvPr id="128" name="Text 128"/>
          <p:cNvSpPr txBox="1"/>
          <p:nvPr/>
        </p:nvSpPr>
        <p:spPr>
          <a:xfrm>
            <a:off x="822960" y="4645152"/>
            <a:ext cx="1143000" cy="219456"/>
          </a:xfrm>
          <a:prstGeom prst="rect">
            <a:avLst/>
          </a:prstGeom>
          <a:noFill/>
          <a:ln>
            <a:noFill/>
          </a:ln>
        </p:spPr>
        <p:txBody>
          <a:bodyPr wrap="square" lIns="0" tIns="0" rIns="0" bIns="0" rtlCol="0" anchor="ctr"/>
          <a:lstStyle/>
          <a:p>
            <a:pPr marL="0" indent="0" algn="l">
              <a:buNone/>
            </a:pPr>
            <a:r>
              <a:rPr lang="en-US" sz="1000" b="1" dirty="0">
                <a:solidFill>
                  <a:schemeClr val="tx1"/>
                </a:solidFill>
              </a:rPr>
              <a:t>Private buyer</a:t>
            </a:r>
            <a:endParaRPr lang="en-US" sz="1000" dirty="0"/>
          </a:p>
        </p:txBody>
      </p:sp>
      <p:sp>
        <p:nvSpPr>
          <p:cNvPr id="129" name="Shape 129"/>
          <p:cNvSpPr/>
          <p:nvPr/>
        </p:nvSpPr>
        <p:spPr>
          <a:xfrm>
            <a:off x="1920240" y="4690872"/>
            <a:ext cx="91440" cy="128016"/>
          </a:xfrm>
          <a:prstGeom prst="roundRect">
            <a:avLst>
              <a:gd name="adj" fmla="val 25000"/>
            </a:avLst>
          </a:prstGeom>
          <a:solidFill>
            <a:schemeClr val="accent5"/>
          </a:solidFill>
          <a:ln>
            <a:noFill/>
          </a:ln>
        </p:spPr>
        <p:txBody>
          <a:bodyPr/>
          <a:lstStyle/>
          <a:p>
            <a:endParaRPr lang="es-CL"/>
          </a:p>
        </p:txBody>
      </p:sp>
      <p:sp>
        <p:nvSpPr>
          <p:cNvPr id="130" name="Text 130"/>
          <p:cNvSpPr txBox="1"/>
          <p:nvPr/>
        </p:nvSpPr>
        <p:spPr>
          <a:xfrm>
            <a:off x="2139696" y="4645152"/>
            <a:ext cx="2286000" cy="219456"/>
          </a:xfrm>
          <a:prstGeom prst="rect">
            <a:avLst/>
          </a:prstGeom>
          <a:noFill/>
          <a:ln>
            <a:noFill/>
          </a:ln>
        </p:spPr>
        <p:txBody>
          <a:bodyPr wrap="square" lIns="0" tIns="0" rIns="0" bIns="0" rtlCol="0" anchor="ctr"/>
          <a:lstStyle/>
          <a:p>
            <a:pPr marL="0" indent="0" algn="l">
              <a:buNone/>
            </a:pPr>
            <a:r>
              <a:rPr lang="en-US" sz="950" dirty="0">
                <a:solidFill>
                  <a:schemeClr val="tx2"/>
                </a:solidFill>
              </a:rPr>
              <a:t>1 car every few years</a:t>
            </a:r>
            <a:endParaRPr lang="en-US" sz="950" dirty="0"/>
          </a:p>
        </p:txBody>
      </p:sp>
      <p:sp>
        <p:nvSpPr>
          <p:cNvPr id="131" name="Text 131"/>
          <p:cNvSpPr txBox="1"/>
          <p:nvPr/>
        </p:nvSpPr>
        <p:spPr>
          <a:xfrm>
            <a:off x="822960" y="4910328"/>
            <a:ext cx="1143000" cy="219456"/>
          </a:xfrm>
          <a:prstGeom prst="rect">
            <a:avLst/>
          </a:prstGeom>
          <a:noFill/>
          <a:ln>
            <a:noFill/>
          </a:ln>
        </p:spPr>
        <p:txBody>
          <a:bodyPr wrap="square" lIns="0" tIns="0" rIns="0" bIns="0" rtlCol="0" anchor="ctr"/>
          <a:lstStyle/>
          <a:p>
            <a:pPr marL="0" indent="0" algn="l">
              <a:buNone/>
            </a:pPr>
            <a:r>
              <a:rPr lang="en-US" sz="1000" b="1" dirty="0">
                <a:solidFill>
                  <a:schemeClr val="tx1"/>
                </a:solidFill>
              </a:rPr>
              <a:t>Core dealer</a:t>
            </a:r>
            <a:endParaRPr lang="en-US" sz="1000" dirty="0"/>
          </a:p>
        </p:txBody>
      </p:sp>
      <p:sp>
        <p:nvSpPr>
          <p:cNvPr id="132" name="Shape 132"/>
          <p:cNvSpPr/>
          <p:nvPr/>
        </p:nvSpPr>
        <p:spPr>
          <a:xfrm>
            <a:off x="1920240" y="4956048"/>
            <a:ext cx="91440" cy="128016"/>
          </a:xfrm>
          <a:prstGeom prst="roundRect">
            <a:avLst>
              <a:gd name="adj" fmla="val 25000"/>
            </a:avLst>
          </a:prstGeom>
          <a:solidFill>
            <a:schemeClr val="accent2"/>
          </a:solidFill>
          <a:ln>
            <a:noFill/>
          </a:ln>
        </p:spPr>
        <p:txBody>
          <a:bodyPr/>
          <a:lstStyle/>
          <a:p>
            <a:endParaRPr lang="es-CL"/>
          </a:p>
        </p:txBody>
      </p:sp>
      <p:sp>
        <p:nvSpPr>
          <p:cNvPr id="133" name="Shape 133"/>
          <p:cNvSpPr/>
          <p:nvPr/>
        </p:nvSpPr>
        <p:spPr>
          <a:xfrm>
            <a:off x="2048256" y="4956048"/>
            <a:ext cx="91440" cy="128016"/>
          </a:xfrm>
          <a:prstGeom prst="roundRect">
            <a:avLst>
              <a:gd name="adj" fmla="val 25000"/>
            </a:avLst>
          </a:prstGeom>
          <a:solidFill>
            <a:schemeClr val="accent2"/>
          </a:solidFill>
          <a:ln>
            <a:noFill/>
          </a:ln>
        </p:spPr>
        <p:txBody>
          <a:bodyPr/>
          <a:lstStyle/>
          <a:p>
            <a:endParaRPr lang="es-CL"/>
          </a:p>
        </p:txBody>
      </p:sp>
      <p:sp>
        <p:nvSpPr>
          <p:cNvPr id="134" name="Shape 134"/>
          <p:cNvSpPr/>
          <p:nvPr/>
        </p:nvSpPr>
        <p:spPr>
          <a:xfrm>
            <a:off x="2176272" y="4956048"/>
            <a:ext cx="91440" cy="128016"/>
          </a:xfrm>
          <a:prstGeom prst="roundRect">
            <a:avLst>
              <a:gd name="adj" fmla="val 25000"/>
            </a:avLst>
          </a:prstGeom>
          <a:solidFill>
            <a:schemeClr val="accent2"/>
          </a:solidFill>
          <a:ln>
            <a:noFill/>
          </a:ln>
        </p:spPr>
        <p:txBody>
          <a:bodyPr/>
          <a:lstStyle/>
          <a:p>
            <a:endParaRPr lang="es-CL"/>
          </a:p>
        </p:txBody>
      </p:sp>
      <p:sp>
        <p:nvSpPr>
          <p:cNvPr id="135" name="Shape 135"/>
          <p:cNvSpPr/>
          <p:nvPr/>
        </p:nvSpPr>
        <p:spPr>
          <a:xfrm>
            <a:off x="2304288" y="4956048"/>
            <a:ext cx="91440" cy="128016"/>
          </a:xfrm>
          <a:prstGeom prst="roundRect">
            <a:avLst>
              <a:gd name="adj" fmla="val 25000"/>
            </a:avLst>
          </a:prstGeom>
          <a:solidFill>
            <a:schemeClr val="accent2"/>
          </a:solidFill>
          <a:ln>
            <a:noFill/>
          </a:ln>
        </p:spPr>
        <p:txBody>
          <a:bodyPr/>
          <a:lstStyle/>
          <a:p>
            <a:endParaRPr lang="es-CL"/>
          </a:p>
        </p:txBody>
      </p:sp>
      <p:sp>
        <p:nvSpPr>
          <p:cNvPr id="136" name="Shape 136"/>
          <p:cNvSpPr/>
          <p:nvPr/>
        </p:nvSpPr>
        <p:spPr>
          <a:xfrm>
            <a:off x="2432304" y="4956048"/>
            <a:ext cx="91440" cy="128016"/>
          </a:xfrm>
          <a:prstGeom prst="roundRect">
            <a:avLst>
              <a:gd name="adj" fmla="val 25000"/>
            </a:avLst>
          </a:prstGeom>
          <a:solidFill>
            <a:schemeClr val="accent2"/>
          </a:solidFill>
          <a:ln>
            <a:noFill/>
          </a:ln>
        </p:spPr>
        <p:txBody>
          <a:bodyPr/>
          <a:lstStyle/>
          <a:p>
            <a:endParaRPr lang="es-CL"/>
          </a:p>
        </p:txBody>
      </p:sp>
      <p:sp>
        <p:nvSpPr>
          <p:cNvPr id="137" name="Shape 137"/>
          <p:cNvSpPr/>
          <p:nvPr/>
        </p:nvSpPr>
        <p:spPr>
          <a:xfrm>
            <a:off x="2560320" y="4956048"/>
            <a:ext cx="91440" cy="128016"/>
          </a:xfrm>
          <a:prstGeom prst="roundRect">
            <a:avLst>
              <a:gd name="adj" fmla="val 25000"/>
            </a:avLst>
          </a:prstGeom>
          <a:solidFill>
            <a:schemeClr val="accent2"/>
          </a:solidFill>
          <a:ln>
            <a:noFill/>
          </a:ln>
        </p:spPr>
        <p:txBody>
          <a:bodyPr/>
          <a:lstStyle/>
          <a:p>
            <a:endParaRPr lang="es-CL"/>
          </a:p>
        </p:txBody>
      </p:sp>
      <p:sp>
        <p:nvSpPr>
          <p:cNvPr id="138" name="Shape 138"/>
          <p:cNvSpPr/>
          <p:nvPr/>
        </p:nvSpPr>
        <p:spPr>
          <a:xfrm>
            <a:off x="2688336" y="4956048"/>
            <a:ext cx="91440" cy="128016"/>
          </a:xfrm>
          <a:prstGeom prst="roundRect">
            <a:avLst>
              <a:gd name="adj" fmla="val 25000"/>
            </a:avLst>
          </a:prstGeom>
          <a:solidFill>
            <a:schemeClr val="accent2"/>
          </a:solidFill>
          <a:ln>
            <a:noFill/>
          </a:ln>
        </p:spPr>
        <p:txBody>
          <a:bodyPr/>
          <a:lstStyle/>
          <a:p>
            <a:endParaRPr lang="es-CL"/>
          </a:p>
        </p:txBody>
      </p:sp>
      <p:sp>
        <p:nvSpPr>
          <p:cNvPr id="139" name="Shape 139"/>
          <p:cNvSpPr/>
          <p:nvPr/>
        </p:nvSpPr>
        <p:spPr>
          <a:xfrm>
            <a:off x="2816352" y="4956048"/>
            <a:ext cx="91440" cy="128016"/>
          </a:xfrm>
          <a:prstGeom prst="roundRect">
            <a:avLst>
              <a:gd name="adj" fmla="val 25000"/>
            </a:avLst>
          </a:prstGeom>
          <a:solidFill>
            <a:schemeClr val="accent2"/>
          </a:solidFill>
          <a:ln>
            <a:noFill/>
          </a:ln>
        </p:spPr>
        <p:txBody>
          <a:bodyPr/>
          <a:lstStyle/>
          <a:p>
            <a:endParaRPr lang="es-CL"/>
          </a:p>
        </p:txBody>
      </p:sp>
      <p:sp>
        <p:nvSpPr>
          <p:cNvPr id="140" name="Shape 140"/>
          <p:cNvSpPr/>
          <p:nvPr/>
        </p:nvSpPr>
        <p:spPr>
          <a:xfrm>
            <a:off x="2944368" y="4956048"/>
            <a:ext cx="91440" cy="128016"/>
          </a:xfrm>
          <a:prstGeom prst="roundRect">
            <a:avLst>
              <a:gd name="adj" fmla="val 25000"/>
            </a:avLst>
          </a:prstGeom>
          <a:solidFill>
            <a:schemeClr val="accent2"/>
          </a:solidFill>
          <a:ln>
            <a:noFill/>
          </a:ln>
        </p:spPr>
        <p:txBody>
          <a:bodyPr/>
          <a:lstStyle/>
          <a:p>
            <a:endParaRPr lang="es-CL"/>
          </a:p>
        </p:txBody>
      </p:sp>
      <p:sp>
        <p:nvSpPr>
          <p:cNvPr id="141" name="Text 141"/>
          <p:cNvSpPr txBox="1"/>
          <p:nvPr/>
        </p:nvSpPr>
        <p:spPr>
          <a:xfrm>
            <a:off x="3163824" y="4910328"/>
            <a:ext cx="2286000" cy="219456"/>
          </a:xfrm>
          <a:prstGeom prst="rect">
            <a:avLst/>
          </a:prstGeom>
          <a:noFill/>
          <a:ln>
            <a:noFill/>
          </a:ln>
        </p:spPr>
        <p:txBody>
          <a:bodyPr wrap="square" lIns="0" tIns="0" rIns="0" bIns="0" rtlCol="0" anchor="ctr"/>
          <a:lstStyle/>
          <a:p>
            <a:pPr marL="0" indent="0" algn="l">
              <a:buNone/>
            </a:pPr>
            <a:r>
              <a:rPr lang="en-US" sz="950" b="1" dirty="0">
                <a:solidFill>
                  <a:schemeClr val="accent1"/>
                </a:solidFill>
              </a:rPr>
              <a:t>≈9 cars a month</a:t>
            </a:r>
            <a:endParaRPr lang="en-US" sz="950" dirty="0"/>
          </a:p>
        </p:txBody>
      </p:sp>
      <p:sp>
        <p:nvSpPr>
          <p:cNvPr id="142" name="Text 142"/>
          <p:cNvSpPr txBox="1"/>
          <p:nvPr/>
        </p:nvSpPr>
        <p:spPr>
          <a:xfrm>
            <a:off x="822960" y="5193792"/>
            <a:ext cx="3611880" cy="274320"/>
          </a:xfrm>
          <a:prstGeom prst="rect">
            <a:avLst/>
          </a:prstGeom>
          <a:noFill/>
          <a:ln>
            <a:noFill/>
          </a:ln>
        </p:spPr>
        <p:txBody>
          <a:bodyPr wrap="square" lIns="0" tIns="0" rIns="0" bIns="0" rtlCol="0" anchor="ctr"/>
          <a:lstStyle/>
          <a:p>
            <a:pPr marL="0" indent="0" algn="l">
              <a:buNone/>
            </a:pPr>
            <a:r>
              <a:rPr lang="en-US" sz="900" b="1" dirty="0">
                <a:solidFill>
                  <a:schemeClr val="tx2"/>
                </a:solidFill>
              </a:rPr>
              <a:t>Our scope: </a:t>
            </a:r>
            <a:r>
              <a:rPr lang="en-US" sz="900" dirty="0">
                <a:solidFill>
                  <a:schemeClr val="tx2"/>
                </a:solidFill>
              </a:rPr>
              <a:t>557 core dealers, 3–27 cars a month each</a:t>
            </a:r>
            <a:endParaRPr lang="en-US" sz="900" dirty="0"/>
          </a:p>
        </p:txBody>
      </p:sp>
      <p:sp>
        <p:nvSpPr>
          <p:cNvPr id="143" name="Card 143"/>
          <p:cNvSpPr/>
          <p:nvPr/>
        </p:nvSpPr>
        <p:spPr>
          <a:xfrm>
            <a:off x="4974336" y="2240280"/>
            <a:ext cx="3200400" cy="3310128"/>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44" name="Text 144"/>
          <p:cNvSpPr txBox="1"/>
          <p:nvPr/>
        </p:nvSpPr>
        <p:spPr>
          <a:xfrm>
            <a:off x="5248656" y="2468880"/>
            <a:ext cx="2651760" cy="502920"/>
          </a:xfrm>
          <a:prstGeom prst="rect">
            <a:avLst/>
          </a:prstGeom>
          <a:noFill/>
          <a:ln>
            <a:noFill/>
          </a:ln>
        </p:spPr>
        <p:txBody>
          <a:bodyPr wrap="square" lIns="0" tIns="0" rIns="0" bIns="0" rtlCol="0" anchor="t"/>
          <a:lstStyle/>
          <a:p>
            <a:pPr marL="0" indent="0" algn="l">
              <a:spcAft>
                <a:spcPts val="200"/>
              </a:spcAft>
              <a:buNone/>
            </a:pPr>
            <a:r>
              <a:rPr lang="en-US" sz="1500" b="1" dirty="0">
                <a:solidFill>
                  <a:schemeClr val="tx1"/>
                </a:solidFill>
              </a:rPr>
              <a:t>What widens it</a:t>
            </a:r>
            <a:endParaRPr lang="en-US" sz="1500" dirty="0"/>
          </a:p>
          <a:p>
            <a:pPr marL="0" indent="0" algn="l">
              <a:buNone/>
            </a:pPr>
            <a:r>
              <a:rPr lang="en-US" sz="1000" dirty="0">
                <a:solidFill>
                  <a:schemeClr val="tx2"/>
                </a:solidFill>
              </a:rPr>
              <a:t>Chinese brands, share of sales</a:t>
            </a:r>
            <a:endParaRPr lang="en-US" sz="1000" dirty="0"/>
          </a:p>
        </p:txBody>
      </p:sp>
      <p:sp>
        <p:nvSpPr>
          <p:cNvPr id="145" name="Text 145"/>
          <p:cNvSpPr txBox="1"/>
          <p:nvPr/>
        </p:nvSpPr>
        <p:spPr>
          <a:xfrm>
            <a:off x="5248656" y="3108960"/>
            <a:ext cx="2651760" cy="219456"/>
          </a:xfrm>
          <a:prstGeom prst="rect">
            <a:avLst/>
          </a:prstGeom>
          <a:noFill/>
          <a:ln>
            <a:noFill/>
          </a:ln>
        </p:spPr>
        <p:txBody>
          <a:bodyPr wrap="square" lIns="0" tIns="0" rIns="0" bIns="0" rtlCol="0" anchor="ctr"/>
          <a:lstStyle/>
          <a:p>
            <a:pPr marL="0" indent="0" algn="l">
              <a:buNone/>
            </a:pPr>
            <a:r>
              <a:rPr lang="en-US" sz="950" dirty="0">
                <a:solidFill>
                  <a:schemeClr val="tx2"/>
                </a:solidFill>
              </a:rPr>
              <a:t>New cars  ·  ANAC 2026</a:t>
            </a:r>
            <a:endParaRPr lang="en-US" sz="950" dirty="0"/>
          </a:p>
        </p:txBody>
      </p:sp>
      <p:sp>
        <p:nvSpPr>
          <p:cNvPr id="146" name="Shape 146"/>
          <p:cNvSpPr/>
          <p:nvPr/>
        </p:nvSpPr>
        <p:spPr>
          <a:xfrm>
            <a:off x="5248656" y="3383280"/>
            <a:ext cx="1600200" cy="310896"/>
          </a:xfrm>
          <a:prstGeom prst="roundRect">
            <a:avLst>
              <a:gd name="adj" fmla="val 50000"/>
            </a:avLst>
          </a:prstGeom>
          <a:solidFill>
            <a:schemeClr val="bg2"/>
          </a:solidFill>
          <a:ln>
            <a:noFill/>
          </a:ln>
        </p:spPr>
        <p:txBody>
          <a:bodyPr/>
          <a:lstStyle/>
          <a:p>
            <a:endParaRPr lang="es-CL"/>
          </a:p>
        </p:txBody>
      </p:sp>
      <p:sp>
        <p:nvSpPr>
          <p:cNvPr id="147" name="Shape 147"/>
          <p:cNvSpPr/>
          <p:nvPr/>
        </p:nvSpPr>
        <p:spPr>
          <a:xfrm>
            <a:off x="5248656" y="3383280"/>
            <a:ext cx="1324966" cy="310896"/>
          </a:xfrm>
          <a:prstGeom prst="roundRect">
            <a:avLst>
              <a:gd name="adj" fmla="val 50000"/>
            </a:avLst>
          </a:prstGeom>
          <a:solidFill>
            <a:schemeClr val="accent1"/>
          </a:solidFill>
          <a:ln>
            <a:noFill/>
          </a:ln>
        </p:spPr>
        <p:txBody>
          <a:bodyPr/>
          <a:lstStyle/>
          <a:p>
            <a:endParaRPr lang="es-CL"/>
          </a:p>
        </p:txBody>
      </p:sp>
      <p:sp>
        <p:nvSpPr>
          <p:cNvPr id="148" name="Text 148"/>
          <p:cNvSpPr txBox="1"/>
          <p:nvPr/>
        </p:nvSpPr>
        <p:spPr>
          <a:xfrm>
            <a:off x="6958584" y="3337560"/>
            <a:ext cx="941832" cy="402336"/>
          </a:xfrm>
          <a:prstGeom prst="rect">
            <a:avLst/>
          </a:prstGeom>
          <a:noFill/>
          <a:ln>
            <a:noFill/>
          </a:ln>
        </p:spPr>
        <p:txBody>
          <a:bodyPr wrap="square" lIns="0" tIns="0" rIns="0" bIns="0" rtlCol="0" anchor="ctr"/>
          <a:lstStyle/>
          <a:p>
            <a:pPr marL="0" indent="0" algn="l">
              <a:buNone/>
            </a:pPr>
            <a:r>
              <a:rPr lang="en-US" sz="1600" b="1" dirty="0">
                <a:solidFill>
                  <a:schemeClr val="accent1"/>
                </a:solidFill>
              </a:rPr>
              <a:t>41.4%</a:t>
            </a:r>
            <a:endParaRPr lang="en-US" sz="1600" dirty="0"/>
          </a:p>
        </p:txBody>
      </p:sp>
      <p:sp>
        <p:nvSpPr>
          <p:cNvPr id="149" name="Text 149"/>
          <p:cNvSpPr txBox="1"/>
          <p:nvPr/>
        </p:nvSpPr>
        <p:spPr>
          <a:xfrm>
            <a:off x="5248656" y="3931920"/>
            <a:ext cx="2651760" cy="219456"/>
          </a:xfrm>
          <a:prstGeom prst="rect">
            <a:avLst/>
          </a:prstGeom>
          <a:noFill/>
          <a:ln>
            <a:noFill/>
          </a:ln>
        </p:spPr>
        <p:txBody>
          <a:bodyPr wrap="square" lIns="0" tIns="0" rIns="0" bIns="0" rtlCol="0" anchor="ctr"/>
          <a:lstStyle/>
          <a:p>
            <a:pPr marL="0" indent="0" algn="l">
              <a:buNone/>
            </a:pPr>
            <a:r>
              <a:rPr lang="en-US" sz="950" dirty="0">
                <a:solidFill>
                  <a:schemeClr val="tx2"/>
                </a:solidFill>
              </a:rPr>
              <a:t>Used cars  ·  CAVEM 2026</a:t>
            </a:r>
            <a:endParaRPr lang="en-US" sz="950" dirty="0"/>
          </a:p>
        </p:txBody>
      </p:sp>
      <p:sp>
        <p:nvSpPr>
          <p:cNvPr id="150" name="Shape 150"/>
          <p:cNvSpPr/>
          <p:nvPr/>
        </p:nvSpPr>
        <p:spPr>
          <a:xfrm>
            <a:off x="5248656" y="4206240"/>
            <a:ext cx="1600200" cy="310896"/>
          </a:xfrm>
          <a:prstGeom prst="roundRect">
            <a:avLst>
              <a:gd name="adj" fmla="val 50000"/>
            </a:avLst>
          </a:prstGeom>
          <a:solidFill>
            <a:schemeClr val="bg2"/>
          </a:solidFill>
          <a:ln>
            <a:noFill/>
          </a:ln>
        </p:spPr>
        <p:txBody>
          <a:bodyPr/>
          <a:lstStyle/>
          <a:p>
            <a:endParaRPr lang="es-CL"/>
          </a:p>
        </p:txBody>
      </p:sp>
      <p:sp>
        <p:nvSpPr>
          <p:cNvPr id="151" name="Shape 151"/>
          <p:cNvSpPr/>
          <p:nvPr/>
        </p:nvSpPr>
        <p:spPr>
          <a:xfrm>
            <a:off x="5248656" y="4206240"/>
            <a:ext cx="414452" cy="310896"/>
          </a:xfrm>
          <a:prstGeom prst="roundRect">
            <a:avLst>
              <a:gd name="adj" fmla="val 50000"/>
            </a:avLst>
          </a:prstGeom>
          <a:solidFill>
            <a:schemeClr val="accent2"/>
          </a:solidFill>
          <a:ln>
            <a:noFill/>
          </a:ln>
        </p:spPr>
        <p:txBody>
          <a:bodyPr/>
          <a:lstStyle/>
          <a:p>
            <a:endParaRPr lang="es-CL"/>
          </a:p>
        </p:txBody>
      </p:sp>
      <p:sp>
        <p:nvSpPr>
          <p:cNvPr id="152" name="Text 152"/>
          <p:cNvSpPr txBox="1"/>
          <p:nvPr/>
        </p:nvSpPr>
        <p:spPr>
          <a:xfrm>
            <a:off x="6958584" y="4160520"/>
            <a:ext cx="941832" cy="402336"/>
          </a:xfrm>
          <a:prstGeom prst="rect">
            <a:avLst/>
          </a:prstGeom>
          <a:noFill/>
          <a:ln>
            <a:noFill/>
          </a:ln>
        </p:spPr>
        <p:txBody>
          <a:bodyPr wrap="square" lIns="0" tIns="0" rIns="0" bIns="0" rtlCol="0" anchor="ctr"/>
          <a:lstStyle/>
          <a:p>
            <a:pPr marL="0" indent="0" algn="l">
              <a:buNone/>
            </a:pPr>
            <a:r>
              <a:rPr lang="en-US" sz="1600" b="1" dirty="0">
                <a:solidFill>
                  <a:schemeClr val="accent1"/>
                </a:solidFill>
              </a:rPr>
              <a:t>12.95%</a:t>
            </a:r>
            <a:endParaRPr lang="en-US" sz="1600" dirty="0"/>
          </a:p>
        </p:txBody>
      </p:sp>
      <p:sp>
        <p:nvSpPr>
          <p:cNvPr id="154" name="Shape 154"/>
          <p:cNvSpPr txBox="1"/>
          <p:nvPr/>
        </p:nvSpPr>
        <p:spPr>
          <a:xfrm>
            <a:off x="5248656" y="4636008"/>
            <a:ext cx="2651760" cy="713232"/>
          </a:xfrm>
          <a:prstGeom prst="roundRect">
            <a:avLst>
              <a:gd name="adj" fmla="val 16000"/>
            </a:avLst>
          </a:prstGeom>
          <a:solidFill>
            <a:schemeClr val="accent3"/>
          </a:solidFill>
          <a:ln>
            <a:noFill/>
          </a:ln>
        </p:spPr>
        <p:txBody>
          <a:bodyPr wrap="square" lIns="128016" tIns="54864" rIns="128016" bIns="54864" rtlCol="0" anchor="ctr"/>
          <a:lstStyle/>
          <a:p>
            <a:pPr marL="0" indent="0" algn="l">
              <a:buNone/>
            </a:pPr>
            <a:r>
              <a:rPr lang="en-US" sz="1000" b="1" dirty="0">
                <a:solidFill>
                  <a:schemeClr val="tx1"/>
                </a:solidFill>
              </a:rPr>
              <a:t>They reach the used market with little local record of typical faults or part prices.</a:t>
            </a:r>
            <a:endParaRPr lang="en-US" sz="1000" dirty="0"/>
          </a:p>
        </p:txBody>
      </p:sp>
      <p:sp>
        <p:nvSpPr>
          <p:cNvPr id="155" name="Card 155"/>
          <p:cNvSpPr/>
          <p:nvPr/>
        </p:nvSpPr>
        <p:spPr>
          <a:xfrm>
            <a:off x="8439912" y="2240280"/>
            <a:ext cx="3200400" cy="3310128"/>
          </a:xfrm>
          <a:prstGeom prst="roundRect">
            <a:avLst>
              <a:gd name="adj" fmla="val 8333"/>
            </a:avLst>
          </a:prstGeom>
          <a:solidFill>
            <a:schemeClr val="accent1"/>
          </a:solidFill>
          <a:ln>
            <a:noFill/>
          </a:ln>
        </p:spPr>
        <p:txBody>
          <a:bodyPr/>
          <a:lstStyle/>
          <a:p>
            <a:endParaRPr lang="es-CL"/>
          </a:p>
        </p:txBody>
      </p:sp>
      <p:sp>
        <p:nvSpPr>
          <p:cNvPr id="156" name="Text 156"/>
          <p:cNvSpPr txBox="1"/>
          <p:nvPr/>
        </p:nvSpPr>
        <p:spPr>
          <a:xfrm>
            <a:off x="8714232" y="2468880"/>
            <a:ext cx="2651760" cy="502920"/>
          </a:xfrm>
          <a:prstGeom prst="rect">
            <a:avLst/>
          </a:prstGeom>
          <a:noFill/>
          <a:ln>
            <a:noFill/>
          </a:ln>
        </p:spPr>
        <p:txBody>
          <a:bodyPr wrap="square" lIns="0" tIns="0" rIns="0" bIns="0" rtlCol="0" anchor="t"/>
          <a:lstStyle/>
          <a:p>
            <a:pPr marL="0" indent="0" algn="l">
              <a:spcAft>
                <a:spcPts val="200"/>
              </a:spcAft>
              <a:buNone/>
            </a:pPr>
            <a:r>
              <a:rPr lang="en-US" sz="1500" b="1" dirty="0">
                <a:solidFill>
                  <a:schemeClr val="bg1"/>
                </a:solidFill>
              </a:rPr>
              <a:t>Who protects the buyer?</a:t>
            </a:r>
            <a:endParaRPr lang="en-US" sz="1500" dirty="0"/>
          </a:p>
          <a:p>
            <a:pPr marL="0" indent="0" algn="l">
              <a:buNone/>
            </a:pPr>
            <a:r>
              <a:rPr lang="en-US" sz="1000" dirty="0">
                <a:solidFill>
                  <a:schemeClr val="accent5"/>
                </a:solidFill>
              </a:rPr>
              <a:t>Legal cover by type of seller</a:t>
            </a:r>
            <a:endParaRPr lang="en-US" sz="1000" dirty="0"/>
          </a:p>
        </p:txBody>
      </p:sp>
      <p:sp>
        <p:nvSpPr>
          <p:cNvPr id="157" name="Circle 157"/>
          <p:cNvSpPr txBox="1"/>
          <p:nvPr/>
        </p:nvSpPr>
        <p:spPr>
          <a:xfrm>
            <a:off x="8714232" y="3136392"/>
            <a:ext cx="347472" cy="347472"/>
          </a:xfrm>
          <a:prstGeom prst="ellipse">
            <a:avLst/>
          </a:prstGeom>
          <a:solidFill>
            <a:schemeClr val="accent2"/>
          </a:solidFill>
          <a:ln>
            <a:noFill/>
          </a:ln>
        </p:spPr>
        <p:txBody>
          <a:bodyPr wrap="square" lIns="0" tIns="0" rIns="0" bIns="0" rtlCol="0" anchor="ctr"/>
          <a:lstStyle/>
          <a:p>
            <a:pPr marL="0" indent="0" algn="ctr">
              <a:buNone/>
            </a:pPr>
            <a:r>
              <a:rPr lang="en-US" sz="1200" b="1" dirty="0">
                <a:solidFill>
                  <a:schemeClr val="tx1"/>
                </a:solidFill>
              </a:rPr>
              <a:t>✓</a:t>
            </a:r>
            <a:endParaRPr lang="en-US" sz="1200" dirty="0"/>
          </a:p>
        </p:txBody>
      </p:sp>
      <p:sp>
        <p:nvSpPr>
          <p:cNvPr id="158" name="Text 158"/>
          <p:cNvSpPr txBox="1"/>
          <p:nvPr/>
        </p:nvSpPr>
        <p:spPr>
          <a:xfrm>
            <a:off x="9189720" y="3108960"/>
            <a:ext cx="2176272" cy="640080"/>
          </a:xfrm>
          <a:prstGeom prst="rect">
            <a:avLst/>
          </a:prstGeom>
          <a:noFill/>
          <a:ln>
            <a:noFill/>
          </a:ln>
        </p:spPr>
        <p:txBody>
          <a:bodyPr wrap="square" lIns="0" tIns="0" rIns="0" bIns="0" rtlCol="0" anchor="t"/>
          <a:lstStyle/>
          <a:p>
            <a:pPr marL="0" indent="0" algn="l">
              <a:spcAft>
                <a:spcPts val="100"/>
              </a:spcAft>
              <a:buNone/>
            </a:pPr>
            <a:r>
              <a:rPr lang="en-US" sz="1100" b="1" dirty="0">
                <a:solidFill>
                  <a:schemeClr val="bg1"/>
                </a:solidFill>
              </a:rPr>
              <a:t>From a dealer</a:t>
            </a:r>
            <a:endParaRPr lang="en-US" sz="1100" dirty="0"/>
          </a:p>
          <a:p>
            <a:r>
              <a:rPr lang="en-US" sz="950" dirty="0">
                <a:solidFill>
                  <a:schemeClr val="accent5"/>
                </a:solidFill>
              </a:rPr>
              <a:t>6-month legal warranty (Ley 21.398).</a:t>
            </a:r>
            <a:endParaRPr lang="en-US" sz="950" dirty="0"/>
          </a:p>
        </p:txBody>
      </p:sp>
      <p:sp>
        <p:nvSpPr>
          <p:cNvPr id="159" name="Circle 159"/>
          <p:cNvSpPr txBox="1"/>
          <p:nvPr/>
        </p:nvSpPr>
        <p:spPr>
          <a:xfrm>
            <a:off x="8714232" y="3849624"/>
            <a:ext cx="347472" cy="347472"/>
          </a:xfrm>
          <a:prstGeom prst="ellipse">
            <a:avLst/>
          </a:prstGeom>
          <a:solidFill>
            <a:schemeClr val="bg1"/>
          </a:solidFill>
          <a:ln>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sp>
        <p:nvSpPr>
          <p:cNvPr id="160" name="Text 160"/>
          <p:cNvSpPr txBox="1"/>
          <p:nvPr/>
        </p:nvSpPr>
        <p:spPr>
          <a:xfrm>
            <a:off x="9189720" y="3822192"/>
            <a:ext cx="2176272" cy="640080"/>
          </a:xfrm>
          <a:prstGeom prst="rect">
            <a:avLst/>
          </a:prstGeom>
          <a:noFill/>
          <a:ln>
            <a:noFill/>
          </a:ln>
        </p:spPr>
        <p:txBody>
          <a:bodyPr wrap="square" lIns="0" tIns="0" rIns="0" bIns="0" rtlCol="0" anchor="t"/>
          <a:lstStyle/>
          <a:p>
            <a:pPr marL="0" indent="0" algn="l">
              <a:spcAft>
                <a:spcPts val="100"/>
              </a:spcAft>
              <a:buNone/>
            </a:pPr>
            <a:r>
              <a:rPr lang="en-US" sz="1100" b="1" dirty="0">
                <a:solidFill>
                  <a:schemeClr val="bg1"/>
                </a:solidFill>
              </a:rPr>
              <a:t>From a private seller</a:t>
            </a:r>
            <a:endParaRPr lang="en-US" sz="1100" dirty="0"/>
          </a:p>
          <a:p>
            <a:pPr marL="0" indent="0" algn="l">
              <a:buNone/>
            </a:pPr>
            <a:r>
              <a:rPr lang="en-US" sz="950" dirty="0">
                <a:solidFill>
                  <a:schemeClr val="accent5"/>
                </a:solidFill>
              </a:rPr>
              <a:t>No SERNAC protection: the buyer carries the risk.</a:t>
            </a:r>
            <a:endParaRPr lang="en-US" sz="950" dirty="0"/>
          </a:p>
        </p:txBody>
      </p:sp>
      <p:sp>
        <p:nvSpPr>
          <p:cNvPr id="161" name="Shape 161"/>
          <p:cNvSpPr/>
          <p:nvPr/>
        </p:nvSpPr>
        <p:spPr>
          <a:xfrm>
            <a:off x="8714232" y="4636008"/>
            <a:ext cx="2651760" cy="713232"/>
          </a:xfrm>
          <a:prstGeom prst="roundRect">
            <a:avLst>
              <a:gd name="adj" fmla="val 16000"/>
            </a:avLst>
          </a:prstGeom>
          <a:solidFill>
            <a:schemeClr val="bg1"/>
          </a:solidFill>
          <a:ln>
            <a:noFill/>
          </a:ln>
        </p:spPr>
        <p:txBody>
          <a:bodyPr/>
          <a:lstStyle/>
          <a:p>
            <a:endParaRPr lang="es-CL"/>
          </a:p>
        </p:txBody>
      </p:sp>
      <p:sp>
        <p:nvSpPr>
          <p:cNvPr id="162" name="Text 162"/>
          <p:cNvSpPr txBox="1"/>
          <p:nvPr/>
        </p:nvSpPr>
        <p:spPr>
          <a:xfrm>
            <a:off x="8842248" y="4636008"/>
            <a:ext cx="1005840" cy="713232"/>
          </a:xfrm>
          <a:prstGeom prst="rect">
            <a:avLst/>
          </a:prstGeom>
          <a:noFill/>
          <a:ln>
            <a:noFill/>
          </a:ln>
        </p:spPr>
        <p:txBody>
          <a:bodyPr wrap="square" lIns="0" tIns="0" rIns="0" bIns="0" rtlCol="0" anchor="ctr"/>
          <a:lstStyle/>
          <a:p>
            <a:pPr marL="0" indent="0" algn="l">
              <a:buNone/>
            </a:pPr>
            <a:r>
              <a:rPr lang="en-US" sz="1700" b="1" dirty="0">
                <a:solidFill>
                  <a:schemeClr val="accent1"/>
                </a:solidFill>
              </a:rPr>
              <a:t>41,700</a:t>
            </a:r>
            <a:endParaRPr lang="en-US" sz="1700" dirty="0"/>
          </a:p>
        </p:txBody>
      </p:sp>
      <p:sp>
        <p:nvSpPr>
          <p:cNvPr id="163" name="Text 163"/>
          <p:cNvSpPr txBox="1"/>
          <p:nvPr/>
        </p:nvSpPr>
        <p:spPr>
          <a:xfrm>
            <a:off x="9857232" y="4636008"/>
            <a:ext cx="1417320" cy="713232"/>
          </a:xfrm>
          <a:prstGeom prst="rect">
            <a:avLst/>
          </a:prstGeom>
          <a:noFill/>
          <a:ln>
            <a:noFill/>
          </a:ln>
        </p:spPr>
        <p:txBody>
          <a:bodyPr wrap="square" lIns="0" tIns="0" rIns="0" bIns="0" rtlCol="0" anchor="ctr"/>
          <a:lstStyle/>
          <a:p>
            <a:pPr marL="0" indent="0" algn="l">
              <a:spcAft>
                <a:spcPts val="100"/>
              </a:spcAft>
              <a:buNone/>
            </a:pPr>
            <a:r>
              <a:rPr lang="en-US" sz="900" b="1" dirty="0">
                <a:solidFill>
                  <a:schemeClr val="tx1"/>
                </a:solidFill>
              </a:rPr>
              <a:t>vehicle-fraud court cases in 2025, up 64%</a:t>
            </a:r>
            <a:endParaRPr lang="en-US" sz="900" dirty="0"/>
          </a:p>
          <a:p>
            <a:pPr marL="0" indent="0" algn="l">
              <a:buNone/>
            </a:pPr>
            <a:r>
              <a:rPr lang="en-US" sz="800" dirty="0">
                <a:solidFill>
                  <a:schemeClr val="tx2"/>
                </a:solidFill>
              </a:rPr>
              <a:t>Melelli Viveros, 2026</a:t>
            </a:r>
            <a:endParaRPr lang="en-US" sz="800" dirty="0"/>
          </a:p>
        </p:txBody>
      </p:sp>
      <p:sp>
        <p:nvSpPr>
          <p:cNvPr id="164" name="sparkle 164"/>
          <p:cNvSpPr/>
          <p:nvPr/>
        </p:nvSpPr>
        <p:spPr>
          <a:xfrm>
            <a:off x="11256264" y="1965960"/>
            <a:ext cx="548640" cy="548640"/>
          </a:xfrm>
          <a:prstGeom prst="star4">
            <a:avLst/>
          </a:prstGeom>
          <a:solidFill>
            <a:schemeClr val="accent2"/>
          </a:solidFill>
          <a:ln>
            <a:noFill/>
          </a:ln>
        </p:spPr>
        <p:txBody>
          <a:bodyPr/>
          <a:lstStyle/>
          <a:p>
            <a:endParaRPr lang="es-CL"/>
          </a:p>
        </p:txBody>
      </p:sp>
      <p:sp>
        <p:nvSpPr>
          <p:cNvPr id="165" name="Pill 165"/>
          <p:cNvSpPr txBox="1"/>
          <p:nvPr/>
        </p:nvSpPr>
        <p:spPr>
          <a:xfrm>
            <a:off x="548640" y="5760720"/>
            <a:ext cx="8503920" cy="365760"/>
          </a:xfrm>
          <a:prstGeom prst="roundRect">
            <a:avLst>
              <a:gd name="adj" fmla="val 50000"/>
            </a:avLst>
          </a:prstGeom>
          <a:solidFill>
            <a:schemeClr val="tx1"/>
          </a:solidFill>
          <a:ln>
            <a:noFill/>
          </a:ln>
        </p:spPr>
        <p:txBody>
          <a:bodyPr wrap="square" lIns="36576" tIns="0" rIns="36576" bIns="0" rtlCol="0" anchor="ctr"/>
          <a:lstStyle/>
          <a:p>
            <a:pPr marL="0" indent="0" algn="ctr">
              <a:buNone/>
            </a:pPr>
            <a:r>
              <a:rPr lang="en-US" sz="1100" b="1" dirty="0">
                <a:solidFill>
                  <a:schemeClr val="bg1"/>
                </a:solidFill>
              </a:rPr>
              <a:t>Dealers face the gap on every purchase, new brands widen it, and the law barely covers it.</a:t>
            </a:r>
            <a:endParaRPr lang="en-US" sz="110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Who pays to close the gap</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Two revenue lines: the dealer pays a plan, and a private-sale buyer pays per report.</a:t>
            </a:r>
            <a:endParaRPr lang="en-US" sz="1500" dirty="0"/>
          </a:p>
        </p:txBody>
      </p:sp>
      <p:sp>
        <p:nvSpPr>
          <p:cNvPr id="4"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pPr marL="0" indent="0" algn="l">
              <a:buNone/>
            </a:pPr>
            <a:r>
              <a:rPr lang="en-US" sz="850" dirty="0">
                <a:solidFill>
                  <a:schemeClr val="tx2"/>
                </a:solidFill>
              </a:rPr>
              <a:t>Sources: Serviteca CyT; Ojo Mecánico; Cazvid (salary-based estimate); Rodar (n.d.). InfoCar per car = CLP 59,900 ÷ ≈9 cars a month. Prices: hypotheses tested in SO5.</a:t>
            </a:r>
            <a:endParaRPr lang="en-US" sz="850" dirty="0"/>
          </a:p>
        </p:txBody>
      </p:sp>
      <p:sp>
        <p:nvSpPr>
          <p:cNvPr id="166" name="Card 166"/>
          <p:cNvSpPr/>
          <p:nvPr/>
        </p:nvSpPr>
        <p:spPr>
          <a:xfrm>
            <a:off x="548640" y="2240280"/>
            <a:ext cx="2743200" cy="1819656"/>
          </a:xfrm>
          <a:prstGeom prst="roundRect">
            <a:avLst>
              <a:gd name="adj" fmla="val 8333"/>
            </a:avLst>
          </a:prstGeom>
          <a:solidFill>
            <a:schemeClr val="accent1"/>
          </a:solidFill>
          <a:ln>
            <a:noFill/>
          </a:ln>
        </p:spPr>
        <p:txBody>
          <a:bodyPr/>
          <a:lstStyle/>
          <a:p>
            <a:endParaRPr lang="es-CL"/>
          </a:p>
        </p:txBody>
      </p:sp>
      <p:sp>
        <p:nvSpPr>
          <p:cNvPr id="167" name="Text 167"/>
          <p:cNvSpPr txBox="1"/>
          <p:nvPr/>
        </p:nvSpPr>
        <p:spPr>
          <a:xfrm>
            <a:off x="822960" y="2468880"/>
            <a:ext cx="2194560" cy="1453896"/>
          </a:xfrm>
          <a:prstGeom prst="rect">
            <a:avLst/>
          </a:prstGeom>
          <a:noFill/>
          <a:ln>
            <a:noFill/>
          </a:ln>
        </p:spPr>
        <p:txBody>
          <a:bodyPr wrap="square" lIns="0" tIns="0" rIns="0" bIns="0" rtlCol="0" anchor="t"/>
          <a:lstStyle/>
          <a:p>
            <a:pPr marL="0" indent="0" algn="l">
              <a:spcAft>
                <a:spcPts val="400"/>
              </a:spcAft>
              <a:buNone/>
            </a:pPr>
            <a:r>
              <a:rPr lang="en-US" sz="950" b="1" dirty="0">
                <a:solidFill>
                  <a:schemeClr val="accent2"/>
                </a:solidFill>
              </a:rPr>
              <a:t>INFOCAR</a:t>
            </a:r>
            <a:endParaRPr lang="en-US" sz="950" dirty="0"/>
          </a:p>
          <a:p>
            <a:pPr marL="0" indent="0" algn="l">
              <a:spcAft>
                <a:spcPts val="400"/>
              </a:spcAft>
              <a:buNone/>
            </a:pPr>
            <a:r>
              <a:rPr lang="en-US" sz="1600" b="1" dirty="0">
                <a:solidFill>
                  <a:schemeClr val="bg1"/>
                </a:solidFill>
              </a:rPr>
              <a:t>Condition report</a:t>
            </a:r>
            <a:endParaRPr lang="en-US" sz="1600" dirty="0"/>
          </a:p>
          <a:p>
            <a:pPr marL="0" indent="0" algn="l">
              <a:spcAft>
                <a:spcPts val="1000"/>
              </a:spcAft>
              <a:buNone/>
            </a:pPr>
            <a:r>
              <a:rPr lang="en-US" sz="1100" dirty="0">
                <a:solidFill>
                  <a:schemeClr val="accent5"/>
                </a:solidFill>
              </a:rPr>
              <a:t>Damage and repair cost, built from phone photos.</a:t>
            </a:r>
            <a:endParaRPr lang="en-US" sz="1100" dirty="0"/>
          </a:p>
          <a:p>
            <a:pPr marL="0" indent="0" algn="l">
              <a:buNone/>
            </a:pPr>
            <a:r>
              <a:rPr lang="en-US" sz="1000" b="1" i="1" dirty="0">
                <a:solidFill>
                  <a:schemeClr val="bg1"/>
                </a:solidFill>
              </a:rPr>
              <a:t>One report, two ways to pay.</a:t>
            </a:r>
            <a:endParaRPr lang="en-US" sz="1000" dirty="0"/>
          </a:p>
        </p:txBody>
      </p:sp>
      <p:sp>
        <p:nvSpPr>
          <p:cNvPr id="168" name="Circle 168"/>
          <p:cNvSpPr txBox="1"/>
          <p:nvPr/>
        </p:nvSpPr>
        <p:spPr>
          <a:xfrm>
            <a:off x="3401568" y="2496312"/>
            <a:ext cx="329184" cy="329184"/>
          </a:xfrm>
          <a:prstGeom prst="ellipse">
            <a:avLst/>
          </a:prstGeom>
          <a:solidFill>
            <a:schemeClr val="tx1"/>
          </a:solidFill>
          <a:ln>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69" name="Card 169"/>
          <p:cNvSpPr/>
          <p:nvPr/>
        </p:nvSpPr>
        <p:spPr>
          <a:xfrm>
            <a:off x="3840479" y="2240280"/>
            <a:ext cx="7799831" cy="841248"/>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70" name="Text 170"/>
          <p:cNvSpPr txBox="1"/>
          <p:nvPr/>
        </p:nvSpPr>
        <p:spPr>
          <a:xfrm>
            <a:off x="4096512" y="2423160"/>
            <a:ext cx="3191256" cy="566928"/>
          </a:xfrm>
          <a:prstGeom prst="rect">
            <a:avLst/>
          </a:prstGeom>
          <a:noFill/>
          <a:ln>
            <a:noFill/>
          </a:ln>
        </p:spPr>
        <p:txBody>
          <a:bodyPr wrap="square" lIns="0" tIns="0" rIns="0" bIns="0" rtlCol="0" anchor="t"/>
          <a:lstStyle/>
          <a:p>
            <a:pPr marL="0" indent="0" algn="l">
              <a:spcAft>
                <a:spcPts val="300"/>
              </a:spcAft>
              <a:buNone/>
            </a:pPr>
            <a:r>
              <a:rPr lang="en-US" sz="950" b="1" dirty="0">
                <a:solidFill>
                  <a:schemeClr val="accent1"/>
                </a:solidFill>
              </a:rPr>
              <a:t>B2B  ·  THE DEALER PAYS</a:t>
            </a:r>
            <a:endParaRPr lang="en-US" sz="950" dirty="0"/>
          </a:p>
          <a:p>
            <a:pPr marL="0" indent="0" algn="l">
              <a:spcAft>
                <a:spcPts val="500"/>
              </a:spcAft>
              <a:buNone/>
            </a:pPr>
            <a:r>
              <a:rPr lang="en-US" sz="1400" b="1" dirty="0">
                <a:solidFill>
                  <a:schemeClr val="tx1"/>
                </a:solidFill>
              </a:rPr>
              <a:t>Prices with the repair cost known</a:t>
            </a:r>
            <a:endParaRPr lang="en-US" sz="1400" dirty="0"/>
          </a:p>
        </p:txBody>
      </p:sp>
      <p:sp>
        <p:nvSpPr>
          <p:cNvPr id="171" name="Pill 171"/>
          <p:cNvSpPr txBox="1"/>
          <p:nvPr/>
        </p:nvSpPr>
        <p:spPr>
          <a:xfrm>
            <a:off x="8625840" y="2478024"/>
            <a:ext cx="2743200" cy="374904"/>
          </a:xfrm>
          <a:prstGeom prst="roundRect">
            <a:avLst>
              <a:gd name="adj" fmla="val 50000"/>
            </a:avLst>
          </a:prstGeom>
          <a:solidFill>
            <a:schemeClr val="accent2"/>
          </a:solidFill>
          <a:ln>
            <a:noFill/>
          </a:ln>
        </p:spPr>
        <p:txBody>
          <a:bodyPr wrap="square" lIns="36576" tIns="0" rIns="36576" bIns="0" rtlCol="0" anchor="ctr"/>
          <a:lstStyle/>
          <a:p>
            <a:pPr marL="0" indent="0" algn="ctr">
              <a:buNone/>
            </a:pPr>
            <a:r>
              <a:rPr lang="en-US" sz="1000" b="1" dirty="0">
                <a:solidFill>
                  <a:schemeClr val="tx1"/>
                </a:solidFill>
              </a:rPr>
              <a:t>Monthly plan  ·  CLP 59,900–149,900</a:t>
            </a:r>
            <a:endParaRPr lang="en-US" sz="1000" dirty="0"/>
          </a:p>
        </p:txBody>
      </p:sp>
      <p:sp>
        <p:nvSpPr>
          <p:cNvPr id="176" name="Circle 176"/>
          <p:cNvSpPr txBox="1"/>
          <p:nvPr/>
        </p:nvSpPr>
        <p:spPr>
          <a:xfrm>
            <a:off x="3401568" y="3474720"/>
            <a:ext cx="329184" cy="329184"/>
          </a:xfrm>
          <a:prstGeom prst="ellipse">
            <a:avLst/>
          </a:prstGeom>
          <a:solidFill>
            <a:schemeClr val="tx1"/>
          </a:solidFill>
          <a:ln>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77" name="Card 177"/>
          <p:cNvSpPr/>
          <p:nvPr/>
        </p:nvSpPr>
        <p:spPr>
          <a:xfrm>
            <a:off x="3840480" y="3218688"/>
            <a:ext cx="7799832" cy="841248"/>
          </a:xfrm>
          <a:prstGeom prst="roundRect">
            <a:avLst>
              <a:gd name="adj" fmla="val 8333"/>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178" name="Text 178"/>
          <p:cNvSpPr txBox="1"/>
          <p:nvPr/>
        </p:nvSpPr>
        <p:spPr>
          <a:xfrm>
            <a:off x="4096512" y="3310128"/>
            <a:ext cx="4754880" cy="704088"/>
          </a:xfrm>
          <a:prstGeom prst="rect">
            <a:avLst/>
          </a:prstGeom>
          <a:noFill/>
          <a:ln>
            <a:noFill/>
          </a:ln>
        </p:spPr>
        <p:txBody>
          <a:bodyPr wrap="square" lIns="0" tIns="0" rIns="0" bIns="0" rtlCol="0" anchor="t"/>
          <a:lstStyle/>
          <a:p>
            <a:pPr marL="0" indent="0" algn="l">
              <a:spcAft>
                <a:spcPts val="300"/>
              </a:spcAft>
              <a:buNone/>
            </a:pPr>
            <a:r>
              <a:rPr lang="en-US" sz="950" b="1" dirty="0">
                <a:solidFill>
                  <a:schemeClr val="accent1"/>
                </a:solidFill>
              </a:rPr>
              <a:t>B2C  ·  THE BUYER PAYS</a:t>
            </a:r>
            <a:endParaRPr lang="en-US" sz="950" dirty="0"/>
          </a:p>
          <a:p>
            <a:pPr marL="0" indent="0" algn="l">
              <a:spcAft>
                <a:spcPts val="300"/>
              </a:spcAft>
              <a:buNone/>
            </a:pPr>
            <a:r>
              <a:rPr lang="en-US" sz="1400" b="1" dirty="0">
                <a:solidFill>
                  <a:schemeClr val="tx1"/>
                </a:solidFill>
              </a:rPr>
              <a:t>Buys a car from a private seller</a:t>
            </a:r>
            <a:endParaRPr lang="en-US" sz="1400" dirty="0"/>
          </a:p>
          <a:p>
            <a:pPr marL="0" indent="0" algn="l">
              <a:buNone/>
            </a:pPr>
            <a:r>
              <a:rPr lang="en-US" sz="1000" dirty="0">
                <a:solidFill>
                  <a:schemeClr val="tx2"/>
                </a:solidFill>
              </a:rPr>
              <a:t>No dealer and no legal warranty: where the law protects least.</a:t>
            </a:r>
            <a:endParaRPr lang="en-US" sz="1000" dirty="0"/>
          </a:p>
        </p:txBody>
      </p:sp>
      <p:sp>
        <p:nvSpPr>
          <p:cNvPr id="179" name="Pill 179"/>
          <p:cNvSpPr txBox="1"/>
          <p:nvPr/>
        </p:nvSpPr>
        <p:spPr>
          <a:xfrm>
            <a:off x="8641080" y="3456432"/>
            <a:ext cx="2743200" cy="365760"/>
          </a:xfrm>
          <a:prstGeom prst="roundRect">
            <a:avLst>
              <a:gd name="adj" fmla="val 50000"/>
            </a:avLst>
          </a:prstGeom>
          <a:solidFill>
            <a:schemeClr val="accent1"/>
          </a:solidFill>
          <a:ln>
            <a:noFill/>
          </a:ln>
        </p:spPr>
        <p:txBody>
          <a:bodyPr wrap="square" lIns="36576" tIns="0" rIns="36576" bIns="0" rtlCol="0" anchor="ctr"/>
          <a:lstStyle/>
          <a:p>
            <a:pPr marL="0" indent="0" algn="ctr">
              <a:buNone/>
            </a:pPr>
            <a:r>
              <a:rPr lang="en-US" sz="1050" b="1" dirty="0">
                <a:solidFill>
                  <a:schemeClr val="bg1"/>
                </a:solidFill>
              </a:rPr>
              <a:t>One report  ·  CLP 7,990–24,990</a:t>
            </a:r>
            <a:endParaRPr lang="en-US" sz="1050" dirty="0"/>
          </a:p>
        </p:txBody>
      </p:sp>
      <p:sp>
        <p:nvSpPr>
          <p:cNvPr id="401" name="Card 401"/>
          <p:cNvSpPr/>
          <p:nvPr/>
        </p:nvSpPr>
        <p:spPr>
          <a:xfrm>
            <a:off x="548640" y="4224528"/>
            <a:ext cx="11091672" cy="128016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402" name="Text 402"/>
          <p:cNvSpPr txBox="1"/>
          <p:nvPr/>
        </p:nvSpPr>
        <p:spPr>
          <a:xfrm>
            <a:off x="822960" y="4334256"/>
            <a:ext cx="2011680" cy="274320"/>
          </a:xfrm>
          <a:prstGeom prst="rect">
            <a:avLst/>
          </a:prstGeom>
          <a:noFill/>
          <a:ln>
            <a:noFill/>
          </a:ln>
        </p:spPr>
        <p:txBody>
          <a:bodyPr wrap="square" lIns="0" tIns="0" rIns="0" bIns="0" rtlCol="0" anchor="ctr"/>
          <a:lstStyle/>
          <a:p>
            <a:pPr algn="l" indent="0" marL="0">
              <a:buNone/>
            </a:pPr>
            <a:r>
              <a:rPr lang="en-US" sz="1200" b="1" dirty="0">
                <a:solidFill>
                  <a:schemeClr val="tx1"/>
                </a:solidFill>
              </a:rPr>
              <a:t>Today vs. InfoCar</a:t>
            </a:r>
            <a:endParaRPr lang="en-US" sz="1200" dirty="0"/>
          </a:p>
        </p:txBody>
      </p:sp>
      <p:sp>
        <p:nvSpPr>
          <p:cNvPr id="403" name="Text 403"/>
          <p:cNvSpPr txBox="1"/>
          <p:nvPr/>
        </p:nvSpPr>
        <p:spPr>
          <a:xfrm>
            <a:off x="822960" y="4663440"/>
            <a:ext cx="2011680" cy="237744"/>
          </a:xfrm>
          <a:prstGeom prst="rect">
            <a:avLst/>
          </a:prstGeom>
          <a:noFill/>
          <a:ln>
            <a:noFill/>
          </a:ln>
        </p:spPr>
        <p:txBody>
          <a:bodyPr wrap="square" lIns="0" tIns="0" rIns="0" bIns="0" rtlCol="0" anchor="ctr"/>
          <a:lstStyle/>
          <a:p>
            <a:pPr algn="l" indent="0" marL="0">
              <a:buNone/>
            </a:pPr>
            <a:r>
              <a:rPr lang="en-US" sz="950" b="1" dirty="0">
                <a:solidFill>
                  <a:schemeClr val="tx2"/>
                </a:solidFill>
              </a:rPr>
              <a:t>Cost per car</a:t>
            </a:r>
            <a:endParaRPr lang="en-US" sz="950" dirty="0"/>
          </a:p>
        </p:txBody>
      </p:sp>
      <p:sp>
        <p:nvSpPr>
          <p:cNvPr id="404" name="Text 404"/>
          <p:cNvSpPr txBox="1"/>
          <p:nvPr/>
        </p:nvSpPr>
        <p:spPr>
          <a:xfrm>
            <a:off x="822960" y="4919472"/>
            <a:ext cx="2011680" cy="237744"/>
          </a:xfrm>
          <a:prstGeom prst="rect">
            <a:avLst/>
          </a:prstGeom>
          <a:noFill/>
          <a:ln>
            <a:noFill/>
          </a:ln>
        </p:spPr>
        <p:txBody>
          <a:bodyPr wrap="square" lIns="0" tIns="0" rIns="0" bIns="0" rtlCol="0" anchor="ctr"/>
          <a:lstStyle/>
          <a:p>
            <a:pPr algn="l" indent="0" marL="0">
              <a:buNone/>
            </a:pPr>
            <a:r>
              <a:rPr lang="en-US" sz="950" b="1" dirty="0">
                <a:solidFill>
                  <a:schemeClr val="tx2"/>
                </a:solidFill>
              </a:rPr>
              <a:t>Time per car</a:t>
            </a:r>
            <a:endParaRPr lang="en-US" sz="950" dirty="0"/>
          </a:p>
        </p:txBody>
      </p:sp>
      <p:sp>
        <p:nvSpPr>
          <p:cNvPr id="405" name="Text 405"/>
          <p:cNvSpPr txBox="1"/>
          <p:nvPr/>
        </p:nvSpPr>
        <p:spPr>
          <a:xfrm>
            <a:off x="822960" y="5175504"/>
            <a:ext cx="2011680" cy="237744"/>
          </a:xfrm>
          <a:prstGeom prst="rect">
            <a:avLst/>
          </a:prstGeom>
          <a:noFill/>
          <a:ln>
            <a:noFill/>
          </a:ln>
        </p:spPr>
        <p:txBody>
          <a:bodyPr wrap="square" lIns="0" tIns="0" rIns="0" bIns="0" rtlCol="0" anchor="ctr"/>
          <a:lstStyle/>
          <a:p>
            <a:pPr algn="l" indent="0" marL="0">
              <a:buNone/>
            </a:pPr>
            <a:r>
              <a:rPr lang="en-US" sz="950" b="1" dirty="0">
                <a:solidFill>
                  <a:schemeClr val="tx2"/>
                </a:solidFill>
              </a:rPr>
              <a:t>What it checks</a:t>
            </a:r>
            <a:endParaRPr lang="en-US" sz="950" dirty="0"/>
          </a:p>
        </p:txBody>
      </p:sp>
      <p:sp>
        <p:nvSpPr>
          <p:cNvPr id="406" name="Text 406"/>
          <p:cNvSpPr txBox="1"/>
          <p:nvPr/>
        </p:nvSpPr>
        <p:spPr>
          <a:xfrm>
            <a:off x="2788920" y="4334256"/>
            <a:ext cx="2084832" cy="274320"/>
          </a:xfrm>
          <a:prstGeom prst="rect">
            <a:avLst/>
          </a:prstGeom>
          <a:noFill/>
          <a:ln>
            <a:noFill/>
          </a:ln>
        </p:spPr>
        <p:txBody>
          <a:bodyPr wrap="square" lIns="0" tIns="0" rIns="0" bIns="0" rtlCol="0" anchor="ctr"/>
          <a:lstStyle/>
          <a:p>
            <a:pPr algn="l" indent="0" marL="0">
              <a:buNone/>
            </a:pPr>
            <a:r>
              <a:rPr lang="en-US" sz="1100" b="1" dirty="0">
                <a:solidFill>
                  <a:schemeClr val="accent1"/>
                </a:solidFill>
              </a:rPr>
              <a:t>Mechanic inspection</a:t>
            </a:r>
            <a:endParaRPr lang="en-US" sz="1100" dirty="0"/>
          </a:p>
        </p:txBody>
      </p:sp>
      <p:sp>
        <p:nvSpPr>
          <p:cNvPr id="407" name="Text 407"/>
          <p:cNvSpPr txBox="1"/>
          <p:nvPr/>
        </p:nvSpPr>
        <p:spPr>
          <a:xfrm>
            <a:off x="2788920" y="4663440"/>
            <a:ext cx="2084832" cy="237744"/>
          </a:xfrm>
          <a:prstGeom prst="rect">
            <a:avLst/>
          </a:prstGeom>
          <a:noFill/>
          <a:ln>
            <a:noFill/>
          </a:ln>
        </p:spPr>
        <p:txBody>
          <a:bodyPr wrap="square" lIns="0" tIns="0" rIns="0" bIns="0" rtlCol="0" anchor="ctr"/>
          <a:lstStyle/>
          <a:p>
            <a:pPr algn="l" indent="0" marL="0">
              <a:buNone/>
            </a:pPr>
            <a:r>
              <a:rPr lang="en-US" sz="1050" b="1" dirty="0">
                <a:solidFill>
                  <a:schemeClr val="tx1"/>
                </a:solidFill>
              </a:rPr>
              <a:t>CLP 82,000–85,990</a:t>
            </a:r>
            <a:endParaRPr lang="en-US" sz="1050" dirty="0"/>
          </a:p>
        </p:txBody>
      </p:sp>
      <p:sp>
        <p:nvSpPr>
          <p:cNvPr id="408" name="Text 408"/>
          <p:cNvSpPr txBox="1"/>
          <p:nvPr/>
        </p:nvSpPr>
        <p:spPr>
          <a:xfrm>
            <a:off x="2788920" y="4919472"/>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1–3 hours</a:t>
            </a:r>
            <a:endParaRPr lang="en-US" sz="1000" dirty="0"/>
          </a:p>
        </p:txBody>
      </p:sp>
      <p:sp>
        <p:nvSpPr>
          <p:cNvPr id="409" name="Text 409"/>
          <p:cNvSpPr txBox="1"/>
          <p:nvPr/>
        </p:nvSpPr>
        <p:spPr>
          <a:xfrm>
            <a:off x="2788920" y="5175504"/>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Engine, body, chassis</a:t>
            </a:r>
            <a:endParaRPr lang="en-US" sz="1000" dirty="0"/>
          </a:p>
        </p:txBody>
      </p:sp>
      <p:sp>
        <p:nvSpPr>
          <p:cNvPr id="410" name="Text 410"/>
          <p:cNvSpPr txBox="1"/>
          <p:nvPr/>
        </p:nvSpPr>
        <p:spPr>
          <a:xfrm>
            <a:off x="5010912" y="4334256"/>
            <a:ext cx="2084832" cy="274320"/>
          </a:xfrm>
          <a:prstGeom prst="rect">
            <a:avLst/>
          </a:prstGeom>
          <a:noFill/>
          <a:ln>
            <a:noFill/>
          </a:ln>
        </p:spPr>
        <p:txBody>
          <a:bodyPr wrap="square" lIns="0" tIns="0" rIns="0" bIns="0" rtlCol="0" anchor="ctr"/>
          <a:lstStyle/>
          <a:p>
            <a:pPr algn="l" indent="0" marL="0">
              <a:buNone/>
            </a:pPr>
            <a:r>
              <a:rPr lang="en-US" sz="1100" b="1" dirty="0">
                <a:solidFill>
                  <a:schemeClr val="accent1"/>
                </a:solidFill>
              </a:rPr>
              <a:t>In-house mechanic</a:t>
            </a:r>
            <a:endParaRPr lang="en-US" sz="1100" dirty="0"/>
          </a:p>
        </p:txBody>
      </p:sp>
      <p:sp>
        <p:nvSpPr>
          <p:cNvPr id="411" name="Text 411"/>
          <p:cNvSpPr txBox="1"/>
          <p:nvPr/>
        </p:nvSpPr>
        <p:spPr>
          <a:xfrm>
            <a:off x="5010912" y="4663440"/>
            <a:ext cx="2084832" cy="237744"/>
          </a:xfrm>
          <a:prstGeom prst="rect">
            <a:avLst/>
          </a:prstGeom>
          <a:noFill/>
          <a:ln>
            <a:noFill/>
          </a:ln>
        </p:spPr>
        <p:txBody>
          <a:bodyPr wrap="square" lIns="0" tIns="0" rIns="0" bIns="0" rtlCol="0" anchor="ctr"/>
          <a:lstStyle/>
          <a:p>
            <a:pPr algn="l" indent="0" marL="0">
              <a:buNone/>
            </a:pPr>
            <a:r>
              <a:rPr lang="en-US" sz="1050" b="1" dirty="0">
                <a:solidFill>
                  <a:schemeClr val="tx1"/>
                </a:solidFill>
              </a:rPr>
              <a:t>≈CLP 4,000 per hour</a:t>
            </a:r>
            <a:endParaRPr lang="en-US" sz="1050" dirty="0"/>
          </a:p>
        </p:txBody>
      </p:sp>
      <p:sp>
        <p:nvSpPr>
          <p:cNvPr id="412" name="Text 412"/>
          <p:cNvSpPr txBox="1"/>
          <p:nvPr/>
        </p:nvSpPr>
        <p:spPr>
          <a:xfrm>
            <a:off x="5010912" y="4919472"/>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When one is free</a:t>
            </a:r>
            <a:endParaRPr lang="en-US" sz="1000" dirty="0"/>
          </a:p>
        </p:txBody>
      </p:sp>
      <p:sp>
        <p:nvSpPr>
          <p:cNvPr id="413" name="Text 413"/>
          <p:cNvSpPr txBox="1"/>
          <p:nvPr/>
        </p:nvSpPr>
        <p:spPr>
          <a:xfrm>
            <a:off x="5010912" y="5175504"/>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Engine, body, chassis</a:t>
            </a:r>
            <a:endParaRPr lang="en-US" sz="1000" dirty="0"/>
          </a:p>
        </p:txBody>
      </p:sp>
      <p:sp>
        <p:nvSpPr>
          <p:cNvPr id="414" name="Text 414"/>
          <p:cNvSpPr txBox="1"/>
          <p:nvPr/>
        </p:nvSpPr>
        <p:spPr>
          <a:xfrm>
            <a:off x="7232904" y="4334256"/>
            <a:ext cx="2084832" cy="274320"/>
          </a:xfrm>
          <a:prstGeom prst="rect">
            <a:avLst/>
          </a:prstGeom>
          <a:noFill/>
          <a:ln>
            <a:noFill/>
          </a:ln>
        </p:spPr>
        <p:txBody>
          <a:bodyPr wrap="square" lIns="0" tIns="0" rIns="0" bIns="0" rtlCol="0" anchor="ctr"/>
          <a:lstStyle/>
          <a:p>
            <a:pPr algn="l" indent="0" marL="0">
              <a:buNone/>
            </a:pPr>
            <a:r>
              <a:rPr lang="en-US" sz="1100" b="1" dirty="0">
                <a:solidFill>
                  <a:schemeClr val="accent1"/>
                </a:solidFill>
              </a:rPr>
              <a:t>Rodar</a:t>
            </a:r>
            <a:endParaRPr lang="en-US" sz="1100" dirty="0"/>
          </a:p>
        </p:txBody>
      </p:sp>
      <p:sp>
        <p:nvSpPr>
          <p:cNvPr id="415" name="Text 415"/>
          <p:cNvSpPr txBox="1"/>
          <p:nvPr/>
        </p:nvSpPr>
        <p:spPr>
          <a:xfrm>
            <a:off x="7232904" y="4663440"/>
            <a:ext cx="2084832" cy="237744"/>
          </a:xfrm>
          <a:prstGeom prst="rect">
            <a:avLst/>
          </a:prstGeom>
          <a:noFill/>
          <a:ln>
            <a:noFill/>
          </a:ln>
        </p:spPr>
        <p:txBody>
          <a:bodyPr wrap="square" lIns="0" tIns="0" rIns="0" bIns="0" rtlCol="0" anchor="ctr"/>
          <a:lstStyle/>
          <a:p>
            <a:pPr algn="l" indent="0" marL="0">
              <a:buNone/>
            </a:pPr>
            <a:r>
              <a:rPr lang="en-US" sz="1050" b="1" dirty="0">
                <a:solidFill>
                  <a:schemeClr val="tx1"/>
                </a:solidFill>
              </a:rPr>
              <a:t>Not public</a:t>
            </a:r>
            <a:endParaRPr lang="en-US" sz="1050" dirty="0"/>
          </a:p>
        </p:txBody>
      </p:sp>
      <p:sp>
        <p:nvSpPr>
          <p:cNvPr id="416" name="Text 416"/>
          <p:cNvSpPr txBox="1"/>
          <p:nvPr/>
        </p:nvSpPr>
        <p:spPr>
          <a:xfrm>
            <a:off x="7232904" y="4919472"/>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Needs a scanner fitted</a:t>
            </a:r>
            <a:endParaRPr lang="en-US" sz="1000" dirty="0"/>
          </a:p>
        </p:txBody>
      </p:sp>
      <p:sp>
        <p:nvSpPr>
          <p:cNvPr id="417" name="Text 417"/>
          <p:cNvSpPr txBox="1"/>
          <p:nvPr/>
        </p:nvSpPr>
        <p:spPr>
          <a:xfrm>
            <a:off x="7232904" y="5175504"/>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Engine data (OBD-II)</a:t>
            </a:r>
            <a:endParaRPr lang="en-US" sz="1000" dirty="0"/>
          </a:p>
        </p:txBody>
      </p:sp>
      <p:sp>
        <p:nvSpPr>
          <p:cNvPr id="418" name="Shape 418"/>
          <p:cNvSpPr/>
          <p:nvPr/>
        </p:nvSpPr>
        <p:spPr>
          <a:xfrm>
            <a:off x="9345168" y="4297680"/>
            <a:ext cx="2267712" cy="1133856"/>
          </a:xfrm>
          <a:prstGeom prst="roundRect">
            <a:avLst>
              <a:gd name="adj" fmla="val 16000"/>
            </a:avLst>
          </a:prstGeom>
          <a:solidFill>
            <a:schemeClr val="accent2"/>
          </a:solidFill>
          <a:ln>
            <a:noFill/>
          </a:ln>
        </p:spPr>
      </p:sp>
      <p:sp>
        <p:nvSpPr>
          <p:cNvPr id="419" name="Text 419"/>
          <p:cNvSpPr txBox="1"/>
          <p:nvPr/>
        </p:nvSpPr>
        <p:spPr>
          <a:xfrm>
            <a:off x="9454896" y="4334256"/>
            <a:ext cx="2084832" cy="274320"/>
          </a:xfrm>
          <a:prstGeom prst="rect">
            <a:avLst/>
          </a:prstGeom>
          <a:noFill/>
          <a:ln>
            <a:noFill/>
          </a:ln>
        </p:spPr>
        <p:txBody>
          <a:bodyPr wrap="square" lIns="0" tIns="0" rIns="0" bIns="0" rtlCol="0" anchor="ctr"/>
          <a:lstStyle/>
          <a:p>
            <a:pPr algn="l" indent="0" marL="0">
              <a:buNone/>
            </a:pPr>
            <a:r>
              <a:rPr lang="en-US" sz="1100" b="1" dirty="0">
                <a:solidFill>
                  <a:schemeClr val="tx1"/>
                </a:solidFill>
              </a:rPr>
              <a:t>InfoCar</a:t>
            </a:r>
            <a:endParaRPr lang="en-US" sz="1100" dirty="0"/>
          </a:p>
        </p:txBody>
      </p:sp>
      <p:sp>
        <p:nvSpPr>
          <p:cNvPr id="420" name="Text 420"/>
          <p:cNvSpPr txBox="1"/>
          <p:nvPr/>
        </p:nvSpPr>
        <p:spPr>
          <a:xfrm>
            <a:off x="9454896" y="4663440"/>
            <a:ext cx="2084832" cy="237744"/>
          </a:xfrm>
          <a:prstGeom prst="rect">
            <a:avLst/>
          </a:prstGeom>
          <a:noFill/>
          <a:ln>
            <a:noFill/>
          </a:ln>
        </p:spPr>
        <p:txBody>
          <a:bodyPr wrap="square" lIns="0" tIns="0" rIns="0" bIns="0" rtlCol="0" anchor="ctr"/>
          <a:lstStyle/>
          <a:p>
            <a:pPr algn="l" indent="0" marL="0">
              <a:buNone/>
            </a:pPr>
            <a:r>
              <a:rPr lang="en-US" sz="1050" b="1" dirty="0">
                <a:solidFill>
                  <a:schemeClr val="tx1"/>
                </a:solidFill>
              </a:rPr>
              <a:t>≈CLP 6,700 on the plan</a:t>
            </a:r>
            <a:endParaRPr lang="en-US" sz="1050" dirty="0"/>
          </a:p>
        </p:txBody>
      </p:sp>
      <p:sp>
        <p:nvSpPr>
          <p:cNvPr id="421" name="Text 421"/>
          <p:cNvSpPr txBox="1"/>
          <p:nvPr/>
        </p:nvSpPr>
        <p:spPr>
          <a:xfrm>
            <a:off x="9454896" y="4919472"/>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Minutes (goal: under 5)</a:t>
            </a:r>
            <a:endParaRPr lang="en-US" sz="1000" dirty="0"/>
          </a:p>
        </p:txBody>
      </p:sp>
      <p:sp>
        <p:nvSpPr>
          <p:cNvPr id="422" name="Text 422"/>
          <p:cNvSpPr txBox="1"/>
          <p:nvPr/>
        </p:nvSpPr>
        <p:spPr>
          <a:xfrm>
            <a:off x="9454896" y="5175504"/>
            <a:ext cx="2084832" cy="237744"/>
          </a:xfrm>
          <a:prstGeom prst="rect">
            <a:avLst/>
          </a:prstGeom>
          <a:noFill/>
          <a:ln>
            <a:noFill/>
          </a:ln>
        </p:spPr>
        <p:txBody>
          <a:bodyPr wrap="square" lIns="0" tIns="0" rIns="0" bIns="0" rtlCol="0" anchor="ctr"/>
          <a:lstStyle/>
          <a:p>
            <a:pPr algn="l" indent="0" marL="0">
              <a:buNone/>
            </a:pPr>
            <a:r>
              <a:rPr lang="en-US" sz="1000" dirty="0">
                <a:solidFill>
                  <a:schemeClr val="tx1"/>
                </a:solidFill>
              </a:rPr>
              <a:t>Exterior body only</a:t>
            </a:r>
            <a:endParaRPr lang="en-US" sz="1000" dirty="0"/>
          </a:p>
        </p:txBody>
      </p:sp>
      <p:sp>
        <p:nvSpPr>
          <p:cNvPr id="187" name="Pill 423"/>
          <p:cNvSpPr txBox="1"/>
          <p:nvPr/>
        </p:nvSpPr>
        <p:spPr>
          <a:xfrm>
            <a:off x="548640" y="5760720"/>
            <a:ext cx="8778240" cy="365760"/>
          </a:xfrm>
          <a:prstGeom prst="roundRect">
            <a:avLst>
              <a:gd name="adj" fmla="val 50000"/>
            </a:avLst>
          </a:prstGeom>
          <a:solidFill>
            <a:schemeClr val="tx1"/>
          </a:solidFill>
          <a:ln>
            <a:noFill/>
          </a:ln>
        </p:spPr>
        <p:txBody>
          <a:bodyPr wrap="square" lIns="36576" tIns="0" rIns="36576" bIns="0" rtlCol="0" anchor="ctr"/>
          <a:lstStyle/>
          <a:p>
            <a:pPr algn="ctr" indent="0" marL="0">
              <a:buNone/>
            </a:pPr>
            <a:r>
              <a:rPr lang="en-US" sz="1050" b="1" dirty="0">
                <a:solidFill>
                  <a:schemeClr val="bg1"/>
                </a:solidFill>
              </a:rPr>
              <a:t>A mechanic's inspection costs CLP 82,000+ and takes hours; InfoCar costs ≈CLP 6,700 a car and takes minutes.</a:t>
            </a:r>
            <a:endParaRPr lang="en-US" sz="10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4</a:t>
            </a:fld>
            <a:endParaRPr lang="en-US"/>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What we want to understand</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Every specific objective (SO) is SMART, and all five fit in one month of fieldwork.</a:t>
            </a:r>
            <a:endParaRPr lang="en-US" sz="1500" dirty="0"/>
          </a:p>
        </p:txBody>
      </p:sp>
      <p:sp>
        <p:nvSpPr>
          <p:cNvPr id="424" name="Text 424"/>
          <p:cNvSpPr txBox="1"/>
          <p:nvPr/>
        </p:nvSpPr>
        <p:spPr>
          <a:xfrm>
            <a:off x="548640" y="6309360"/>
            <a:ext cx="9966960" cy="292608"/>
          </a:xfrm>
          <a:prstGeom prst="rect">
            <a:avLst/>
          </a:prstGeom>
          <a:noFill/>
          <a:ln>
            <a:noFill/>
          </a:ln>
        </p:spPr>
        <p:txBody>
          <a:bodyPr wrap="square" lIns="0" tIns="0" rIns="0" bIns="0" rtlCol="0" anchor="ctr"/>
          <a:lstStyle/>
          <a:p>
            <a:pPr algn="l" indent="0" marL="0">
              <a:buNone/>
            </a:pPr>
            <a:r>
              <a:rPr lang="en-US" sz="850" dirty="0">
                <a:solidFill>
                  <a:schemeClr val="tx2"/>
                </a:solidFill>
              </a:rPr>
              <a:t>SMART = Specific, Measurable, Achievable, Relevant, Time-bound. T = theoretical plan: W1 explore (stage 1) · W2 build and pilot the questionnaire · W3–W4 measure (stage 2).</a:t>
            </a:r>
            <a:endParaRPr lang="en-US" sz="850" dirty="0"/>
          </a:p>
        </p:txBody>
      </p:sp>
      <p:sp>
        <p:nvSpPr>
          <p:cNvPr id="425" name="Card 425"/>
          <p:cNvSpPr/>
          <p:nvPr/>
        </p:nvSpPr>
        <p:spPr>
          <a:xfrm>
            <a:off x="548640" y="2194560"/>
            <a:ext cx="3246120" cy="3977640"/>
          </a:xfrm>
          <a:prstGeom prst="roundRect">
            <a:avLst>
              <a:gd name="adj" fmla="val 8333"/>
            </a:avLst>
          </a:prstGeom>
          <a:solidFill>
            <a:schemeClr val="accent1"/>
          </a:solidFill>
          <a:ln>
            <a:noFill/>
          </a:ln>
        </p:spPr>
      </p:sp>
      <p:sp>
        <p:nvSpPr>
          <p:cNvPr id="426" name="Pill 426"/>
          <p:cNvSpPr txBox="1"/>
          <p:nvPr/>
        </p:nvSpPr>
        <p:spPr>
          <a:xfrm>
            <a:off x="841248" y="2468880"/>
            <a:ext cx="1783080" cy="320040"/>
          </a:xfrm>
          <a:prstGeom prst="roundRect">
            <a:avLst>
              <a:gd name="adj" fmla="val 50000"/>
            </a:avLst>
          </a:prstGeom>
          <a:solidFill>
            <a:schemeClr val="accent2"/>
          </a:solidFill>
          <a:ln>
            <a:noFill/>
          </a:ln>
        </p:spPr>
        <p:txBody>
          <a:bodyPr wrap="square" lIns="36576" tIns="0" rIns="36576" bIns="0" rtlCol="0" anchor="ctr"/>
          <a:lstStyle/>
          <a:p>
            <a:pPr algn="ctr" indent="0" marL="0">
              <a:buNone/>
            </a:pPr>
            <a:r>
              <a:rPr lang="en-US" sz="1100" b="1" dirty="0">
                <a:solidFill>
                  <a:schemeClr val="tx1"/>
                </a:solidFill>
              </a:rPr>
              <a:t>General objective</a:t>
            </a:r>
            <a:endParaRPr lang="en-US" sz="1100" dirty="0"/>
          </a:p>
        </p:txBody>
      </p:sp>
      <p:sp>
        <p:nvSpPr>
          <p:cNvPr id="427" name="Text 427"/>
          <p:cNvSpPr txBox="1"/>
          <p:nvPr/>
        </p:nvSpPr>
        <p:spPr>
          <a:xfrm>
            <a:off x="868680" y="2971800"/>
            <a:ext cx="2606040" cy="2194560"/>
          </a:xfrm>
          <a:prstGeom prst="rect">
            <a:avLst/>
          </a:prstGeom>
          <a:noFill/>
          <a:ln>
            <a:noFill/>
          </a:ln>
        </p:spPr>
        <p:txBody>
          <a:bodyPr wrap="square" lIns="0" tIns="0" rIns="0" bIns="0" rtlCol="0" anchor="t"/>
          <a:lstStyle/>
          <a:p>
            <a:pPr algn="l" indent="0" marL="0">
              <a:lnSpc>
                <a:spcPct val="95000"/>
              </a:lnSpc>
              <a:buNone/>
            </a:pPr>
            <a:r>
              <a:rPr lang="en-US" sz="1800" b="1" dirty="0">
                <a:solidFill>
                  <a:schemeClr val="bg1"/>
                </a:solidFill>
              </a:rPr>
              <a:t>To understand how technical and economic certainty is valued when setting the transaction value of used cars.</a:t>
            </a:r>
            <a:endParaRPr lang="en-US" sz="1800" dirty="0"/>
          </a:p>
        </p:txBody>
      </p:sp>
      <p:sp>
        <p:nvSpPr>
          <p:cNvPr id="428" name="Line 428"/>
          <p:cNvSpPr/>
          <p:nvPr/>
        </p:nvSpPr>
        <p:spPr>
          <a:xfrm>
            <a:off x="868680" y="5257800"/>
            <a:ext cx="2606040" cy="0"/>
          </a:xfrm>
          <a:prstGeom prst="line">
            <a:avLst/>
          </a:prstGeom>
          <a:noFill/>
          <a:ln w="12700">
            <a:solidFill>
              <a:schemeClr val="accent4"/>
            </a:solidFill>
          </a:ln>
        </p:spPr>
      </p:sp>
      <p:sp>
        <p:nvSpPr>
          <p:cNvPr id="429" name="Text 429"/>
          <p:cNvSpPr txBox="1"/>
          <p:nvPr/>
        </p:nvSpPr>
        <p:spPr>
          <a:xfrm>
            <a:off x="868680" y="5376672"/>
            <a:ext cx="2606040" cy="640080"/>
          </a:xfrm>
          <a:prstGeom prst="rect">
            <a:avLst/>
          </a:prstGeom>
          <a:noFill/>
          <a:ln>
            <a:noFill/>
          </a:ln>
        </p:spPr>
        <p:txBody>
          <a:bodyPr wrap="square" lIns="0" tIns="0" rIns="0" bIns="0" rtlCol="0" anchor="t"/>
          <a:lstStyle/>
          <a:p>
            <a:pPr algn="l" indent="0" marL="0">
              <a:buNone/>
            </a:pPr>
            <a:r>
              <a:rPr lang="en-US" sz="1050" dirty="0">
                <a:solidFill>
                  <a:schemeClr val="accent5"/>
                </a:solidFill>
              </a:rPr>
              <a:t>Higher-order verb + the phenomenon. No method, no who, no where.</a:t>
            </a:r>
            <a:endParaRPr lang="en-US" sz="1050" dirty="0"/>
          </a:p>
        </p:txBody>
      </p:sp>
      <p:sp>
        <p:nvSpPr>
          <p:cNvPr id="430" name="sparkle 430"/>
          <p:cNvSpPr/>
          <p:nvPr/>
        </p:nvSpPr>
        <p:spPr>
          <a:xfrm>
            <a:off x="3520440" y="1920240"/>
            <a:ext cx="548640" cy="548640"/>
          </a:xfrm>
          <a:prstGeom prst="star4">
            <a:avLst/>
          </a:prstGeom>
          <a:solidFill>
            <a:schemeClr val="accent2"/>
          </a:solidFill>
          <a:ln>
            <a:noFill/>
          </a:ln>
        </p:spPr>
      </p:sp>
      <p:sp>
        <p:nvSpPr>
          <p:cNvPr id="431" name="Text 431"/>
          <p:cNvSpPr txBox="1"/>
          <p:nvPr/>
        </p:nvSpPr>
        <p:spPr>
          <a:xfrm>
            <a:off x="4553712" y="2194560"/>
            <a:ext cx="2788920" cy="256032"/>
          </a:xfrm>
          <a:prstGeom prst="rect">
            <a:avLst/>
          </a:prstGeom>
          <a:noFill/>
          <a:ln>
            <a:noFill/>
          </a:ln>
        </p:spPr>
        <p:txBody>
          <a:bodyPr wrap="square" lIns="0" tIns="0" rIns="0" bIns="0" rtlCol="0" anchor="ctr"/>
          <a:lstStyle/>
          <a:p>
            <a:pPr algn="l" indent="0" marL="0">
              <a:buNone/>
            </a:pPr>
            <a:r>
              <a:rPr lang="en-US" sz="950" b="1" dirty="0">
                <a:solidFill>
                  <a:schemeClr val="tx2"/>
                </a:solidFill>
              </a:rPr>
              <a:t>Specific objective (SO)</a:t>
            </a:r>
            <a:endParaRPr lang="en-US" sz="950" dirty="0"/>
          </a:p>
        </p:txBody>
      </p:sp>
      <p:sp>
        <p:nvSpPr>
          <p:cNvPr id="432" name="Text 432"/>
          <p:cNvSpPr txBox="1"/>
          <p:nvPr/>
        </p:nvSpPr>
        <p:spPr>
          <a:xfrm>
            <a:off x="7406640" y="2194560"/>
            <a:ext cx="1389888" cy="256032"/>
          </a:xfrm>
          <a:prstGeom prst="rect">
            <a:avLst/>
          </a:prstGeom>
          <a:noFill/>
          <a:ln>
            <a:noFill/>
          </a:ln>
        </p:spPr>
        <p:txBody>
          <a:bodyPr wrap="square" lIns="0" tIns="0" rIns="0" bIns="0" rtlCol="0" anchor="ctr"/>
          <a:lstStyle/>
          <a:p>
            <a:pPr algn="l" indent="0" marL="0">
              <a:buNone/>
            </a:pPr>
            <a:r>
              <a:rPr lang="en-US" sz="950" b="1" dirty="0">
                <a:solidFill>
                  <a:schemeClr val="tx2"/>
                </a:solidFill>
              </a:rPr>
              <a:t>Dimension</a:t>
            </a:r>
            <a:endParaRPr lang="en-US" sz="950" dirty="0"/>
          </a:p>
        </p:txBody>
      </p:sp>
      <p:sp>
        <p:nvSpPr>
          <p:cNvPr id="433" name="Text 433"/>
          <p:cNvSpPr txBox="1"/>
          <p:nvPr/>
        </p:nvSpPr>
        <p:spPr>
          <a:xfrm>
            <a:off x="8869680" y="2148840"/>
            <a:ext cx="1417320" cy="182880"/>
          </a:xfrm>
          <a:prstGeom prst="rect">
            <a:avLst/>
          </a:prstGeom>
          <a:noFill/>
          <a:ln>
            <a:noFill/>
          </a:ln>
        </p:spPr>
        <p:txBody>
          <a:bodyPr wrap="square" lIns="0" tIns="0" rIns="0" bIns="0" rtlCol="0" anchor="ctr"/>
          <a:lstStyle/>
          <a:p>
            <a:pPr algn="l" indent="0" marL="0">
              <a:buNone/>
            </a:pPr>
            <a:r>
              <a:rPr lang="en-US" sz="950" b="1" dirty="0">
                <a:solidFill>
                  <a:schemeClr val="tx2"/>
                </a:solidFill>
              </a:rPr>
              <a:t>Time (T)</a:t>
            </a:r>
            <a:endParaRPr lang="en-US" sz="950" dirty="0"/>
          </a:p>
        </p:txBody>
      </p:sp>
      <p:sp>
        <p:nvSpPr>
          <p:cNvPr id="434" name="Text 434"/>
          <p:cNvSpPr txBox="1"/>
          <p:nvPr/>
        </p:nvSpPr>
        <p:spPr>
          <a:xfrm>
            <a:off x="8869680" y="2331720"/>
            <a:ext cx="320040" cy="146304"/>
          </a:xfrm>
          <a:prstGeom prst="rect">
            <a:avLst/>
          </a:prstGeom>
          <a:noFill/>
          <a:ln>
            <a:noFill/>
          </a:ln>
        </p:spPr>
        <p:txBody>
          <a:bodyPr wrap="square" lIns="0" tIns="0" rIns="0" bIns="0" rtlCol="0" anchor="ctr"/>
          <a:lstStyle/>
          <a:p>
            <a:pPr algn="ctr" indent="0" marL="0">
              <a:buNone/>
            </a:pPr>
            <a:r>
              <a:rPr lang="en-US" sz="750" b="1" dirty="0">
                <a:solidFill>
                  <a:schemeClr val="tx2"/>
                </a:solidFill>
              </a:rPr>
              <a:t>W1</a:t>
            </a:r>
            <a:endParaRPr lang="en-US" sz="750" dirty="0"/>
          </a:p>
        </p:txBody>
      </p:sp>
      <p:sp>
        <p:nvSpPr>
          <p:cNvPr id="435" name="Text 435"/>
          <p:cNvSpPr txBox="1"/>
          <p:nvPr/>
        </p:nvSpPr>
        <p:spPr>
          <a:xfrm>
            <a:off x="9235440" y="2331720"/>
            <a:ext cx="320040" cy="146304"/>
          </a:xfrm>
          <a:prstGeom prst="rect">
            <a:avLst/>
          </a:prstGeom>
          <a:noFill/>
          <a:ln>
            <a:noFill/>
          </a:ln>
        </p:spPr>
        <p:txBody>
          <a:bodyPr wrap="square" lIns="0" tIns="0" rIns="0" bIns="0" rtlCol="0" anchor="ctr"/>
          <a:lstStyle/>
          <a:p>
            <a:pPr algn="ctr" indent="0" marL="0">
              <a:buNone/>
            </a:pPr>
            <a:r>
              <a:rPr lang="en-US" sz="750" b="1" dirty="0">
                <a:solidFill>
                  <a:schemeClr val="tx2"/>
                </a:solidFill>
              </a:rPr>
              <a:t>W2</a:t>
            </a:r>
            <a:endParaRPr lang="en-US" sz="750" dirty="0"/>
          </a:p>
        </p:txBody>
      </p:sp>
      <p:sp>
        <p:nvSpPr>
          <p:cNvPr id="436" name="Text 436"/>
          <p:cNvSpPr txBox="1"/>
          <p:nvPr/>
        </p:nvSpPr>
        <p:spPr>
          <a:xfrm>
            <a:off x="9601200" y="2331720"/>
            <a:ext cx="320040" cy="146304"/>
          </a:xfrm>
          <a:prstGeom prst="rect">
            <a:avLst/>
          </a:prstGeom>
          <a:noFill/>
          <a:ln>
            <a:noFill/>
          </a:ln>
        </p:spPr>
        <p:txBody>
          <a:bodyPr wrap="square" lIns="0" tIns="0" rIns="0" bIns="0" rtlCol="0" anchor="ctr"/>
          <a:lstStyle/>
          <a:p>
            <a:pPr algn="ctr" indent="0" marL="0">
              <a:buNone/>
            </a:pPr>
            <a:r>
              <a:rPr lang="en-US" sz="750" b="1" dirty="0">
                <a:solidFill>
                  <a:schemeClr val="tx2"/>
                </a:solidFill>
              </a:rPr>
              <a:t>W3</a:t>
            </a:r>
            <a:endParaRPr lang="en-US" sz="750" dirty="0"/>
          </a:p>
        </p:txBody>
      </p:sp>
      <p:sp>
        <p:nvSpPr>
          <p:cNvPr id="437" name="Text 437"/>
          <p:cNvSpPr txBox="1"/>
          <p:nvPr/>
        </p:nvSpPr>
        <p:spPr>
          <a:xfrm>
            <a:off x="9966960" y="2331720"/>
            <a:ext cx="320040" cy="146304"/>
          </a:xfrm>
          <a:prstGeom prst="rect">
            <a:avLst/>
          </a:prstGeom>
          <a:noFill/>
          <a:ln>
            <a:noFill/>
          </a:ln>
        </p:spPr>
        <p:txBody>
          <a:bodyPr wrap="square" lIns="0" tIns="0" rIns="0" bIns="0" rtlCol="0" anchor="ctr"/>
          <a:lstStyle/>
          <a:p>
            <a:pPr algn="ctr" indent="0" marL="0">
              <a:buNone/>
            </a:pPr>
            <a:r>
              <a:rPr lang="en-US" sz="750" b="1" dirty="0">
                <a:solidFill>
                  <a:schemeClr val="tx2"/>
                </a:solidFill>
              </a:rPr>
              <a:t>W4</a:t>
            </a:r>
            <a:endParaRPr lang="en-US" sz="750" dirty="0"/>
          </a:p>
        </p:txBody>
      </p:sp>
      <p:sp>
        <p:nvSpPr>
          <p:cNvPr id="438" name="Text 438"/>
          <p:cNvSpPr txBox="1"/>
          <p:nvPr/>
        </p:nvSpPr>
        <p:spPr>
          <a:xfrm>
            <a:off x="10405872" y="2194560"/>
            <a:ext cx="1234440" cy="256032"/>
          </a:xfrm>
          <a:prstGeom prst="rect">
            <a:avLst/>
          </a:prstGeom>
          <a:noFill/>
          <a:ln>
            <a:noFill/>
          </a:ln>
        </p:spPr>
        <p:txBody>
          <a:bodyPr wrap="square" lIns="0" tIns="0" rIns="0" bIns="0" rtlCol="0" anchor="ctr"/>
          <a:lstStyle/>
          <a:p>
            <a:pPr algn="l" indent="0" marL="0">
              <a:buNone/>
            </a:pPr>
            <a:r>
              <a:rPr lang="en-US" sz="950" b="1" dirty="0">
                <a:solidFill>
                  <a:schemeClr val="tx2"/>
                </a:solidFill>
              </a:rPr>
              <a:t>Informs</a:t>
            </a:r>
            <a:endParaRPr lang="en-US" sz="950" dirty="0"/>
          </a:p>
        </p:txBody>
      </p:sp>
      <p:sp>
        <p:nvSpPr>
          <p:cNvPr id="439" name="Line 439"/>
          <p:cNvSpPr/>
          <p:nvPr/>
        </p:nvSpPr>
        <p:spPr>
          <a:xfrm>
            <a:off x="4069080" y="2514600"/>
            <a:ext cx="7571232" cy="0"/>
          </a:xfrm>
          <a:prstGeom prst="line">
            <a:avLst/>
          </a:prstGeom>
          <a:noFill/>
          <a:ln w="12700">
            <a:solidFill>
              <a:schemeClr val="accent6"/>
            </a:solidFill>
          </a:ln>
        </p:spPr>
      </p:sp>
      <p:sp>
        <p:nvSpPr>
          <p:cNvPr id="440" name="Circle 440"/>
          <p:cNvSpPr txBox="1"/>
          <p:nvPr/>
        </p:nvSpPr>
        <p:spPr>
          <a:xfrm>
            <a:off x="4069080" y="2697480"/>
            <a:ext cx="365760" cy="365760"/>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441" name="Text 441"/>
          <p:cNvSpPr txBox="1"/>
          <p:nvPr/>
        </p:nvSpPr>
        <p:spPr>
          <a:xfrm>
            <a:off x="4553712" y="2551176"/>
            <a:ext cx="2788920" cy="658368"/>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Identify</a:t>
            </a:r>
            <a:r>
              <a:rPr lang="en-US" sz="1050" dirty="0">
                <a:solidFill>
                  <a:schemeClr val="tx1"/>
                </a:solidFill>
              </a:rPr>
              <a:t> the physical and aesthetic attributes that determine how a car's condition is valued.</a:t>
            </a:r>
            <a:endParaRPr lang="en-US" sz="1050" dirty="0"/>
          </a:p>
        </p:txBody>
      </p:sp>
      <p:sp>
        <p:nvSpPr>
          <p:cNvPr id="442" name="Pill 442"/>
          <p:cNvSpPr txBox="1"/>
          <p:nvPr/>
        </p:nvSpPr>
        <p:spPr>
          <a:xfrm>
            <a:off x="7406640" y="2715768"/>
            <a:ext cx="1389888" cy="329184"/>
          </a:xfrm>
          <a:prstGeom prst="roundRect">
            <a:avLst>
              <a:gd name="adj" fmla="val 50000"/>
            </a:avLst>
          </a:prstGeom>
          <a:solidFill>
            <a:schemeClr val="bg1"/>
          </a:solidFill>
          <a:ln w="12700">
            <a:solidFill>
              <a:schemeClr val="tx1"/>
            </a:solidFill>
          </a:ln>
        </p:spPr>
        <p:txBody>
          <a:bodyPr wrap="square" lIns="36576" tIns="0" rIns="36576" bIns="0" rtlCol="0" anchor="ctr"/>
          <a:lstStyle/>
          <a:p>
            <a:pPr algn="ctr" indent="0" marL="0">
              <a:buNone/>
            </a:pPr>
            <a:r>
              <a:rPr lang="en-US" sz="850" dirty="0">
                <a:solidFill>
                  <a:schemeClr val="tx1"/>
                </a:solidFill>
              </a:rPr>
              <a:t>Physical &amp; aesthetic</a:t>
            </a:r>
            <a:endParaRPr lang="en-US" sz="850" dirty="0"/>
          </a:p>
        </p:txBody>
      </p:sp>
      <p:sp>
        <p:nvSpPr>
          <p:cNvPr id="443" name="Shape 443"/>
          <p:cNvSpPr/>
          <p:nvPr/>
        </p:nvSpPr>
        <p:spPr>
          <a:xfrm>
            <a:off x="8869680" y="2761488"/>
            <a:ext cx="320040" cy="237744"/>
          </a:xfrm>
          <a:prstGeom prst="roundRect">
            <a:avLst>
              <a:gd name="adj" fmla="val 30000"/>
            </a:avLst>
          </a:prstGeom>
          <a:solidFill>
            <a:schemeClr val="accent2"/>
          </a:solidFill>
          <a:ln>
            <a:noFill/>
          </a:ln>
        </p:spPr>
      </p:sp>
      <p:sp>
        <p:nvSpPr>
          <p:cNvPr id="444" name="Shape 444"/>
          <p:cNvSpPr/>
          <p:nvPr/>
        </p:nvSpPr>
        <p:spPr>
          <a:xfrm>
            <a:off x="9235440" y="2761488"/>
            <a:ext cx="320040" cy="237744"/>
          </a:xfrm>
          <a:prstGeom prst="roundRect">
            <a:avLst>
              <a:gd name="adj" fmla="val 30000"/>
            </a:avLst>
          </a:prstGeom>
          <a:solidFill>
            <a:schemeClr val="accent5"/>
          </a:solidFill>
          <a:ln>
            <a:noFill/>
          </a:ln>
        </p:spPr>
      </p:sp>
      <p:sp>
        <p:nvSpPr>
          <p:cNvPr id="445" name="Shape 445"/>
          <p:cNvSpPr/>
          <p:nvPr/>
        </p:nvSpPr>
        <p:spPr>
          <a:xfrm>
            <a:off x="9601200" y="2761488"/>
            <a:ext cx="320040" cy="237744"/>
          </a:xfrm>
          <a:prstGeom prst="roundRect">
            <a:avLst>
              <a:gd name="adj" fmla="val 30000"/>
            </a:avLst>
          </a:prstGeom>
          <a:solidFill>
            <a:schemeClr val="accent1"/>
          </a:solidFill>
          <a:ln>
            <a:noFill/>
          </a:ln>
        </p:spPr>
      </p:sp>
      <p:sp>
        <p:nvSpPr>
          <p:cNvPr id="446" name="Shape 446"/>
          <p:cNvSpPr/>
          <p:nvPr/>
        </p:nvSpPr>
        <p:spPr>
          <a:xfrm>
            <a:off x="9966960" y="2761488"/>
            <a:ext cx="320040" cy="237744"/>
          </a:xfrm>
          <a:prstGeom prst="roundRect">
            <a:avLst>
              <a:gd name="adj" fmla="val 30000"/>
            </a:avLst>
          </a:prstGeom>
          <a:solidFill>
            <a:schemeClr val="accent1"/>
          </a:solidFill>
          <a:ln>
            <a:noFill/>
          </a:ln>
        </p:spPr>
      </p:sp>
      <p:sp>
        <p:nvSpPr>
          <p:cNvPr id="447" name="Text 447"/>
          <p:cNvSpPr txBox="1"/>
          <p:nvPr/>
        </p:nvSpPr>
        <p:spPr>
          <a:xfrm>
            <a:off x="10405872" y="2514600"/>
            <a:ext cx="1234440" cy="731520"/>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Damage classes in the app</a:t>
            </a:r>
            <a:endParaRPr lang="en-US" sz="1050" dirty="0"/>
          </a:p>
        </p:txBody>
      </p:sp>
      <p:sp>
        <p:nvSpPr>
          <p:cNvPr id="448" name="Line 448"/>
          <p:cNvSpPr/>
          <p:nvPr/>
        </p:nvSpPr>
        <p:spPr>
          <a:xfrm>
            <a:off x="4069080" y="3246120"/>
            <a:ext cx="7571232" cy="0"/>
          </a:xfrm>
          <a:prstGeom prst="line">
            <a:avLst/>
          </a:prstGeom>
          <a:noFill/>
          <a:ln w="12700">
            <a:solidFill>
              <a:schemeClr val="accent6"/>
            </a:solidFill>
          </a:ln>
        </p:spPr>
      </p:sp>
      <p:sp>
        <p:nvSpPr>
          <p:cNvPr id="449" name="Circle 449"/>
          <p:cNvSpPr txBox="1"/>
          <p:nvPr/>
        </p:nvSpPr>
        <p:spPr>
          <a:xfrm>
            <a:off x="4069080" y="3429000"/>
            <a:ext cx="365760" cy="365760"/>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450" name="Text 450"/>
          <p:cNvSpPr txBox="1"/>
          <p:nvPr/>
        </p:nvSpPr>
        <p:spPr>
          <a:xfrm>
            <a:off x="4553712" y="3282696"/>
            <a:ext cx="2788920" cy="658368"/>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Analyze</a:t>
            </a:r>
            <a:r>
              <a:rPr lang="en-US" sz="1050" dirty="0">
                <a:solidFill>
                  <a:schemeClr val="tx1"/>
                </a:solidFill>
              </a:rPr>
              <a:t> how anticipating reconditioning costs affects how the purchase offer is set.</a:t>
            </a:r>
            <a:endParaRPr lang="en-US" sz="1050" dirty="0"/>
          </a:p>
        </p:txBody>
      </p:sp>
      <p:sp>
        <p:nvSpPr>
          <p:cNvPr id="451" name="Pill 451"/>
          <p:cNvSpPr txBox="1"/>
          <p:nvPr/>
        </p:nvSpPr>
        <p:spPr>
          <a:xfrm>
            <a:off x="7406640" y="3447288"/>
            <a:ext cx="1389888" cy="329184"/>
          </a:xfrm>
          <a:prstGeom prst="roundRect">
            <a:avLst>
              <a:gd name="adj" fmla="val 50000"/>
            </a:avLst>
          </a:prstGeom>
          <a:solidFill>
            <a:schemeClr val="bg1"/>
          </a:solidFill>
          <a:ln w="12700">
            <a:solidFill>
              <a:schemeClr val="tx1"/>
            </a:solidFill>
          </a:ln>
        </p:spPr>
        <p:txBody>
          <a:bodyPr wrap="square" lIns="36576" tIns="0" rIns="36576" bIns="0" rtlCol="0" anchor="ctr"/>
          <a:lstStyle/>
          <a:p>
            <a:pPr algn="ctr" indent="0" marL="0">
              <a:buNone/>
            </a:pPr>
            <a:r>
              <a:rPr lang="en-US" sz="850" dirty="0">
                <a:solidFill>
                  <a:schemeClr val="tx1"/>
                </a:solidFill>
              </a:rPr>
              <a:t>Cost foresight</a:t>
            </a:r>
            <a:endParaRPr lang="en-US" sz="850" dirty="0"/>
          </a:p>
        </p:txBody>
      </p:sp>
      <p:sp>
        <p:nvSpPr>
          <p:cNvPr id="452" name="Shape 452"/>
          <p:cNvSpPr/>
          <p:nvPr/>
        </p:nvSpPr>
        <p:spPr>
          <a:xfrm>
            <a:off x="8869680" y="3493008"/>
            <a:ext cx="320040" cy="237744"/>
          </a:xfrm>
          <a:prstGeom prst="roundRect">
            <a:avLst>
              <a:gd name="adj" fmla="val 30000"/>
            </a:avLst>
          </a:prstGeom>
          <a:solidFill>
            <a:schemeClr val="accent2"/>
          </a:solidFill>
          <a:ln>
            <a:noFill/>
          </a:ln>
        </p:spPr>
      </p:sp>
      <p:sp>
        <p:nvSpPr>
          <p:cNvPr id="453" name="Shape 453"/>
          <p:cNvSpPr/>
          <p:nvPr/>
        </p:nvSpPr>
        <p:spPr>
          <a:xfrm>
            <a:off x="9235440" y="3493008"/>
            <a:ext cx="320040" cy="237744"/>
          </a:xfrm>
          <a:prstGeom prst="roundRect">
            <a:avLst>
              <a:gd name="adj" fmla="val 30000"/>
            </a:avLst>
          </a:prstGeom>
          <a:solidFill>
            <a:schemeClr val="accent5"/>
          </a:solidFill>
          <a:ln>
            <a:noFill/>
          </a:ln>
        </p:spPr>
      </p:sp>
      <p:sp>
        <p:nvSpPr>
          <p:cNvPr id="454" name="Shape 454"/>
          <p:cNvSpPr/>
          <p:nvPr/>
        </p:nvSpPr>
        <p:spPr>
          <a:xfrm>
            <a:off x="9601200" y="3493008"/>
            <a:ext cx="320040" cy="237744"/>
          </a:xfrm>
          <a:prstGeom prst="roundRect">
            <a:avLst>
              <a:gd name="adj" fmla="val 30000"/>
            </a:avLst>
          </a:prstGeom>
          <a:solidFill>
            <a:schemeClr val="accent1"/>
          </a:solidFill>
          <a:ln>
            <a:noFill/>
          </a:ln>
        </p:spPr>
      </p:sp>
      <p:sp>
        <p:nvSpPr>
          <p:cNvPr id="455" name="Shape 455"/>
          <p:cNvSpPr/>
          <p:nvPr/>
        </p:nvSpPr>
        <p:spPr>
          <a:xfrm>
            <a:off x="9966960" y="3493008"/>
            <a:ext cx="320040" cy="237744"/>
          </a:xfrm>
          <a:prstGeom prst="roundRect">
            <a:avLst>
              <a:gd name="adj" fmla="val 30000"/>
            </a:avLst>
          </a:prstGeom>
          <a:solidFill>
            <a:schemeClr val="accent1"/>
          </a:solidFill>
          <a:ln>
            <a:noFill/>
          </a:ln>
        </p:spPr>
      </p:sp>
      <p:sp>
        <p:nvSpPr>
          <p:cNvPr id="456" name="Text 456"/>
          <p:cNvSpPr txBox="1"/>
          <p:nvPr/>
        </p:nvSpPr>
        <p:spPr>
          <a:xfrm>
            <a:off x="10405872" y="3246120"/>
            <a:ext cx="1234440" cy="731520"/>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Offer rule and margin</a:t>
            </a:r>
            <a:endParaRPr lang="en-US" sz="1050" dirty="0"/>
          </a:p>
        </p:txBody>
      </p:sp>
      <p:sp>
        <p:nvSpPr>
          <p:cNvPr id="457" name="Line 457"/>
          <p:cNvSpPr/>
          <p:nvPr/>
        </p:nvSpPr>
        <p:spPr>
          <a:xfrm>
            <a:off x="4069080" y="3977640"/>
            <a:ext cx="7571232" cy="0"/>
          </a:xfrm>
          <a:prstGeom prst="line">
            <a:avLst/>
          </a:prstGeom>
          <a:noFill/>
          <a:ln w="12700">
            <a:solidFill>
              <a:schemeClr val="accent6"/>
            </a:solidFill>
          </a:ln>
        </p:spPr>
      </p:sp>
      <p:sp>
        <p:nvSpPr>
          <p:cNvPr id="458" name="Circle 458"/>
          <p:cNvSpPr txBox="1"/>
          <p:nvPr/>
        </p:nvSpPr>
        <p:spPr>
          <a:xfrm>
            <a:off x="4069080" y="4160520"/>
            <a:ext cx="365760" cy="365760"/>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459" name="Text 459"/>
          <p:cNvSpPr txBox="1"/>
          <p:nvPr/>
        </p:nvSpPr>
        <p:spPr>
          <a:xfrm>
            <a:off x="4553712" y="4014216"/>
            <a:ext cx="2788920" cy="658368"/>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Evaluate</a:t>
            </a:r>
            <a:r>
              <a:rPr lang="en-US" sz="1050" dirty="0">
                <a:solidFill>
                  <a:schemeClr val="tx1"/>
                </a:solidFill>
              </a:rPr>
              <a:t> the distrust barriers, resistance to automated diagnosis and technical uncertainty that shape transactions.</a:t>
            </a:r>
            <a:endParaRPr lang="en-US" sz="1050" dirty="0"/>
          </a:p>
        </p:txBody>
      </p:sp>
      <p:sp>
        <p:nvSpPr>
          <p:cNvPr id="460" name="Pill 460"/>
          <p:cNvSpPr txBox="1"/>
          <p:nvPr/>
        </p:nvSpPr>
        <p:spPr>
          <a:xfrm>
            <a:off x="7406640" y="4178808"/>
            <a:ext cx="1389888" cy="329184"/>
          </a:xfrm>
          <a:prstGeom prst="roundRect">
            <a:avLst>
              <a:gd name="adj" fmla="val 50000"/>
            </a:avLst>
          </a:prstGeom>
          <a:solidFill>
            <a:schemeClr val="bg1"/>
          </a:solidFill>
          <a:ln w="12700">
            <a:solidFill>
              <a:schemeClr val="tx1"/>
            </a:solidFill>
          </a:ln>
        </p:spPr>
        <p:txBody>
          <a:bodyPr wrap="square" lIns="36576" tIns="0" rIns="36576" bIns="0" rtlCol="0" anchor="ctr"/>
          <a:lstStyle/>
          <a:p>
            <a:pPr algn="ctr" indent="0" marL="0">
              <a:buNone/>
            </a:pPr>
            <a:r>
              <a:rPr lang="en-US" sz="850" dirty="0">
                <a:solidFill>
                  <a:schemeClr val="tx1"/>
                </a:solidFill>
              </a:rPr>
              <a:t>Adoption barriers</a:t>
            </a:r>
            <a:endParaRPr lang="en-US" sz="850" dirty="0"/>
          </a:p>
        </p:txBody>
      </p:sp>
      <p:sp>
        <p:nvSpPr>
          <p:cNvPr id="461" name="Shape 461"/>
          <p:cNvSpPr/>
          <p:nvPr/>
        </p:nvSpPr>
        <p:spPr>
          <a:xfrm>
            <a:off x="8869680" y="4224528"/>
            <a:ext cx="320040" cy="237744"/>
          </a:xfrm>
          <a:prstGeom prst="roundRect">
            <a:avLst>
              <a:gd name="adj" fmla="val 30000"/>
            </a:avLst>
          </a:prstGeom>
          <a:solidFill>
            <a:schemeClr val="accent2"/>
          </a:solidFill>
          <a:ln>
            <a:noFill/>
          </a:ln>
        </p:spPr>
      </p:sp>
      <p:sp>
        <p:nvSpPr>
          <p:cNvPr id="462" name="Shape 462"/>
          <p:cNvSpPr/>
          <p:nvPr/>
        </p:nvSpPr>
        <p:spPr>
          <a:xfrm>
            <a:off x="9235440" y="4224528"/>
            <a:ext cx="320040" cy="237744"/>
          </a:xfrm>
          <a:prstGeom prst="roundRect">
            <a:avLst>
              <a:gd name="adj" fmla="val 30000"/>
            </a:avLst>
          </a:prstGeom>
          <a:solidFill>
            <a:schemeClr val="accent5"/>
          </a:solidFill>
          <a:ln>
            <a:noFill/>
          </a:ln>
        </p:spPr>
      </p:sp>
      <p:sp>
        <p:nvSpPr>
          <p:cNvPr id="463" name="Shape 463"/>
          <p:cNvSpPr/>
          <p:nvPr/>
        </p:nvSpPr>
        <p:spPr>
          <a:xfrm>
            <a:off x="9601200" y="4224528"/>
            <a:ext cx="320040" cy="237744"/>
          </a:xfrm>
          <a:prstGeom prst="roundRect">
            <a:avLst>
              <a:gd name="adj" fmla="val 30000"/>
            </a:avLst>
          </a:prstGeom>
          <a:solidFill>
            <a:schemeClr val="accent1"/>
          </a:solidFill>
          <a:ln>
            <a:noFill/>
          </a:ln>
        </p:spPr>
      </p:sp>
      <p:sp>
        <p:nvSpPr>
          <p:cNvPr id="464" name="Shape 464"/>
          <p:cNvSpPr/>
          <p:nvPr/>
        </p:nvSpPr>
        <p:spPr>
          <a:xfrm>
            <a:off x="9966960" y="4224528"/>
            <a:ext cx="320040" cy="237744"/>
          </a:xfrm>
          <a:prstGeom prst="roundRect">
            <a:avLst>
              <a:gd name="adj" fmla="val 30000"/>
            </a:avLst>
          </a:prstGeom>
          <a:solidFill>
            <a:schemeClr val="accent1"/>
          </a:solidFill>
          <a:ln>
            <a:noFill/>
          </a:ln>
        </p:spPr>
      </p:sp>
      <p:sp>
        <p:nvSpPr>
          <p:cNvPr id="465" name="Text 465"/>
          <p:cNvSpPr txBox="1"/>
          <p:nvPr/>
        </p:nvSpPr>
        <p:spPr>
          <a:xfrm>
            <a:off x="10405872" y="3977640"/>
            <a:ext cx="1234440" cy="731520"/>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How the report explains itself</a:t>
            </a:r>
            <a:endParaRPr lang="en-US" sz="1050" dirty="0"/>
          </a:p>
        </p:txBody>
      </p:sp>
      <p:sp>
        <p:nvSpPr>
          <p:cNvPr id="466" name="Line 466"/>
          <p:cNvSpPr/>
          <p:nvPr/>
        </p:nvSpPr>
        <p:spPr>
          <a:xfrm>
            <a:off x="4069080" y="4709160"/>
            <a:ext cx="7571232" cy="0"/>
          </a:xfrm>
          <a:prstGeom prst="line">
            <a:avLst/>
          </a:prstGeom>
          <a:noFill/>
          <a:ln w="12700">
            <a:solidFill>
              <a:schemeClr val="accent6"/>
            </a:solidFill>
          </a:ln>
        </p:spPr>
      </p:sp>
      <p:sp>
        <p:nvSpPr>
          <p:cNvPr id="467" name="Circle 467"/>
          <p:cNvSpPr txBox="1"/>
          <p:nvPr/>
        </p:nvSpPr>
        <p:spPr>
          <a:xfrm>
            <a:off x="4069080" y="4892040"/>
            <a:ext cx="365760" cy="365760"/>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468" name="Text 468"/>
          <p:cNvSpPr txBox="1"/>
          <p:nvPr/>
        </p:nvSpPr>
        <p:spPr>
          <a:xfrm>
            <a:off x="4553712" y="4745736"/>
            <a:ext cx="2788920" cy="658368"/>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Describe</a:t>
            </a:r>
            <a:r>
              <a:rPr lang="en-US" sz="1050" dirty="0">
                <a:solidFill>
                  <a:schemeClr val="tx1"/>
                </a:solidFill>
              </a:rPr>
              <a:t> the operating experience and time bottlenecks of conventional exterior inspection and repair costing.</a:t>
            </a:r>
            <a:endParaRPr lang="en-US" sz="1050" dirty="0"/>
          </a:p>
        </p:txBody>
      </p:sp>
      <p:sp>
        <p:nvSpPr>
          <p:cNvPr id="469" name="Pill 469"/>
          <p:cNvSpPr txBox="1"/>
          <p:nvPr/>
        </p:nvSpPr>
        <p:spPr>
          <a:xfrm>
            <a:off x="7406640" y="4910328"/>
            <a:ext cx="1389888" cy="329184"/>
          </a:xfrm>
          <a:prstGeom prst="roundRect">
            <a:avLst>
              <a:gd name="adj" fmla="val 50000"/>
            </a:avLst>
          </a:prstGeom>
          <a:solidFill>
            <a:schemeClr val="bg1"/>
          </a:solidFill>
          <a:ln w="12700">
            <a:solidFill>
              <a:schemeClr val="tx1"/>
            </a:solidFill>
          </a:ln>
        </p:spPr>
        <p:txBody>
          <a:bodyPr wrap="square" lIns="36576" tIns="0" rIns="36576" bIns="0" rtlCol="0" anchor="ctr"/>
          <a:lstStyle/>
          <a:p>
            <a:pPr algn="ctr" indent="0" marL="0">
              <a:buNone/>
            </a:pPr>
            <a:r>
              <a:rPr lang="en-US" sz="850" dirty="0">
                <a:solidFill>
                  <a:schemeClr val="tx1"/>
                </a:solidFill>
              </a:rPr>
              <a:t>Workshop experience</a:t>
            </a:r>
            <a:endParaRPr lang="en-US" sz="850" dirty="0"/>
          </a:p>
        </p:txBody>
      </p:sp>
      <p:sp>
        <p:nvSpPr>
          <p:cNvPr id="470" name="Shape 470"/>
          <p:cNvSpPr/>
          <p:nvPr/>
        </p:nvSpPr>
        <p:spPr>
          <a:xfrm>
            <a:off x="8869680" y="4956048"/>
            <a:ext cx="320040" cy="237744"/>
          </a:xfrm>
          <a:prstGeom prst="roundRect">
            <a:avLst>
              <a:gd name="adj" fmla="val 30000"/>
            </a:avLst>
          </a:prstGeom>
          <a:solidFill>
            <a:schemeClr val="accent2"/>
          </a:solidFill>
          <a:ln>
            <a:noFill/>
          </a:ln>
        </p:spPr>
      </p:sp>
      <p:sp>
        <p:nvSpPr>
          <p:cNvPr id="471" name="Shape 471"/>
          <p:cNvSpPr/>
          <p:nvPr/>
        </p:nvSpPr>
        <p:spPr>
          <a:xfrm>
            <a:off x="9235440" y="4956048"/>
            <a:ext cx="320040" cy="237744"/>
          </a:xfrm>
          <a:prstGeom prst="roundRect">
            <a:avLst>
              <a:gd name="adj" fmla="val 30000"/>
            </a:avLst>
          </a:prstGeom>
          <a:solidFill>
            <a:schemeClr val="accent5"/>
          </a:solidFill>
          <a:ln>
            <a:noFill/>
          </a:ln>
        </p:spPr>
      </p:sp>
      <p:sp>
        <p:nvSpPr>
          <p:cNvPr id="472" name="Shape 472"/>
          <p:cNvSpPr/>
          <p:nvPr/>
        </p:nvSpPr>
        <p:spPr>
          <a:xfrm>
            <a:off x="9601200" y="4956048"/>
            <a:ext cx="320040" cy="237744"/>
          </a:xfrm>
          <a:prstGeom prst="roundRect">
            <a:avLst>
              <a:gd name="adj" fmla="val 30000"/>
            </a:avLst>
          </a:prstGeom>
          <a:solidFill>
            <a:schemeClr val="accent1"/>
          </a:solidFill>
          <a:ln>
            <a:noFill/>
          </a:ln>
        </p:spPr>
      </p:sp>
      <p:sp>
        <p:nvSpPr>
          <p:cNvPr id="473" name="Shape 473"/>
          <p:cNvSpPr/>
          <p:nvPr/>
        </p:nvSpPr>
        <p:spPr>
          <a:xfrm>
            <a:off x="9966960" y="4956048"/>
            <a:ext cx="320040" cy="237744"/>
          </a:xfrm>
          <a:prstGeom prst="roundRect">
            <a:avLst>
              <a:gd name="adj" fmla="val 30000"/>
            </a:avLst>
          </a:prstGeom>
          <a:solidFill>
            <a:schemeClr val="accent1"/>
          </a:solidFill>
          <a:ln>
            <a:noFill/>
          </a:ln>
        </p:spPr>
      </p:sp>
      <p:sp>
        <p:nvSpPr>
          <p:cNvPr id="474" name="Text 474"/>
          <p:cNvSpPr txBox="1"/>
          <p:nvPr/>
        </p:nvSpPr>
        <p:spPr>
          <a:xfrm>
            <a:off x="10405872" y="4709160"/>
            <a:ext cx="1234440" cy="731520"/>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App flow and timing</a:t>
            </a:r>
            <a:endParaRPr lang="en-US" sz="1050" dirty="0"/>
          </a:p>
        </p:txBody>
      </p:sp>
      <p:sp>
        <p:nvSpPr>
          <p:cNvPr id="475" name="Line 475"/>
          <p:cNvSpPr/>
          <p:nvPr/>
        </p:nvSpPr>
        <p:spPr>
          <a:xfrm>
            <a:off x="4069080" y="5440680"/>
            <a:ext cx="7571232" cy="0"/>
          </a:xfrm>
          <a:prstGeom prst="line">
            <a:avLst/>
          </a:prstGeom>
          <a:noFill/>
          <a:ln w="12700">
            <a:solidFill>
              <a:schemeClr val="accent6"/>
            </a:solidFill>
          </a:ln>
        </p:spPr>
      </p:sp>
      <p:sp>
        <p:nvSpPr>
          <p:cNvPr id="476" name="Circle 476"/>
          <p:cNvSpPr txBox="1"/>
          <p:nvPr/>
        </p:nvSpPr>
        <p:spPr>
          <a:xfrm>
            <a:off x="4069080" y="5623560"/>
            <a:ext cx="365760" cy="365760"/>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77" name="Text 477"/>
          <p:cNvSpPr txBox="1"/>
          <p:nvPr/>
        </p:nvSpPr>
        <p:spPr>
          <a:xfrm>
            <a:off x="4553712" y="5477256"/>
            <a:ext cx="2788920" cy="658368"/>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Evaluate</a:t>
            </a:r>
            <a:r>
              <a:rPr lang="en-US" sz="1050" dirty="0">
                <a:solidFill>
                  <a:schemeClr val="tx1"/>
                </a:solidFill>
              </a:rPr>
              <a:t> the perceived appeal, differentiation and adoption intent of a digital condition report vs. traditional appraisal.</a:t>
            </a:r>
            <a:endParaRPr lang="en-US" sz="1050" dirty="0"/>
          </a:p>
        </p:txBody>
      </p:sp>
      <p:sp>
        <p:nvSpPr>
          <p:cNvPr id="478" name="Pill 478"/>
          <p:cNvSpPr txBox="1"/>
          <p:nvPr/>
        </p:nvSpPr>
        <p:spPr>
          <a:xfrm>
            <a:off x="7406640" y="5641848"/>
            <a:ext cx="1389888" cy="329184"/>
          </a:xfrm>
          <a:prstGeom prst="roundRect">
            <a:avLst>
              <a:gd name="adj" fmla="val 50000"/>
            </a:avLst>
          </a:prstGeom>
          <a:solidFill>
            <a:schemeClr val="bg1"/>
          </a:solidFill>
          <a:ln w="12700">
            <a:solidFill>
              <a:schemeClr val="tx1"/>
            </a:solidFill>
          </a:ln>
        </p:spPr>
        <p:txBody>
          <a:bodyPr wrap="square" lIns="36576" tIns="0" rIns="36576" bIns="0" rtlCol="0" anchor="ctr"/>
          <a:lstStyle/>
          <a:p>
            <a:pPr algn="ctr" indent="0" marL="0">
              <a:buNone/>
            </a:pPr>
            <a:r>
              <a:rPr lang="en-US" sz="850" dirty="0">
                <a:solidFill>
                  <a:schemeClr val="tx1"/>
                </a:solidFill>
              </a:rPr>
              <a:t>Appeal and adoption</a:t>
            </a:r>
            <a:endParaRPr lang="en-US" sz="850" dirty="0"/>
          </a:p>
        </p:txBody>
      </p:sp>
      <p:sp>
        <p:nvSpPr>
          <p:cNvPr id="479" name="Shape 479"/>
          <p:cNvSpPr/>
          <p:nvPr/>
        </p:nvSpPr>
        <p:spPr>
          <a:xfrm>
            <a:off x="8869680" y="5687568"/>
            <a:ext cx="320040" cy="237744"/>
          </a:xfrm>
          <a:prstGeom prst="roundRect">
            <a:avLst>
              <a:gd name="adj" fmla="val 30000"/>
            </a:avLst>
          </a:prstGeom>
          <a:solidFill>
            <a:schemeClr val="accent2"/>
          </a:solidFill>
          <a:ln>
            <a:noFill/>
          </a:ln>
        </p:spPr>
      </p:sp>
      <p:sp>
        <p:nvSpPr>
          <p:cNvPr id="480" name="Shape 480"/>
          <p:cNvSpPr/>
          <p:nvPr/>
        </p:nvSpPr>
        <p:spPr>
          <a:xfrm>
            <a:off x="9235440" y="5687568"/>
            <a:ext cx="320040" cy="237744"/>
          </a:xfrm>
          <a:prstGeom prst="roundRect">
            <a:avLst>
              <a:gd name="adj" fmla="val 30000"/>
            </a:avLst>
          </a:prstGeom>
          <a:solidFill>
            <a:schemeClr val="accent5"/>
          </a:solidFill>
          <a:ln>
            <a:noFill/>
          </a:ln>
        </p:spPr>
      </p:sp>
      <p:sp>
        <p:nvSpPr>
          <p:cNvPr id="481" name="Shape 481"/>
          <p:cNvSpPr/>
          <p:nvPr/>
        </p:nvSpPr>
        <p:spPr>
          <a:xfrm>
            <a:off x="9601200" y="5687568"/>
            <a:ext cx="320040" cy="237744"/>
          </a:xfrm>
          <a:prstGeom prst="roundRect">
            <a:avLst>
              <a:gd name="adj" fmla="val 30000"/>
            </a:avLst>
          </a:prstGeom>
          <a:solidFill>
            <a:schemeClr val="accent1"/>
          </a:solidFill>
          <a:ln>
            <a:noFill/>
          </a:ln>
        </p:spPr>
      </p:sp>
      <p:sp>
        <p:nvSpPr>
          <p:cNvPr id="482" name="Shape 482"/>
          <p:cNvSpPr/>
          <p:nvPr/>
        </p:nvSpPr>
        <p:spPr>
          <a:xfrm>
            <a:off x="9966960" y="5687568"/>
            <a:ext cx="320040" cy="237744"/>
          </a:xfrm>
          <a:prstGeom prst="roundRect">
            <a:avLst>
              <a:gd name="adj" fmla="val 30000"/>
            </a:avLst>
          </a:prstGeom>
          <a:solidFill>
            <a:schemeClr val="accent1"/>
          </a:solidFill>
          <a:ln>
            <a:noFill/>
          </a:ln>
        </p:spPr>
      </p:sp>
      <p:sp>
        <p:nvSpPr>
          <p:cNvPr id="483" name="Text 483"/>
          <p:cNvSpPr txBox="1"/>
          <p:nvPr/>
        </p:nvSpPr>
        <p:spPr>
          <a:xfrm>
            <a:off x="10405872" y="5440680"/>
            <a:ext cx="1234440" cy="731520"/>
          </a:xfrm>
          <a:prstGeom prst="rect">
            <a:avLst/>
          </a:prstGeom>
          <a:noFill/>
          <a:ln>
            <a:noFill/>
          </a:ln>
        </p:spPr>
        <p:txBody>
          <a:bodyPr wrap="square" lIns="0" tIns="0" rIns="0" bIns="0" rtlCol="0" anchor="ctr"/>
          <a:lstStyle/>
          <a:p>
            <a:pPr algn="l" indent="0" marL="0">
              <a:lnSpc>
                <a:spcPct val="92000"/>
              </a:lnSpc>
              <a:buNone/>
            </a:pPr>
            <a:r>
              <a:rPr lang="en-US" sz="1050" b="1" dirty="0">
                <a:solidFill>
                  <a:schemeClr val="accent1"/>
                </a:solidFill>
              </a:rPr>
              <a:t>B2B and B2C prices</a:t>
            </a:r>
            <a:endParaRPr lang="en-US" sz="1050" dirty="0"/>
          </a:p>
        </p:txBody>
      </p:sp>
      <p:sp>
        <p:nvSpPr>
          <p:cNvPr id="484" name="Line 484"/>
          <p:cNvSpPr/>
          <p:nvPr/>
        </p:nvSpPr>
        <p:spPr>
          <a:xfrm>
            <a:off x="4069080" y="6172200"/>
            <a:ext cx="7571232" cy="0"/>
          </a:xfrm>
          <a:prstGeom prst="line">
            <a:avLst/>
          </a:prstGeom>
          <a:noFill/>
          <a:ln w="12700">
            <a:solidFill>
              <a:schemeClr val="accent6"/>
            </a:solidFill>
          </a:ln>
        </p:spPr>
      </p:sp>
      <p:sp>
        <p:nvSpPr>
          <p:cNvPr id="39"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r>
              <a:rPr lang="en-US"/>
              <a:t>5</a:t>
            </a: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bg1"/>
                </a:solidFill>
              </a:rPr>
              <a:t>Listen first, then measure</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accent5"/>
                </a:solidFill>
              </a:rPr>
              <a:t>A mixed, sequential design: what we hear in stage 1 becomes the questions and scales of stage 2.</a:t>
            </a:r>
            <a:endParaRPr lang="en-US" sz="1500" dirty="0"/>
          </a:p>
        </p:txBody>
      </p:sp>
      <p:sp>
        <p:nvSpPr>
          <p:cNvPr id="4" name="Text 2"/>
          <p:cNvSpPr txBox="1"/>
          <p:nvPr/>
        </p:nvSpPr>
        <p:spPr>
          <a:xfrm>
            <a:off x="548640" y="2660904"/>
            <a:ext cx="4206240" cy="2560320"/>
          </a:xfrm>
          <a:prstGeom prst="roundRect">
            <a:avLst>
              <a:gd name="adj" fmla="val 10714"/>
            </a:avLst>
          </a:prstGeom>
          <a:solidFill>
            <a:schemeClr val="bg1"/>
          </a:solidFill>
          <a:ln/>
        </p:spPr>
        <p:txBody>
          <a:bodyPr wrap="square" lIns="292608" tIns="685800" rIns="292608" bIns="566928" rtlCol="0" anchor="t"/>
          <a:lstStyle/>
          <a:p>
            <a:pPr marL="0" indent="0">
              <a:spcAft>
                <a:spcPts val="400"/>
              </a:spcAft>
              <a:buNone/>
            </a:pPr>
            <a:r>
              <a:rPr lang="en-US" sz="1900" b="1" dirty="0">
                <a:solidFill>
                  <a:schemeClr val="tx1"/>
                </a:solidFill>
              </a:rPr>
              <a:t>Qualitative, to explore</a:t>
            </a:r>
            <a:endParaRPr lang="en-US" sz="1150" dirty="0"/>
          </a:p>
          <a:p>
            <a:pPr marL="0" indent="0">
              <a:spcAft>
                <a:spcPts val="800"/>
              </a:spcAft>
              <a:buNone/>
            </a:pPr>
            <a:r>
              <a:rPr lang="en-US" sz="1050" b="1" dirty="0">
                <a:solidFill>
                  <a:schemeClr val="accent1"/>
                </a:solidFill>
              </a:rPr>
              <a:t>In-depth interviews (B2B) · Focus groups (B2C)</a:t>
            </a:r>
            <a:endParaRPr lang="en-US" sz="1150" dirty="0"/>
          </a:p>
          <a:p>
            <a:pPr marL="0" indent="0">
              <a:buNone/>
            </a:pPr>
            <a:r>
              <a:rPr lang="en-US" sz="1150" dirty="0">
                <a:solidFill>
                  <a:schemeClr val="tx1"/>
                </a:solidFill>
              </a:rPr>
              <a:t>We learn the dealers' words, their rules of thumb for pricing, and what makes them distrust.</a:t>
            </a:r>
            <a:endParaRPr lang="en-US" sz="1150" dirty="0"/>
          </a:p>
        </p:txBody>
      </p:sp>
      <p:sp>
        <p:nvSpPr>
          <p:cNvPr id="5" name="Text 3"/>
          <p:cNvSpPr txBox="1"/>
          <p:nvPr/>
        </p:nvSpPr>
        <p:spPr>
          <a:xfrm>
            <a:off x="841248" y="2916936"/>
            <a:ext cx="1051560" cy="329184"/>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tx1"/>
                </a:solidFill>
              </a:rPr>
              <a:t>Stage 1</a:t>
            </a:r>
            <a:endParaRPr lang="en-US" sz="1100" dirty="0"/>
          </a:p>
        </p:txBody>
      </p:sp>
      <p:sp>
        <p:nvSpPr>
          <p:cNvPr id="6" name="Text 4"/>
          <p:cNvSpPr txBox="1"/>
          <p:nvPr/>
        </p:nvSpPr>
        <p:spPr>
          <a:xfrm>
            <a:off x="841248" y="4718304"/>
            <a:ext cx="2926080" cy="310896"/>
          </a:xfrm>
          <a:prstGeom prst="roundRect">
            <a:avLst>
              <a:gd name="adj" fmla="val 50000"/>
            </a:avLst>
          </a:prstGeom>
          <a:ln w="12700">
            <a:solidFill>
              <a:schemeClr val="accent1"/>
            </a:solidFill>
          </a:ln>
        </p:spPr>
        <p:txBody>
          <a:bodyPr wrap="square" lIns="0" tIns="0" rIns="0" bIns="0" rtlCol="0" anchor="ctr"/>
          <a:lstStyle/>
          <a:p>
            <a:pPr algn="ctr" indent="0" marL="0">
              <a:buNone/>
            </a:pPr>
            <a:r>
              <a:rPr lang="en-US" sz="950" dirty="0">
                <a:solidFill>
                  <a:schemeClr val="accent1"/>
                </a:solidFill>
              </a:rPr>
              <a:t>Explores SO1–SO5: the words and reasons</a:t>
            </a:r>
            <a:endParaRPr lang="en-US" sz="950" dirty="0"/>
          </a:p>
        </p:txBody>
      </p:sp>
      <p:sp>
        <p:nvSpPr>
          <p:cNvPr id="7" name="Text 5"/>
          <p:cNvSpPr txBox="1"/>
          <p:nvPr/>
        </p:nvSpPr>
        <p:spPr>
          <a:xfrm>
            <a:off x="5074920" y="2660904"/>
            <a:ext cx="2057400" cy="2560320"/>
          </a:xfrm>
          <a:prstGeom prst="roundRect">
            <a:avLst>
              <a:gd name="adj" fmla="val 13333"/>
            </a:avLst>
          </a:prstGeom>
          <a:solidFill>
            <a:schemeClr val="accent2"/>
          </a:solidFill>
          <a:ln/>
        </p:spPr>
        <p:txBody>
          <a:bodyPr wrap="square" lIns="256032" tIns="182880" rIns="228600" bIns="182880" rtlCol="0" anchor="ctr"/>
          <a:lstStyle/>
          <a:p>
            <a:pPr marL="0" indent="0">
              <a:spcAft>
                <a:spcPts val="600"/>
              </a:spcAft>
              <a:buNone/>
            </a:pPr>
            <a:r>
              <a:rPr lang="en-US" sz="1600" b="1" dirty="0">
                <a:solidFill>
                  <a:schemeClr val="tx1"/>
                </a:solidFill>
              </a:rPr>
              <a:t>Bridge</a:t>
            </a:r>
            <a:endParaRPr lang="en-US" sz="1200" dirty="0"/>
          </a:p>
          <a:p>
            <a:pPr marL="0" indent="0">
              <a:buNone/>
            </a:pPr>
            <a:r>
              <a:rPr lang="en-US" sz="1200" dirty="0">
                <a:solidFill>
                  <a:schemeClr val="tx1"/>
                </a:solidFill>
              </a:rPr>
              <a:t>Findings become variables, scales and closed answers.</a:t>
            </a:r>
            <a:endParaRPr lang="en-US" sz="1200" dirty="0"/>
          </a:p>
        </p:txBody>
      </p:sp>
      <p:sp>
        <p:nvSpPr>
          <p:cNvPr id="8" name="Text 6"/>
          <p:cNvSpPr txBox="1"/>
          <p:nvPr/>
        </p:nvSpPr>
        <p:spPr>
          <a:xfrm>
            <a:off x="7434072" y="2660904"/>
            <a:ext cx="4206240" cy="2560320"/>
          </a:xfrm>
          <a:prstGeom prst="roundRect">
            <a:avLst>
              <a:gd name="adj" fmla="val 10714"/>
            </a:avLst>
          </a:prstGeom>
          <a:solidFill>
            <a:schemeClr val="tx1"/>
          </a:solidFill>
          <a:ln/>
        </p:spPr>
        <p:txBody>
          <a:bodyPr wrap="square" lIns="292608" tIns="685800" rIns="292608" bIns="566928" rtlCol="0" anchor="t"/>
          <a:lstStyle/>
          <a:p>
            <a:pPr marL="0" indent="0">
              <a:spcAft>
                <a:spcPts val="400"/>
              </a:spcAft>
              <a:buNone/>
            </a:pPr>
            <a:r>
              <a:rPr lang="en-US" sz="1900" b="1" dirty="0">
                <a:solidFill>
                  <a:schemeClr val="bg1"/>
                </a:solidFill>
              </a:rPr>
              <a:t>Quantitative, to conclude</a:t>
            </a:r>
            <a:endParaRPr lang="en-US" sz="1150" dirty="0"/>
          </a:p>
          <a:p>
            <a:pPr marL="0" indent="0">
              <a:spcAft>
                <a:spcPts val="800"/>
              </a:spcAft>
              <a:buNone/>
            </a:pPr>
            <a:r>
              <a:rPr lang="en-US" sz="1050" b="1" dirty="0">
                <a:solidFill>
                  <a:schemeClr val="accent2"/>
                </a:solidFill>
              </a:rPr>
              <a:t>F2F + CATI (B2B) · CAWI + intercepts (B2C)</a:t>
            </a:r>
            <a:endParaRPr lang="en-US" sz="1150" dirty="0"/>
          </a:p>
          <a:p>
            <a:pPr marL="0" indent="0">
              <a:buNone/>
            </a:pPr>
            <a:r>
              <a:rPr lang="en-US" sz="1150" dirty="0">
                <a:solidFill>
                  <a:schemeClr val="accent5"/>
                </a:solidFill>
              </a:rPr>
              <a:t>We measure how common each view is, test our hypotheses, and estimate willingness to pay.</a:t>
            </a:r>
            <a:endParaRPr lang="en-US" sz="1150" dirty="0"/>
          </a:p>
        </p:txBody>
      </p:sp>
      <p:sp>
        <p:nvSpPr>
          <p:cNvPr id="9" name="Text 7"/>
          <p:cNvSpPr txBox="1"/>
          <p:nvPr/>
        </p:nvSpPr>
        <p:spPr>
          <a:xfrm>
            <a:off x="7726680" y="2916936"/>
            <a:ext cx="1051560" cy="329184"/>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tx1"/>
                </a:solidFill>
              </a:rPr>
              <a:t>Stage 2</a:t>
            </a:r>
            <a:endParaRPr lang="en-US" sz="1100" dirty="0"/>
          </a:p>
        </p:txBody>
      </p:sp>
      <p:sp>
        <p:nvSpPr>
          <p:cNvPr id="10" name="Text 8"/>
          <p:cNvSpPr txBox="1"/>
          <p:nvPr/>
        </p:nvSpPr>
        <p:spPr>
          <a:xfrm>
            <a:off x="7726680" y="4718304"/>
            <a:ext cx="3108960" cy="310896"/>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950" dirty="0">
                <a:solidFill>
                  <a:schemeClr val="bg1"/>
                </a:solidFill>
              </a:rPr>
              <a:t>Measures SO1–SO5: how common each view is</a:t>
            </a:r>
            <a:endParaRPr lang="en-US" sz="950" dirty="0"/>
          </a:p>
        </p:txBody>
      </p:sp>
      <p:sp>
        <p:nvSpPr>
          <p:cNvPr id="11" name="Text 9"/>
          <p:cNvSpPr txBox="1"/>
          <p:nvPr/>
        </p:nvSpPr>
        <p:spPr>
          <a:xfrm>
            <a:off x="4754880" y="3758184"/>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2" name="Text 10"/>
          <p:cNvSpPr txBox="1"/>
          <p:nvPr/>
        </p:nvSpPr>
        <p:spPr>
          <a:xfrm>
            <a:off x="7104888" y="3758184"/>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bg1"/>
                </a:solidFill>
              </a:defRPr>
            </a:lvl1pPr>
          </a:lstStyle>
          <a:p>
            <a:pPr algn="ctr"/>
            <a:fld id="{F7021451-1387-4CA6-816F-3879F97B5CBC}" type="slidenum">
              <a:rPr lang="en-US" b="0"/>
              <a:t>6</a:t>
            </a:fld>
            <a:endParaRPr lang="en-US"/>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2" name="Picture 21" descr="A person and person standing next to each other&#10;&#10;AI-generated content may be incorrect.">
            <a:extLst>
              <a:ext uri="{FF2B5EF4-FFF2-40B4-BE49-F238E27FC236}">
                <a16:creationId xmlns:a16="http://schemas.microsoft.com/office/drawing/2014/main" id="{F10A7472-0CB0-7713-6E6C-68E82B24CDDE}"/>
              </a:ext>
            </a:extLst>
          </p:cNvPr>
          <p:cNvPicPr>
            <a:picLocks noChangeAspect="1"/>
          </p:cNvPicPr>
          <p:nvPr/>
        </p:nvPicPr>
        <p:blipFill>
          <a:blip r:embed="rId4"/>
          <a:stretch>
            <a:fillRect/>
          </a:stretch>
        </p:blipFill>
        <p:spPr>
          <a:xfrm>
            <a:off x="553152" y="2084717"/>
            <a:ext cx="4055167" cy="4040038"/>
          </a:xfrm>
          <a:prstGeom prst="rect">
            <a:avLst/>
          </a:prstGeom>
        </p:spPr>
      </p:pic>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Qualitative: one technique per customer</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Interviews for what dealers keep private; groups for what buyers share. Each runs on its own guide.</a:t>
            </a:r>
            <a:endParaRPr lang="en-US" sz="1500" dirty="0"/>
          </a:p>
        </p:txBody>
      </p:sp>
      <p:sp>
        <p:nvSpPr>
          <p:cNvPr id="4"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pPr marL="0" indent="0" algn="l">
              <a:buNone/>
            </a:pPr>
            <a:r>
              <a:rPr lang="en-US" sz="850"/>
              <a:t>Sources: </a:t>
            </a:r>
            <a:r>
              <a:rPr lang="en-US" sz="850" err="1"/>
              <a:t>Melelli</a:t>
            </a:r>
            <a:r>
              <a:rPr lang="en-US" sz="850"/>
              <a:t> Viveros (2026). Photo: </a:t>
            </a:r>
            <a:r>
              <a:rPr lang="en-US"/>
              <a:t>Dani</a:t>
            </a:r>
            <a:r>
              <a:rPr lang="en-US" sz="850"/>
              <a:t>.</a:t>
            </a:r>
            <a:endParaRPr lang="en-US" sz="850" dirty="0"/>
          </a:p>
        </p:txBody>
      </p:sp>
      <p:sp>
        <p:nvSpPr>
          <p:cNvPr id="6" name="sparkle"/>
          <p:cNvSpPr/>
          <p:nvPr/>
        </p:nvSpPr>
        <p:spPr>
          <a:xfrm>
            <a:off x="4206240" y="1965960"/>
            <a:ext cx="548640" cy="548640"/>
          </a:xfrm>
          <a:prstGeom prst="star4">
            <a:avLst/>
          </a:prstGeom>
          <a:solidFill>
            <a:schemeClr val="accent2"/>
          </a:solidFill>
          <a:ln/>
        </p:spPr>
        <p:txBody>
          <a:bodyPr/>
          <a:lstStyle/>
          <a:p>
            <a:endParaRPr lang="es-CL"/>
          </a:p>
        </p:txBody>
      </p:sp>
      <p:sp>
        <p:nvSpPr>
          <p:cNvPr id="7" name="Text 4"/>
          <p:cNvSpPr txBox="1"/>
          <p:nvPr/>
        </p:nvSpPr>
        <p:spPr>
          <a:xfrm>
            <a:off x="4846320" y="2194560"/>
            <a:ext cx="6793992" cy="1920240"/>
          </a:xfrm>
          <a:prstGeom prst="roundRect">
            <a:avLst>
              <a:gd name="adj" fmla="val 14286"/>
            </a:avLst>
          </a:prstGeom>
          <a:solidFill>
            <a:schemeClr val="bg1"/>
          </a:solidFill>
          <a:ln/>
          <a:effectLst>
            <a:outerShdw blurRad="152400" dist="38100" dir="5400000" algn="bl" rotWithShape="0">
              <a:srgbClr val="12141C">
                <a:alpha val="13000"/>
              </a:srgbClr>
            </a:outerShdw>
          </a:effectLst>
        </p:spPr>
        <p:txBody>
          <a:bodyPr wrap="square" lIns="274320" tIns="256032" rIns="274320" bIns="228600" rtlCol="0" anchor="t"/>
          <a:lstStyle/>
          <a:p>
            <a:pPr marL="0" indent="0">
              <a:buNone/>
            </a:pPr>
            <a:endParaRPr lang="en-US" sz="1100" dirty="0"/>
          </a:p>
        </p:txBody>
      </p:sp>
      <p:sp>
        <p:nvSpPr>
          <p:cNvPr id="8" name="Text 5"/>
          <p:cNvSpPr txBox="1"/>
          <p:nvPr/>
        </p:nvSpPr>
        <p:spPr>
          <a:xfrm>
            <a:off x="5120640" y="2359152"/>
            <a:ext cx="5422392" cy="365760"/>
          </a:xfrm>
          <a:prstGeom prst="rect">
            <a:avLst/>
          </a:prstGeom>
          <a:noFill/>
          <a:ln/>
        </p:spPr>
        <p:txBody>
          <a:bodyPr wrap="square" lIns="0" tIns="0" rIns="0" bIns="0" rtlCol="0" anchor="ctr"/>
          <a:lstStyle/>
          <a:p>
            <a:pPr marL="0" indent="0">
              <a:buNone/>
            </a:pPr>
            <a:r>
              <a:rPr lang="en-US" sz="1600" b="1" dirty="0">
                <a:solidFill>
                  <a:schemeClr val="accent1"/>
                </a:solidFill>
              </a:rPr>
              <a:t>In-depth interviews, one-on-one</a:t>
            </a:r>
            <a:endParaRPr lang="en-US" sz="1600" dirty="0"/>
          </a:p>
        </p:txBody>
      </p:sp>
      <p:sp>
        <p:nvSpPr>
          <p:cNvPr id="9" name="Text 6"/>
          <p:cNvSpPr txBox="1"/>
          <p:nvPr/>
        </p:nvSpPr>
        <p:spPr>
          <a:xfrm>
            <a:off x="10680192" y="2377440"/>
            <a:ext cx="68580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B2B</a:t>
            </a:r>
            <a:endParaRPr lang="en-US" sz="1100" dirty="0"/>
          </a:p>
        </p:txBody>
      </p:sp>
      <p:sp>
        <p:nvSpPr>
          <p:cNvPr id="10" name="Text 7"/>
          <p:cNvSpPr txBox="1"/>
          <p:nvPr/>
        </p:nvSpPr>
        <p:spPr>
          <a:xfrm>
            <a:off x="5120640" y="2816352"/>
            <a:ext cx="172273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950" dirty="0">
                <a:solidFill>
                  <a:schemeClr val="tx1"/>
                </a:solidFill>
              </a:rPr>
              <a:t>Mid-size dealer owners</a:t>
            </a:r>
            <a:endParaRPr lang="en-US" sz="950" dirty="0"/>
          </a:p>
        </p:txBody>
      </p:sp>
      <p:sp>
        <p:nvSpPr>
          <p:cNvPr id="11" name="Text 8"/>
          <p:cNvSpPr txBox="1"/>
          <p:nvPr/>
        </p:nvSpPr>
        <p:spPr>
          <a:xfrm>
            <a:off x="6934810" y="2816352"/>
            <a:ext cx="932688"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950" dirty="0">
                <a:solidFill>
                  <a:schemeClr val="tx1"/>
                </a:solidFill>
              </a:rPr>
              <a:t>Appraisers</a:t>
            </a:r>
            <a:endParaRPr lang="en-US" sz="950" dirty="0"/>
          </a:p>
        </p:txBody>
      </p:sp>
      <p:sp>
        <p:nvSpPr>
          <p:cNvPr id="12" name="Text 9"/>
          <p:cNvSpPr txBox="1"/>
          <p:nvPr/>
        </p:nvSpPr>
        <p:spPr>
          <a:xfrm>
            <a:off x="7958938" y="2816352"/>
            <a:ext cx="801014"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950" dirty="0">
                <a:solidFill>
                  <a:schemeClr val="tx1"/>
                </a:solidFill>
              </a:rPr>
              <a:t>Flippers</a:t>
            </a:r>
            <a:endParaRPr lang="en-US" sz="950" dirty="0"/>
          </a:p>
        </p:txBody>
      </p:sp>
      <p:sp>
        <p:nvSpPr>
          <p:cNvPr id="13" name="Text 10"/>
          <p:cNvSpPr txBox="1"/>
          <p:nvPr/>
        </p:nvSpPr>
        <p:spPr>
          <a:xfrm>
            <a:off x="5120640" y="3182112"/>
            <a:ext cx="3154680" cy="512064"/>
          </a:xfrm>
          <a:prstGeom prst="rect">
            <a:avLst/>
          </a:prstGeom>
          <a:noFill/>
          <a:ln/>
        </p:spPr>
        <p:txBody>
          <a:bodyPr wrap="square" lIns="0" tIns="0" rIns="0" bIns="0" rtlCol="0" anchor="t"/>
          <a:lstStyle/>
          <a:p>
            <a:pPr marL="0" indent="0">
              <a:buNone/>
            </a:pPr>
            <a:r>
              <a:rPr lang="en-US" sz="1050" b="1" dirty="0">
                <a:solidFill>
                  <a:schemeClr val="tx1"/>
                </a:solidFill>
              </a:rPr>
              <a:t>Why it fits best</a:t>
            </a:r>
            <a:endParaRPr lang="en-US" sz="1050" dirty="0"/>
          </a:p>
          <a:p>
            <a:pPr marL="0" indent="0">
              <a:buNone/>
            </a:pPr>
            <a:r>
              <a:rPr lang="en-US" sz="1050" dirty="0">
                <a:solidFill>
                  <a:schemeClr val="tx2"/>
                </a:solidFill>
              </a:rPr>
              <a:t>Margins and workshop deals are trade secrets. Nobody shares them in front of competitors.</a:t>
            </a:r>
            <a:endParaRPr lang="en-US" sz="1050" dirty="0"/>
          </a:p>
        </p:txBody>
      </p:sp>
      <p:sp>
        <p:nvSpPr>
          <p:cNvPr id="14" name="Text 11"/>
          <p:cNvSpPr txBox="1"/>
          <p:nvPr/>
        </p:nvSpPr>
        <p:spPr>
          <a:xfrm>
            <a:off x="8458200" y="3182112"/>
            <a:ext cx="2926080" cy="512064"/>
          </a:xfrm>
          <a:prstGeom prst="rect">
            <a:avLst/>
          </a:prstGeom>
          <a:noFill/>
          <a:ln/>
        </p:spPr>
        <p:txBody>
          <a:bodyPr wrap="square" lIns="0" tIns="0" rIns="0" bIns="0" rtlCol="0" anchor="t"/>
          <a:lstStyle/>
          <a:p>
            <a:pPr marL="0" indent="0">
              <a:buNone/>
            </a:pPr>
            <a:r>
              <a:rPr lang="en-US" sz="1050" b="1" dirty="0">
                <a:solidFill>
                  <a:schemeClr val="tx1"/>
                </a:solidFill>
              </a:rPr>
              <a:t>What it gives us</a:t>
            </a:r>
            <a:endParaRPr lang="en-US" sz="1050" dirty="0"/>
          </a:p>
          <a:p>
            <a:pPr marL="0" indent="0">
              <a:buNone/>
            </a:pPr>
            <a:r>
              <a:rPr lang="en-US" sz="1050" dirty="0">
                <a:solidFill>
                  <a:schemeClr val="tx2"/>
                </a:solidFill>
              </a:rPr>
              <a:t>Hidden pricing rules, how far they trust AI, what fails in GoAuto or Rodar.</a:t>
            </a:r>
            <a:endParaRPr lang="en-US" sz="1050" dirty="0"/>
          </a:p>
        </p:txBody>
      </p:sp>
      <p:sp>
        <p:nvSpPr>
          <p:cNvPr id="15" name="Text 12"/>
          <p:cNvSpPr txBox="1"/>
          <p:nvPr/>
        </p:nvSpPr>
        <p:spPr>
          <a:xfrm>
            <a:off x="4846320" y="4251960"/>
            <a:ext cx="6793992" cy="1920240"/>
          </a:xfrm>
          <a:prstGeom prst="roundRect">
            <a:avLst>
              <a:gd name="adj" fmla="val 14286"/>
            </a:avLst>
          </a:prstGeom>
          <a:solidFill>
            <a:schemeClr val="bg1"/>
          </a:solidFill>
          <a:ln/>
          <a:effectLst>
            <a:outerShdw blurRad="152400" dist="38100" dir="5400000" algn="bl" rotWithShape="0">
              <a:srgbClr val="12141C">
                <a:alpha val="13000"/>
              </a:srgbClr>
            </a:outerShdw>
          </a:effectLst>
        </p:spPr>
        <p:txBody>
          <a:bodyPr wrap="square" lIns="274320" tIns="256032" rIns="274320" bIns="228600" rtlCol="0" anchor="t"/>
          <a:lstStyle/>
          <a:p>
            <a:pPr marL="0" indent="0">
              <a:buNone/>
            </a:pPr>
            <a:endParaRPr lang="en-US" sz="1100" dirty="0"/>
          </a:p>
        </p:txBody>
      </p:sp>
      <p:sp>
        <p:nvSpPr>
          <p:cNvPr id="16" name="Text 13"/>
          <p:cNvSpPr txBox="1"/>
          <p:nvPr/>
        </p:nvSpPr>
        <p:spPr>
          <a:xfrm>
            <a:off x="5120640" y="4416552"/>
            <a:ext cx="5422392" cy="365760"/>
          </a:xfrm>
          <a:prstGeom prst="rect">
            <a:avLst/>
          </a:prstGeom>
          <a:noFill/>
          <a:ln/>
        </p:spPr>
        <p:txBody>
          <a:bodyPr wrap="square" lIns="0" tIns="0" rIns="0" bIns="0" rtlCol="0" anchor="ctr"/>
          <a:lstStyle/>
          <a:p>
            <a:pPr marL="0" indent="0">
              <a:buNone/>
            </a:pPr>
            <a:r>
              <a:rPr lang="en-US" sz="1600" b="1" dirty="0">
                <a:solidFill>
                  <a:schemeClr val="accent1"/>
                </a:solidFill>
              </a:rPr>
              <a:t>Moderated focus groups</a:t>
            </a:r>
            <a:endParaRPr lang="en-US" sz="1600" dirty="0"/>
          </a:p>
        </p:txBody>
      </p:sp>
      <p:sp>
        <p:nvSpPr>
          <p:cNvPr id="17" name="Text 14"/>
          <p:cNvSpPr txBox="1"/>
          <p:nvPr/>
        </p:nvSpPr>
        <p:spPr>
          <a:xfrm>
            <a:off x="10680192" y="4434840"/>
            <a:ext cx="685800" cy="329184"/>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tx1"/>
                </a:solidFill>
              </a:rPr>
              <a:t>B2C</a:t>
            </a:r>
            <a:endParaRPr lang="en-US" sz="1100" dirty="0"/>
          </a:p>
        </p:txBody>
      </p:sp>
      <p:sp>
        <p:nvSpPr>
          <p:cNvPr id="18" name="Text 15"/>
          <p:cNvSpPr txBox="1"/>
          <p:nvPr/>
        </p:nvSpPr>
        <p:spPr>
          <a:xfrm>
            <a:off x="5120640" y="4873752"/>
            <a:ext cx="2841955"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950" dirty="0">
                <a:solidFill>
                  <a:schemeClr val="tx1"/>
                </a:solidFill>
              </a:rPr>
              <a:t>Bought a used car in the last 12 months</a:t>
            </a:r>
            <a:endParaRPr lang="en-US" sz="950" dirty="0"/>
          </a:p>
        </p:txBody>
      </p:sp>
      <p:sp>
        <p:nvSpPr>
          <p:cNvPr id="19" name="Text 16"/>
          <p:cNvSpPr txBox="1"/>
          <p:nvPr/>
        </p:nvSpPr>
        <p:spPr>
          <a:xfrm>
            <a:off x="8054035" y="4873752"/>
            <a:ext cx="1261872"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950" dirty="0">
                <a:solidFill>
                  <a:schemeClr val="tx1"/>
                </a:solidFill>
              </a:rPr>
              <a:t>Plan to buy one</a:t>
            </a:r>
            <a:endParaRPr lang="en-US" sz="950" dirty="0"/>
          </a:p>
        </p:txBody>
      </p:sp>
      <p:sp>
        <p:nvSpPr>
          <p:cNvPr id="20" name="Text 17"/>
          <p:cNvSpPr txBox="1"/>
          <p:nvPr/>
        </p:nvSpPr>
        <p:spPr>
          <a:xfrm>
            <a:off x="5120640" y="5239512"/>
            <a:ext cx="3154680" cy="512064"/>
          </a:xfrm>
          <a:prstGeom prst="rect">
            <a:avLst/>
          </a:prstGeom>
          <a:noFill/>
          <a:ln/>
        </p:spPr>
        <p:txBody>
          <a:bodyPr wrap="square" lIns="0" tIns="0" rIns="0" bIns="0" rtlCol="0" anchor="t"/>
          <a:lstStyle/>
          <a:p>
            <a:pPr marL="0" indent="0">
              <a:buNone/>
            </a:pPr>
            <a:r>
              <a:rPr lang="en-US" sz="1050" b="1" dirty="0">
                <a:solidFill>
                  <a:schemeClr val="tx1"/>
                </a:solidFill>
              </a:rPr>
              <a:t>Why it fits best</a:t>
            </a:r>
            <a:endParaRPr lang="en-US" sz="1050" dirty="0"/>
          </a:p>
          <a:p>
            <a:pPr marL="0" indent="0">
              <a:buNone/>
            </a:pPr>
            <a:r>
              <a:rPr lang="en-US" sz="1050" dirty="0">
                <a:solidFill>
                  <a:schemeClr val="tx2"/>
                </a:solidFill>
              </a:rPr>
              <a:t>Fear of fraud is social: hearing others' stories makes people talk.</a:t>
            </a:r>
            <a:endParaRPr lang="en-US" sz="1050" dirty="0"/>
          </a:p>
        </p:txBody>
      </p:sp>
      <p:sp>
        <p:nvSpPr>
          <p:cNvPr id="21" name="Text 18"/>
          <p:cNvSpPr txBox="1"/>
          <p:nvPr/>
        </p:nvSpPr>
        <p:spPr>
          <a:xfrm>
            <a:off x="8458200" y="5239512"/>
            <a:ext cx="2926080" cy="512064"/>
          </a:xfrm>
          <a:prstGeom prst="rect">
            <a:avLst/>
          </a:prstGeom>
          <a:noFill/>
          <a:ln/>
        </p:spPr>
        <p:txBody>
          <a:bodyPr wrap="square" lIns="0" tIns="0" rIns="0" bIns="0" rtlCol="0" anchor="t"/>
          <a:lstStyle/>
          <a:p>
            <a:pPr marL="0" indent="0">
              <a:buNone/>
            </a:pPr>
            <a:r>
              <a:rPr lang="en-US" sz="1050" b="1" dirty="0">
                <a:solidFill>
                  <a:schemeClr val="tx1"/>
                </a:solidFill>
              </a:rPr>
              <a:t>What it gives us</a:t>
            </a:r>
            <a:endParaRPr lang="en-US" sz="1050" dirty="0"/>
          </a:p>
          <a:p>
            <a:pPr marL="0" indent="0">
              <a:buNone/>
            </a:pPr>
            <a:r>
              <a:rPr lang="en-US" sz="1050" dirty="0">
                <a:solidFill>
                  <a:schemeClr val="tx2"/>
                </a:solidFill>
              </a:rPr>
              <a:t>Shared risk perceptions, the buyer's own words, first reaction to the report.</a:t>
            </a:r>
            <a:endParaRPr lang="en-US" sz="1050" dirty="0"/>
          </a:p>
        </p:txBody>
      </p:sp>
      <p:sp>
        <p:nvSpPr>
          <p:cNvPr id="485" name="Shape 485"/>
          <p:cNvSpPr txBox="1"/>
          <p:nvPr/>
        </p:nvSpPr>
        <p:spPr>
          <a:xfrm>
            <a:off x="5120640" y="3758184"/>
            <a:ext cx="6245352" cy="292608"/>
          </a:xfrm>
          <a:prstGeom prst="roundRect">
            <a:avLst>
              <a:gd name="adj" fmla="val 50000"/>
            </a:avLst>
          </a:prstGeom>
          <a:solidFill>
            <a:schemeClr val="accent3"/>
          </a:solidFill>
          <a:ln>
            <a:noFill/>
          </a:ln>
        </p:spPr>
        <p:txBody>
          <a:bodyPr wrap="square" lIns="146304" tIns="0" rIns="109728" bIns="0" rtlCol="0" anchor="ctr"/>
          <a:lstStyle/>
          <a:p>
            <a:pPr algn="l" indent="0" marL="0">
              <a:buNone/>
            </a:pPr>
            <a:r>
              <a:rPr lang="en-US" sz="950" b="1" dirty="0">
                <a:solidFill>
                  <a:schemeClr val="accent1"/>
                </a:solidFill>
              </a:rPr>
              <a:t>Instrument  ·  </a:t>
            </a:r>
            <a:r>
              <a:rPr lang="en-US" sz="950" dirty="0">
                <a:solidFill>
                  <a:schemeClr val="tx1"/>
                </a:solidFill>
              </a:rPr>
              <a:t>Semi-structured interview guide, 30–35 min, one-on-one</a:t>
            </a:r>
            <a:endParaRPr lang="en-US" sz="950" dirty="0"/>
          </a:p>
        </p:txBody>
      </p:sp>
      <p:sp>
        <p:nvSpPr>
          <p:cNvPr id="486" name="Shape 486"/>
          <p:cNvSpPr txBox="1"/>
          <p:nvPr/>
        </p:nvSpPr>
        <p:spPr>
          <a:xfrm>
            <a:off x="5120640" y="5815584"/>
            <a:ext cx="6245352" cy="292608"/>
          </a:xfrm>
          <a:prstGeom prst="roundRect">
            <a:avLst>
              <a:gd name="adj" fmla="val 50000"/>
            </a:avLst>
          </a:prstGeom>
          <a:solidFill>
            <a:schemeClr val="accent3"/>
          </a:solidFill>
          <a:ln>
            <a:noFill/>
          </a:ln>
        </p:spPr>
        <p:txBody>
          <a:bodyPr wrap="square" lIns="146304" tIns="0" rIns="109728" bIns="0" rtlCol="0" anchor="ctr"/>
          <a:lstStyle/>
          <a:p>
            <a:pPr algn="l" indent="0" marL="0">
              <a:buNone/>
            </a:pPr>
            <a:r>
              <a:rPr lang="en-US" sz="950" b="1" dirty="0">
                <a:solidFill>
                  <a:schemeClr val="accent1"/>
                </a:solidFill>
              </a:rPr>
              <a:t>Instrument  ·  </a:t>
            </a:r>
            <a:r>
              <a:rPr lang="en-US" sz="950" dirty="0">
                <a:solidFill>
                  <a:schemeClr val="tx1"/>
                </a:solidFill>
              </a:rPr>
              <a:t>Moderator's discussion guide, 6–8 people, 75–90 min</a:t>
            </a:r>
            <a:endParaRPr lang="en-US" sz="9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7</a:t>
            </a:fld>
            <a:endParaRPr lang="en-US"/>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Quantitative: meet each customer</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Dealers in person at work, buyers online at scale. Phone calls and intercepts close the gaps.</a:t>
            </a:r>
            <a:endParaRPr lang="en-US" sz="1500" dirty="0"/>
          </a:p>
        </p:txBody>
      </p:sp>
      <p:sp>
        <p:nvSpPr>
          <p:cNvPr id="5" name="Text 3"/>
          <p:cNvSpPr txBox="1"/>
          <p:nvPr/>
        </p:nvSpPr>
        <p:spPr>
          <a:xfrm rot="-78000">
            <a:off x="548640" y="2331720"/>
            <a:ext cx="3657600" cy="3291840"/>
          </a:xfrm>
          <a:prstGeom prst="roundRect">
            <a:avLst>
              <a:gd name="adj" fmla="val 8824"/>
            </a:avLst>
          </a:prstGeom>
          <a:solidFill>
            <a:schemeClr val="bg1"/>
          </a:solidFill>
          <a:ln/>
          <a:effectLst>
            <a:outerShdw blurRad="152400" dist="38100" dir="5400000" algn="bl" rotWithShape="0">
              <a:srgbClr val="12141C">
                <a:alpha val="13000"/>
              </a:srgbClr>
            </a:outerShdw>
          </a:effectLst>
        </p:spPr>
        <p:txBody>
          <a:bodyPr wrap="square" lIns="274320" tIns="384048" rIns="274320" bIns="182880" rtlCol="0" anchor="t"/>
          <a:lstStyle/>
          <a:p>
            <a:pPr algn="l" indent="0" marL="0">
              <a:spcAft>
                <a:spcPts val="800"/>
              </a:spcAft>
              <a:buNone/>
            </a:pPr>
            <a:r>
              <a:rPr lang="en-US" sz="1500" b="1" dirty="0">
                <a:solidFill>
                  <a:schemeClr val="accent1"/>
                </a:solidFill>
              </a:rPr>
              <a:t>F2F in situ + CATI</a:t>
            </a:r>
            <a:endParaRPr lang="en-US" sz="1500" dirty="0"/>
          </a:p>
          <a:p>
            <a:pPr algn="l" indent="0" marL="0">
              <a:buNone/>
            </a:pPr>
            <a:r>
              <a:rPr lang="en-US" sz="1050" b="1" dirty="0">
                <a:solidFill>
                  <a:schemeClr val="tx1"/>
                </a:solidFill>
              </a:rPr>
              <a:t>How we reach them</a:t>
            </a:r>
            <a:endParaRPr lang="en-US" sz="1050" dirty="0"/>
          </a:p>
          <a:p>
            <a:pPr algn="l" indent="0" marL="0">
              <a:spcAft>
                <a:spcPts val="600"/>
              </a:spcAft>
              <a:buNone/>
            </a:pPr>
            <a:r>
              <a:rPr lang="en-US" sz="1050" dirty="0">
                <a:solidFill>
                  <a:schemeClr val="tx2"/>
                </a:solidFill>
              </a:rPr>
              <a:t>At the dealer's workplace in car hubs (Gran Avenida, Av. Bilbao): dealers rarely answer web surveys. CATI covers regions.</a:t>
            </a:r>
            <a:endParaRPr lang="en-US" sz="1050" dirty="0"/>
          </a:p>
          <a:p>
            <a:pPr algn="l" indent="0" marL="0">
              <a:buNone/>
            </a:pPr>
            <a:r>
              <a:rPr lang="en-US" sz="1050" b="1" dirty="0">
                <a:solidFill>
                  <a:schemeClr val="tx1"/>
                </a:solidFill>
              </a:rPr>
              <a:t>Instrument</a:t>
            </a:r>
            <a:endParaRPr lang="en-US" sz="1050" dirty="0"/>
          </a:p>
          <a:p>
            <a:pPr algn="l" indent="0" marL="0">
              <a:spcAft>
                <a:spcPts val="600"/>
              </a:spcAft>
              <a:buNone/>
            </a:pPr>
            <a:r>
              <a:rPr lang="en-US" sz="1050" dirty="0">
                <a:solidFill>
                  <a:schemeClr val="tx2"/>
                </a:solidFill>
              </a:rPr>
              <a:t>Structured questionnaire on a tablet, 8–10 min, with the report prototype.</a:t>
            </a:r>
            <a:endParaRPr lang="en-US" sz="1050" dirty="0"/>
          </a:p>
          <a:p>
            <a:pPr algn="l" indent="0" marL="0">
              <a:buNone/>
            </a:pPr>
            <a:r>
              <a:rPr lang="en-US" sz="1050" b="1" dirty="0">
                <a:solidFill>
                  <a:schemeClr val="tx1"/>
                </a:solidFill>
              </a:rPr>
              <a:t>What it measures</a:t>
            </a:r>
            <a:endParaRPr lang="en-US" sz="1050" dirty="0"/>
          </a:p>
          <a:p>
            <a:pPr algn="l" indent="0" marL="0">
              <a:buNone/>
            </a:pPr>
            <a:r>
              <a:rPr lang="en-US" sz="1050" dirty="0">
                <a:solidFill>
                  <a:schemeClr val="tx2"/>
                </a:solidFill>
              </a:rPr>
              <a:t>Pricing rules at scale, reaction to the prototype, intent to subscribe.</a:t>
            </a:r>
            <a:endParaRPr lang="en-US" sz="1050" dirty="0"/>
          </a:p>
        </p:txBody>
      </p:sp>
      <p:sp>
        <p:nvSpPr>
          <p:cNvPr id="6" name="Text 4"/>
          <p:cNvSpPr txBox="1"/>
          <p:nvPr/>
        </p:nvSpPr>
        <p:spPr>
          <a:xfrm>
            <a:off x="822960" y="2167128"/>
            <a:ext cx="73152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B2B</a:t>
            </a:r>
            <a:endParaRPr lang="en-US" sz="1100" dirty="0"/>
          </a:p>
        </p:txBody>
      </p:sp>
      <p:sp>
        <p:nvSpPr>
          <p:cNvPr id="7" name="Text 5"/>
          <p:cNvSpPr txBox="1"/>
          <p:nvPr/>
        </p:nvSpPr>
        <p:spPr>
          <a:xfrm rot="66000">
            <a:off x="4434840" y="2331720"/>
            <a:ext cx="3657600" cy="3291840"/>
          </a:xfrm>
          <a:prstGeom prst="roundRect">
            <a:avLst>
              <a:gd name="adj" fmla="val 8824"/>
            </a:avLst>
          </a:prstGeom>
          <a:solidFill>
            <a:schemeClr val="bg1"/>
          </a:solidFill>
          <a:ln/>
          <a:effectLst>
            <a:outerShdw blurRad="152400" dist="38100" dir="5400000" algn="bl" rotWithShape="0">
              <a:srgbClr val="12141C">
                <a:alpha val="13000"/>
              </a:srgbClr>
            </a:outerShdw>
          </a:effectLst>
        </p:spPr>
        <p:txBody>
          <a:bodyPr wrap="square" lIns="274320" tIns="384048" rIns="274320" bIns="182880" rtlCol="0" anchor="t"/>
          <a:lstStyle/>
          <a:p>
            <a:pPr algn="l" indent="0" marL="0">
              <a:spcAft>
                <a:spcPts val="800"/>
              </a:spcAft>
              <a:buNone/>
            </a:pPr>
            <a:r>
              <a:rPr lang="en-US" sz="1500" b="1" dirty="0">
                <a:solidFill>
                  <a:schemeClr val="accent1"/>
                </a:solidFill>
              </a:rPr>
              <a:t>CAWI with quotas + intercepts</a:t>
            </a:r>
            <a:endParaRPr lang="en-US" sz="1500" dirty="0"/>
          </a:p>
          <a:p>
            <a:pPr algn="l" indent="0" marL="0">
              <a:buNone/>
            </a:pPr>
            <a:r>
              <a:rPr lang="en-US" sz="1050" b="1" dirty="0">
                <a:solidFill>
                  <a:schemeClr val="tx1"/>
                </a:solidFill>
              </a:rPr>
              <a:t>How we reach them</a:t>
            </a:r>
            <a:endParaRPr lang="en-US" sz="1050" dirty="0"/>
          </a:p>
          <a:p>
            <a:pPr algn="l" indent="0" marL="0">
              <a:spcAft>
                <a:spcPts val="600"/>
              </a:spcAft>
              <a:buNone/>
            </a:pPr>
            <a:r>
              <a:rPr lang="en-US" sz="1050" dirty="0">
                <a:solidFill>
                  <a:schemeClr val="tx2"/>
                </a:solidFill>
              </a:rPr>
              <a:t>Online panel with quotas by gender, age, car age and buying channel. Intercepts at notaries and PRT if a quota fills slowly.</a:t>
            </a:r>
            <a:endParaRPr lang="en-US" sz="1050" dirty="0"/>
          </a:p>
          <a:p>
            <a:pPr algn="l" indent="0" marL="0">
              <a:buNone/>
            </a:pPr>
            <a:r>
              <a:rPr lang="en-US" sz="1050" b="1" dirty="0">
                <a:solidFill>
                  <a:schemeClr val="tx1"/>
                </a:solidFill>
              </a:rPr>
              <a:t>Instrument</a:t>
            </a:r>
            <a:endParaRPr lang="en-US" sz="1050" dirty="0"/>
          </a:p>
          <a:p>
            <a:pPr algn="l" indent="0" marL="0">
              <a:spcAft>
                <a:spcPts val="600"/>
              </a:spcAft>
              <a:buNone/>
            </a:pPr>
            <a:r>
              <a:rPr lang="en-US" sz="1050" dirty="0">
                <a:solidFill>
                  <a:schemeClr val="tx2"/>
                </a:solidFill>
              </a:rPr>
              <a:t>Self-administered online questionnaire with the same report mock-up.</a:t>
            </a:r>
            <a:endParaRPr lang="en-US" sz="1050" dirty="0"/>
          </a:p>
          <a:p>
            <a:pPr algn="l" indent="0" marL="0">
              <a:buNone/>
            </a:pPr>
            <a:r>
              <a:rPr lang="en-US" sz="1050" b="1" dirty="0">
                <a:solidFill>
                  <a:schemeClr val="tx1"/>
                </a:solidFill>
              </a:rPr>
              <a:t>What it measures</a:t>
            </a:r>
            <a:endParaRPr lang="en-US" sz="1050" dirty="0"/>
          </a:p>
          <a:p>
            <a:pPr algn="l" indent="0" marL="0">
              <a:buNone/>
            </a:pPr>
            <a:r>
              <a:rPr lang="en-US" sz="1050" dirty="0">
                <a:solidFill>
                  <a:schemeClr val="tx2"/>
                </a:solidFill>
              </a:rPr>
              <a:t>How common each fear is, intent to buy a report, price range (PSM).</a:t>
            </a:r>
            <a:endParaRPr lang="en-US" sz="1050" dirty="0"/>
          </a:p>
        </p:txBody>
      </p:sp>
      <p:sp>
        <p:nvSpPr>
          <p:cNvPr id="8" name="Text 6"/>
          <p:cNvSpPr txBox="1"/>
          <p:nvPr/>
        </p:nvSpPr>
        <p:spPr>
          <a:xfrm>
            <a:off x="4709160" y="2167128"/>
            <a:ext cx="731520" cy="329184"/>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tx1"/>
                </a:solidFill>
              </a:rPr>
              <a:t>B2C</a:t>
            </a:r>
            <a:endParaRPr lang="en-US" sz="1100" dirty="0"/>
          </a:p>
        </p:txBody>
      </p:sp>
      <p:sp>
        <p:nvSpPr>
          <p:cNvPr id="9" name="Text 7"/>
          <p:cNvSpPr txBox="1"/>
          <p:nvPr/>
        </p:nvSpPr>
        <p:spPr>
          <a:xfrm>
            <a:off x="548640" y="5760720"/>
            <a:ext cx="754380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150" b="1" dirty="0">
                <a:solidFill>
                  <a:schemeClr val="tx1"/>
                </a:solidFill>
              </a:rPr>
              <a:t>Each mode reaches one customer; together they cover both sides of the deal.</a:t>
            </a:r>
            <a:endParaRPr lang="en-US" sz="1150" dirty="0"/>
          </a:p>
        </p:txBody>
      </p:sp>
      <p:pic>
        <p:nvPicPr>
          <p:cNvPr id="10" name="Image 0" descr="/private/tmp/claude-501/-Users-seba-Documents-Visual-Studio-Proyectos-Acad-micos-Marketing/f45da085-a5d6-4f69-9770-44d4abda6eac/scratchpad/v3x/ppt/media/image-4-1.png"/>
          <p:cNvPicPr>
            <a:picLocks noChangeAspect="1"/>
          </p:cNvPicPr>
          <p:nvPr/>
        </p:nvPicPr>
        <p:blipFill>
          <a:blip r:embed="rId4"/>
          <a:stretch>
            <a:fillRect/>
          </a:stretch>
        </p:blipFill>
        <p:spPr>
          <a:xfrm>
            <a:off x="8503920" y="2103120"/>
            <a:ext cx="3136392" cy="4027018"/>
          </a:xfrm>
          <a:prstGeom prst="rect">
            <a:avLst/>
          </a:prstGeom>
        </p:spPr>
      </p:pic>
      <p:sp>
        <p:nvSpPr>
          <p:cNvPr id="11" name="sparkle"/>
          <p:cNvSpPr/>
          <p:nvPr/>
        </p:nvSpPr>
        <p:spPr>
          <a:xfrm>
            <a:off x="8229600" y="1828800"/>
            <a:ext cx="548640" cy="548640"/>
          </a:xfrm>
          <a:prstGeom prst="star4">
            <a:avLst/>
          </a:prstGeom>
          <a:solidFill>
            <a:schemeClr val="accent2"/>
          </a:solidFill>
          <a:ln/>
        </p:spPr>
        <p:txBody>
          <a:bodyPr/>
          <a:lstStyle/>
          <a:p>
            <a:endParaRPr lang="es-CL"/>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8</a:t>
            </a:fld>
            <a:endParaRPr lang="en-US"/>
          </a:p>
        </p:txBody>
      </p:sp>
      <p:sp>
        <p:nvSpPr>
          <p:cNvPr id="13" name="Text Placeholder 12">
            <a:extLst>
              <a:ext uri="{FF2B5EF4-FFF2-40B4-BE49-F238E27FC236}">
                <a16:creationId xmlns:a16="http://schemas.microsoft.com/office/drawing/2014/main" id="{078A45EC-B425-DA30-24B2-32BB28F5D639}"/>
              </a:ext>
            </a:extLst>
          </p:cNvPr>
          <p:cNvSpPr>
            <a:spLocks noGrp="1"/>
          </p:cNvSpPr>
          <p:nvPr>
            <p:ph type="body" idx="106"/>
          </p:nvPr>
        </p:nvSpPr>
        <p:spPr/>
        <p:txBody>
          <a:bodyPr/>
          <a:lstStyle/>
          <a:p>
            <a:endParaRPr lang="en-US"/>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From method to objectives</a:t>
            </a:r>
            <a:endParaRPr lang="en-US" sz="3600" dirty="0"/>
          </a:p>
        </p:txBody>
      </p:sp>
      <p:sp>
        <p:nvSpPr>
          <p:cNvPr id="4"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pPr marL="0" indent="0" algn="l">
              <a:buNone/>
            </a:pPr>
            <a:r>
              <a:rPr lang="en-US" sz="850" dirty="0">
                <a:solidFill>
                  <a:schemeClr val="tx2"/>
                </a:solidFill>
              </a:rPr>
              <a:t>Population and sample size are set in the next stage, as the brief asks. Prices are hypotheses to test.</a:t>
            </a:r>
            <a:endParaRPr lang="en-US" sz="850" dirty="0"/>
          </a:p>
        </p:txBody>
      </p:sp>
      <p:sp>
        <p:nvSpPr>
          <p:cNvPr id="188" name="Text 188"/>
          <p:cNvSpPr txBox="1"/>
          <p:nvPr/>
        </p:nvSpPr>
        <p:spPr>
          <a:xfrm>
            <a:off x="975360" y="2298192"/>
            <a:ext cx="1803400" cy="333248"/>
          </a:xfrm>
          <a:prstGeom prst="rect">
            <a:avLst/>
          </a:prstGeom>
          <a:noFill/>
          <a:ln>
            <a:noFill/>
          </a:ln>
        </p:spPr>
        <p:txBody>
          <a:bodyPr wrap="square" lIns="0" tIns="0" rIns="0" bIns="0" rtlCol="0" anchor="ctr"/>
          <a:lstStyle/>
          <a:p>
            <a:pPr marL="0" indent="0" algn="l">
              <a:buNone/>
            </a:pPr>
            <a:r>
              <a:rPr lang="en-US" sz="1000" b="1" dirty="0">
                <a:solidFill>
                  <a:schemeClr val="tx2"/>
                </a:solidFill>
              </a:rPr>
              <a:t>Specific objective (SO)</a:t>
            </a:r>
            <a:endParaRPr lang="en-US" sz="1000" dirty="0"/>
          </a:p>
        </p:txBody>
      </p:sp>
      <p:sp>
        <p:nvSpPr>
          <p:cNvPr id="189" name="Pill 189"/>
          <p:cNvSpPr txBox="1"/>
          <p:nvPr/>
        </p:nvSpPr>
        <p:spPr>
          <a:xfrm>
            <a:off x="2870200" y="2318512"/>
            <a:ext cx="3291840" cy="292608"/>
          </a:xfrm>
          <a:prstGeom prst="roundRect">
            <a:avLst>
              <a:gd name="adj" fmla="val 50000"/>
            </a:avLst>
          </a:prstGeom>
          <a:solidFill>
            <a:schemeClr val="accent2"/>
          </a:solidFill>
          <a:ln>
            <a:noFill/>
          </a:ln>
        </p:spPr>
        <p:txBody>
          <a:bodyPr wrap="square" lIns="36576" tIns="0" rIns="36576" bIns="0" rtlCol="0" anchor="ctr"/>
          <a:lstStyle/>
          <a:p>
            <a:pPr marL="0" indent="0" algn="ctr">
              <a:buNone/>
            </a:pPr>
            <a:r>
              <a:rPr lang="en-US" sz="1000" b="1" dirty="0">
                <a:solidFill>
                  <a:schemeClr val="tx1"/>
                </a:solidFill>
              </a:rPr>
              <a:t>Step 1  ·  Explore (qualitative)</a:t>
            </a:r>
            <a:endParaRPr lang="en-US" sz="1000" dirty="0"/>
          </a:p>
        </p:txBody>
      </p:sp>
      <p:sp>
        <p:nvSpPr>
          <p:cNvPr id="190" name="Circle 190"/>
          <p:cNvSpPr txBox="1"/>
          <p:nvPr/>
        </p:nvSpPr>
        <p:spPr>
          <a:xfrm>
            <a:off x="6290056" y="2300224"/>
            <a:ext cx="329184" cy="329184"/>
          </a:xfrm>
          <a:prstGeom prst="ellipse">
            <a:avLst/>
          </a:prstGeom>
          <a:solidFill>
            <a:schemeClr val="tx1"/>
          </a:solidFill>
          <a:ln>
            <a:noFill/>
          </a:ln>
        </p:spPr>
        <p:txBody>
          <a:bodyPr wrap="square" lIns="0" tIns="0" rIns="0" bIns="0" rtlCol="0" anchor="ctr"/>
          <a:lstStyle/>
          <a:p>
            <a:pPr marL="0" indent="0" algn="ctr">
              <a:buNone/>
            </a:pPr>
            <a:r>
              <a:rPr lang="en-US" sz="1300" b="1" dirty="0">
                <a:solidFill>
                  <a:schemeClr val="bg1"/>
                </a:solidFill>
              </a:rPr>
              <a:t>→</a:t>
            </a:r>
            <a:endParaRPr lang="en-US" sz="1300" dirty="0"/>
          </a:p>
        </p:txBody>
      </p:sp>
      <p:sp>
        <p:nvSpPr>
          <p:cNvPr id="191" name="Pill 191"/>
          <p:cNvSpPr txBox="1"/>
          <p:nvPr/>
        </p:nvSpPr>
        <p:spPr>
          <a:xfrm>
            <a:off x="6756400" y="2318512"/>
            <a:ext cx="3291840" cy="292608"/>
          </a:xfrm>
          <a:prstGeom prst="roundRect">
            <a:avLst>
              <a:gd name="adj" fmla="val 50000"/>
            </a:avLst>
          </a:prstGeom>
          <a:solidFill>
            <a:schemeClr val="tx1"/>
          </a:solidFill>
          <a:ln>
            <a:noFill/>
          </a:ln>
        </p:spPr>
        <p:txBody>
          <a:bodyPr wrap="square" lIns="36576" tIns="0" rIns="36576" bIns="0" rtlCol="0" anchor="ctr"/>
          <a:lstStyle/>
          <a:p>
            <a:pPr marL="0" indent="0" algn="ctr">
              <a:buNone/>
            </a:pPr>
            <a:r>
              <a:rPr lang="en-US" sz="1000" b="1" dirty="0">
                <a:solidFill>
                  <a:schemeClr val="bg1"/>
                </a:solidFill>
              </a:rPr>
              <a:t>Step 2  ·  Measure (quantitative)</a:t>
            </a:r>
            <a:endParaRPr lang="en-US" sz="1000" dirty="0"/>
          </a:p>
        </p:txBody>
      </p:sp>
      <p:sp>
        <p:nvSpPr>
          <p:cNvPr id="192" name="Pill 192"/>
          <p:cNvSpPr txBox="1"/>
          <p:nvPr/>
        </p:nvSpPr>
        <p:spPr>
          <a:xfrm>
            <a:off x="10185400" y="2318512"/>
            <a:ext cx="1444752" cy="292608"/>
          </a:xfrm>
          <a:prstGeom prst="roundRect">
            <a:avLst>
              <a:gd name="adj" fmla="val 50000"/>
            </a:avLst>
          </a:prstGeom>
          <a:solidFill>
            <a:schemeClr val="accent1"/>
          </a:solidFill>
          <a:ln>
            <a:noFill/>
          </a:ln>
        </p:spPr>
        <p:txBody>
          <a:bodyPr wrap="square" lIns="36576" tIns="0" rIns="36576" bIns="0" rtlCol="0" anchor="ctr"/>
          <a:lstStyle/>
          <a:p>
            <a:pPr marL="0" indent="0" algn="ctr">
              <a:buNone/>
            </a:pPr>
            <a:r>
              <a:rPr lang="en-US" sz="1000" b="1" dirty="0">
                <a:solidFill>
                  <a:schemeClr val="bg1"/>
                </a:solidFill>
              </a:rPr>
              <a:t>Step 3  ·  Decide</a:t>
            </a:r>
            <a:endParaRPr lang="en-US" sz="1000" dirty="0"/>
          </a:p>
        </p:txBody>
      </p:sp>
      <p:sp>
        <p:nvSpPr>
          <p:cNvPr id="193" name="Text 193"/>
          <p:cNvSpPr txBox="1"/>
          <p:nvPr/>
        </p:nvSpPr>
        <p:spPr>
          <a:xfrm>
            <a:off x="2870200" y="2684272"/>
            <a:ext cx="1600200" cy="438912"/>
          </a:xfrm>
          <a:prstGeom prst="rect">
            <a:avLst/>
          </a:prstGeom>
          <a:noFill/>
          <a:ln>
            <a:noFill/>
          </a:ln>
        </p:spPr>
        <p:txBody>
          <a:bodyPr wrap="square" lIns="0" tIns="0" rIns="0" bIns="0" rtlCol="0" anchor="ctr"/>
          <a:lstStyle/>
          <a:p>
            <a:pPr marL="0" indent="0" algn="ctr">
              <a:buNone/>
            </a:pPr>
            <a:r>
              <a:rPr lang="en-US" sz="1000" b="1" dirty="0">
                <a:solidFill>
                  <a:schemeClr val="tx1"/>
                </a:solidFill>
              </a:rPr>
              <a:t>In-depth interviews</a:t>
            </a:r>
            <a:endParaRPr lang="en-US" sz="1000" dirty="0"/>
          </a:p>
          <a:p>
            <a:pPr marL="0" indent="0" algn="ctr">
              <a:buNone/>
            </a:pPr>
            <a:r>
              <a:rPr lang="en-US" sz="900" b="1" dirty="0">
                <a:solidFill>
                  <a:schemeClr val="accent1"/>
                </a:solidFill>
              </a:rPr>
              <a:t>B2B</a:t>
            </a:r>
            <a:endParaRPr lang="en-US" sz="900" dirty="0"/>
          </a:p>
        </p:txBody>
      </p:sp>
      <p:sp>
        <p:nvSpPr>
          <p:cNvPr id="194" name="Text 194"/>
          <p:cNvSpPr txBox="1"/>
          <p:nvPr/>
        </p:nvSpPr>
        <p:spPr>
          <a:xfrm>
            <a:off x="4561840" y="2684272"/>
            <a:ext cx="1600200" cy="438912"/>
          </a:xfrm>
          <a:prstGeom prst="rect">
            <a:avLst/>
          </a:prstGeom>
          <a:noFill/>
          <a:ln>
            <a:noFill/>
          </a:ln>
        </p:spPr>
        <p:txBody>
          <a:bodyPr wrap="square" lIns="0" tIns="0" rIns="0" bIns="0" rtlCol="0" anchor="ctr"/>
          <a:lstStyle/>
          <a:p>
            <a:pPr marL="0" indent="0" algn="ctr">
              <a:buNone/>
            </a:pPr>
            <a:r>
              <a:rPr lang="en-US" sz="1000" b="1" dirty="0">
                <a:solidFill>
                  <a:schemeClr val="tx1"/>
                </a:solidFill>
              </a:rPr>
              <a:t>Focus groups</a:t>
            </a:r>
            <a:endParaRPr lang="en-US" sz="1000" dirty="0"/>
          </a:p>
          <a:p>
            <a:pPr marL="0" indent="0" algn="ctr">
              <a:buNone/>
            </a:pPr>
            <a:r>
              <a:rPr lang="en-US" sz="900" b="1" dirty="0">
                <a:solidFill>
                  <a:schemeClr val="accent1"/>
                </a:solidFill>
              </a:rPr>
              <a:t>B2C</a:t>
            </a:r>
            <a:endParaRPr lang="en-US" sz="900" dirty="0"/>
          </a:p>
        </p:txBody>
      </p:sp>
      <p:sp>
        <p:nvSpPr>
          <p:cNvPr id="195" name="Text 195"/>
          <p:cNvSpPr txBox="1"/>
          <p:nvPr/>
        </p:nvSpPr>
        <p:spPr>
          <a:xfrm>
            <a:off x="6756400" y="2684272"/>
            <a:ext cx="1600200" cy="438912"/>
          </a:xfrm>
          <a:prstGeom prst="rect">
            <a:avLst/>
          </a:prstGeom>
          <a:noFill/>
          <a:ln>
            <a:noFill/>
          </a:ln>
        </p:spPr>
        <p:txBody>
          <a:bodyPr wrap="square" lIns="0" tIns="0" rIns="0" bIns="0" rtlCol="0" anchor="ctr"/>
          <a:lstStyle/>
          <a:p>
            <a:pPr marL="0" indent="0" algn="ctr">
              <a:buNone/>
            </a:pPr>
            <a:r>
              <a:rPr lang="en-US" sz="1000" b="1" dirty="0">
                <a:solidFill>
                  <a:schemeClr val="tx1"/>
                </a:solidFill>
              </a:rPr>
              <a:t>F2F in situ + CATI</a:t>
            </a:r>
            <a:endParaRPr lang="en-US" sz="1000" dirty="0"/>
          </a:p>
          <a:p>
            <a:pPr marL="0" indent="0" algn="ctr">
              <a:buNone/>
            </a:pPr>
            <a:r>
              <a:rPr lang="en-US" sz="900" b="1" dirty="0">
                <a:solidFill>
                  <a:schemeClr val="accent1"/>
                </a:solidFill>
              </a:rPr>
              <a:t>B2B</a:t>
            </a:r>
            <a:endParaRPr lang="en-US" sz="900" dirty="0"/>
          </a:p>
        </p:txBody>
      </p:sp>
      <p:sp>
        <p:nvSpPr>
          <p:cNvPr id="196" name="Text 196"/>
          <p:cNvSpPr txBox="1"/>
          <p:nvPr/>
        </p:nvSpPr>
        <p:spPr>
          <a:xfrm>
            <a:off x="8448040" y="2684272"/>
            <a:ext cx="1600200" cy="438912"/>
          </a:xfrm>
          <a:prstGeom prst="rect">
            <a:avLst/>
          </a:prstGeom>
          <a:noFill/>
          <a:ln>
            <a:noFill/>
          </a:ln>
        </p:spPr>
        <p:txBody>
          <a:bodyPr wrap="square" lIns="0" tIns="0" rIns="0" bIns="0" rtlCol="0" anchor="ctr"/>
          <a:lstStyle/>
          <a:p>
            <a:pPr marL="0" indent="0" algn="ctr">
              <a:buNone/>
            </a:pPr>
            <a:r>
              <a:rPr lang="en-US" sz="1000" b="1" dirty="0">
                <a:solidFill>
                  <a:schemeClr val="tx1"/>
                </a:solidFill>
              </a:rPr>
              <a:t>CAWI + intercepts</a:t>
            </a:r>
            <a:endParaRPr lang="en-US" sz="1000" dirty="0"/>
          </a:p>
          <a:p>
            <a:pPr marL="0" indent="0" algn="ctr">
              <a:buNone/>
            </a:pPr>
            <a:r>
              <a:rPr lang="en-US" sz="900" b="1" dirty="0">
                <a:solidFill>
                  <a:schemeClr val="accent1"/>
                </a:solidFill>
              </a:rPr>
              <a:t>B2C</a:t>
            </a:r>
            <a:endParaRPr lang="en-US" sz="900" dirty="0"/>
          </a:p>
        </p:txBody>
      </p:sp>
      <p:sp>
        <p:nvSpPr>
          <p:cNvPr id="197" name="Text 197"/>
          <p:cNvSpPr txBox="1"/>
          <p:nvPr/>
        </p:nvSpPr>
        <p:spPr>
          <a:xfrm>
            <a:off x="6162040" y="2684272"/>
            <a:ext cx="603504" cy="438912"/>
          </a:xfrm>
          <a:prstGeom prst="rect">
            <a:avLst/>
          </a:prstGeom>
          <a:noFill/>
          <a:ln>
            <a:noFill/>
          </a:ln>
        </p:spPr>
        <p:txBody>
          <a:bodyPr wrap="square" lIns="0" tIns="0" rIns="0" bIns="0" rtlCol="0" anchor="ctr"/>
          <a:lstStyle/>
          <a:p>
            <a:pPr marL="0" indent="0" algn="ctr">
              <a:buNone/>
            </a:pPr>
            <a:r>
              <a:rPr lang="en-US" sz="800" b="1" dirty="0">
                <a:solidFill>
                  <a:schemeClr val="tx2"/>
                </a:solidFill>
              </a:rPr>
              <a:t>becomes</a:t>
            </a:r>
            <a:endParaRPr lang="en-US" sz="800" dirty="0"/>
          </a:p>
          <a:p>
            <a:pPr marL="0" indent="0" algn="ctr">
              <a:buNone/>
            </a:pPr>
            <a:r>
              <a:rPr lang="en-US" sz="800" b="1" dirty="0">
                <a:solidFill>
                  <a:schemeClr val="tx2"/>
                </a:solidFill>
              </a:rPr>
              <a:t>questions</a:t>
            </a:r>
            <a:endParaRPr lang="en-US" sz="800" dirty="0"/>
          </a:p>
        </p:txBody>
      </p:sp>
      <p:sp>
        <p:nvSpPr>
          <p:cNvPr id="198" name="Text 198"/>
          <p:cNvSpPr txBox="1"/>
          <p:nvPr/>
        </p:nvSpPr>
        <p:spPr>
          <a:xfrm>
            <a:off x="10185400" y="2684272"/>
            <a:ext cx="1444752" cy="438912"/>
          </a:xfrm>
          <a:prstGeom prst="rect">
            <a:avLst/>
          </a:prstGeom>
          <a:noFill/>
          <a:ln>
            <a:noFill/>
          </a:ln>
        </p:spPr>
        <p:txBody>
          <a:bodyPr wrap="square" lIns="0" tIns="0" rIns="0" bIns="0" rtlCol="0" anchor="ctr"/>
          <a:lstStyle/>
          <a:p>
            <a:pPr marL="0" indent="0" algn="ctr">
              <a:buNone/>
            </a:pPr>
            <a:r>
              <a:rPr lang="en-US" sz="1000" b="1" dirty="0">
                <a:solidFill>
                  <a:schemeClr val="tx1"/>
                </a:solidFill>
              </a:rPr>
              <a:t>Business decision</a:t>
            </a:r>
            <a:endParaRPr lang="en-US" sz="1000" dirty="0"/>
          </a:p>
        </p:txBody>
      </p:sp>
      <p:sp>
        <p:nvSpPr>
          <p:cNvPr id="199" name="Shape 199"/>
          <p:cNvSpPr/>
          <p:nvPr/>
        </p:nvSpPr>
        <p:spPr>
          <a:xfrm>
            <a:off x="528320" y="3281680"/>
            <a:ext cx="9555480" cy="475488"/>
          </a:xfrm>
          <a:prstGeom prst="roundRect">
            <a:avLst>
              <a:gd name="adj" fmla="val 20000"/>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200" name="Circle 200"/>
          <p:cNvSpPr txBox="1"/>
          <p:nvPr/>
        </p:nvSpPr>
        <p:spPr>
          <a:xfrm>
            <a:off x="665480" y="3363976"/>
            <a:ext cx="310896" cy="310896"/>
          </a:xfrm>
          <a:prstGeom prst="ellipse">
            <a:avLst/>
          </a:prstGeom>
          <a:solidFill>
            <a:schemeClr val="accent1"/>
          </a:solidFill>
          <a:ln>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01" name="Text 201"/>
          <p:cNvSpPr txBox="1"/>
          <p:nvPr/>
        </p:nvSpPr>
        <p:spPr>
          <a:xfrm>
            <a:off x="1076960" y="3281680"/>
            <a:ext cx="1691640" cy="475488"/>
          </a:xfrm>
          <a:prstGeom prst="rect">
            <a:avLst/>
          </a:prstGeom>
          <a:noFill/>
          <a:ln>
            <a:noFill/>
          </a:ln>
        </p:spPr>
        <p:txBody>
          <a:bodyPr wrap="square" lIns="0" tIns="0" rIns="0" bIns="0" rtlCol="0" anchor="ctr"/>
          <a:lstStyle/>
          <a:p>
            <a:pPr marL="0" indent="0" algn="l">
              <a:buNone/>
            </a:pPr>
            <a:r>
              <a:rPr lang="en-US" sz="850" b="1" dirty="0">
                <a:solidFill>
                  <a:schemeClr val="accent1"/>
                </a:solidFill>
              </a:rPr>
              <a:t>SO1</a:t>
            </a:r>
            <a:endParaRPr lang="en-US" sz="850" dirty="0"/>
          </a:p>
          <a:p>
            <a:pPr marL="0" indent="0" algn="l">
              <a:buNone/>
            </a:pPr>
            <a:r>
              <a:rPr lang="en-US" sz="1050" b="1" dirty="0">
                <a:solidFill>
                  <a:schemeClr val="tx1"/>
                </a:solidFill>
              </a:rPr>
              <a:t>Physical &amp; aesthetic</a:t>
            </a:r>
            <a:endParaRPr lang="en-US" sz="1050" dirty="0"/>
          </a:p>
        </p:txBody>
      </p:sp>
      <p:sp>
        <p:nvSpPr>
          <p:cNvPr id="202" name="Shape 202"/>
          <p:cNvSpPr txBox="1"/>
          <p:nvPr/>
        </p:nvSpPr>
        <p:spPr>
          <a:xfrm>
            <a:off x="2914904" y="3336544"/>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Words for each damage</a:t>
            </a:r>
            <a:endParaRPr lang="en-US" sz="850" dirty="0"/>
          </a:p>
        </p:txBody>
      </p:sp>
      <p:sp>
        <p:nvSpPr>
          <p:cNvPr id="204" name="Shape 204"/>
          <p:cNvSpPr txBox="1"/>
          <p:nvPr/>
        </p:nvSpPr>
        <p:spPr>
          <a:xfrm>
            <a:off x="6801104" y="3336544"/>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Severity of kind of damages, Likert 1–5</a:t>
            </a:r>
            <a:endParaRPr lang="en-US" sz="850" dirty="0"/>
          </a:p>
        </p:txBody>
      </p:sp>
      <p:sp>
        <p:nvSpPr>
          <p:cNvPr id="206" name="Text 206"/>
          <p:cNvSpPr txBox="1"/>
          <p:nvPr/>
        </p:nvSpPr>
        <p:spPr>
          <a:xfrm>
            <a:off x="6215888" y="3281680"/>
            <a:ext cx="457200" cy="475488"/>
          </a:xfrm>
          <a:prstGeom prst="rect">
            <a:avLst/>
          </a:prstGeom>
          <a:noFill/>
          <a:ln>
            <a:noFill/>
          </a:ln>
        </p:spPr>
        <p:txBody>
          <a:bodyPr wrap="square" lIns="0" tIns="0" rIns="0" bIns="0" rtlCol="0" anchor="ctr"/>
          <a:lstStyle/>
          <a:p>
            <a:pPr marL="0" indent="0" algn="ctr">
              <a:buNone/>
            </a:pPr>
            <a:r>
              <a:rPr lang="en-US" sz="1400" b="1" dirty="0">
                <a:solidFill>
                  <a:schemeClr val="accent4"/>
                </a:solidFill>
              </a:rPr>
              <a:t>→</a:t>
            </a:r>
            <a:endParaRPr lang="en-US" sz="1400" dirty="0"/>
          </a:p>
        </p:txBody>
      </p:sp>
      <p:sp>
        <p:nvSpPr>
          <p:cNvPr id="207" name="Shape 207"/>
          <p:cNvSpPr txBox="1"/>
          <p:nvPr/>
        </p:nvSpPr>
        <p:spPr>
          <a:xfrm>
            <a:off x="10175240" y="3281680"/>
            <a:ext cx="1444752" cy="475488"/>
          </a:xfrm>
          <a:prstGeom prst="roundRect">
            <a:avLst>
              <a:gd name="adj" fmla="val 20000"/>
            </a:avLst>
          </a:prstGeom>
          <a:solidFill>
            <a:schemeClr val="accent3"/>
          </a:solidFill>
          <a:ln>
            <a:noFill/>
          </a:ln>
        </p:spPr>
        <p:txBody>
          <a:bodyPr wrap="square" lIns="128016" tIns="0" rIns="91440" bIns="0" rtlCol="0" anchor="ctr"/>
          <a:lstStyle/>
          <a:p>
            <a:pPr marL="0" indent="0" algn="l">
              <a:lnSpc>
                <a:spcPct val="90000"/>
              </a:lnSpc>
              <a:buNone/>
            </a:pPr>
            <a:r>
              <a:rPr lang="en-US" sz="950" b="1" dirty="0">
                <a:solidFill>
                  <a:schemeClr val="accent1"/>
                </a:solidFill>
              </a:rPr>
              <a:t>Damage classes in the app</a:t>
            </a:r>
            <a:endParaRPr lang="en-US" sz="950" dirty="0"/>
          </a:p>
        </p:txBody>
      </p:sp>
      <p:sp>
        <p:nvSpPr>
          <p:cNvPr id="208" name="Shape 208"/>
          <p:cNvSpPr/>
          <p:nvPr/>
        </p:nvSpPr>
        <p:spPr>
          <a:xfrm>
            <a:off x="528320" y="3821176"/>
            <a:ext cx="9555480" cy="475488"/>
          </a:xfrm>
          <a:prstGeom prst="roundRect">
            <a:avLst>
              <a:gd name="adj" fmla="val 20000"/>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209" name="Circle 209"/>
          <p:cNvSpPr txBox="1"/>
          <p:nvPr/>
        </p:nvSpPr>
        <p:spPr>
          <a:xfrm>
            <a:off x="665480" y="3903472"/>
            <a:ext cx="310896" cy="310896"/>
          </a:xfrm>
          <a:prstGeom prst="ellipse">
            <a:avLst/>
          </a:prstGeom>
          <a:solidFill>
            <a:schemeClr val="accent1"/>
          </a:solidFill>
          <a:ln>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210" name="Text 210"/>
          <p:cNvSpPr txBox="1"/>
          <p:nvPr/>
        </p:nvSpPr>
        <p:spPr>
          <a:xfrm>
            <a:off x="1076960" y="3821176"/>
            <a:ext cx="1691640" cy="475488"/>
          </a:xfrm>
          <a:prstGeom prst="rect">
            <a:avLst/>
          </a:prstGeom>
          <a:noFill/>
          <a:ln>
            <a:noFill/>
          </a:ln>
        </p:spPr>
        <p:txBody>
          <a:bodyPr wrap="square" lIns="0" tIns="0" rIns="0" bIns="0" rtlCol="0" anchor="ctr"/>
          <a:lstStyle/>
          <a:p>
            <a:pPr marL="0" indent="0" algn="l">
              <a:buNone/>
            </a:pPr>
            <a:r>
              <a:rPr lang="en-US" sz="850" b="1" dirty="0">
                <a:solidFill>
                  <a:schemeClr val="accent1"/>
                </a:solidFill>
              </a:rPr>
              <a:t>SO2</a:t>
            </a:r>
            <a:endParaRPr lang="en-US" sz="850" dirty="0"/>
          </a:p>
          <a:p>
            <a:pPr marL="0" indent="0" algn="l">
              <a:buNone/>
            </a:pPr>
            <a:r>
              <a:rPr lang="en-US" sz="1050" b="1" dirty="0">
                <a:solidFill>
                  <a:schemeClr val="tx1"/>
                </a:solidFill>
              </a:rPr>
              <a:t>Cost foresight</a:t>
            </a:r>
            <a:endParaRPr lang="en-US" sz="1050" dirty="0"/>
          </a:p>
        </p:txBody>
      </p:sp>
      <p:sp>
        <p:nvSpPr>
          <p:cNvPr id="212" name="Line 212"/>
          <p:cNvSpPr/>
          <p:nvPr/>
        </p:nvSpPr>
        <p:spPr>
          <a:xfrm>
            <a:off x="5242052" y="4058920"/>
            <a:ext cx="219456" cy="0"/>
          </a:xfrm>
          <a:prstGeom prst="line">
            <a:avLst/>
          </a:prstGeom>
          <a:noFill/>
          <a:ln w="19050">
            <a:solidFill>
              <a:schemeClr val="accent6"/>
            </a:solidFill>
          </a:ln>
        </p:spPr>
        <p:txBody>
          <a:bodyPr/>
          <a:lstStyle/>
          <a:p>
            <a:endParaRPr lang="es-CL"/>
          </a:p>
        </p:txBody>
      </p:sp>
      <p:sp>
        <p:nvSpPr>
          <p:cNvPr id="213" name="Shape 213"/>
          <p:cNvSpPr txBox="1"/>
          <p:nvPr/>
        </p:nvSpPr>
        <p:spPr>
          <a:xfrm>
            <a:off x="6801104" y="3876040"/>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Choice experiment: blind vs. costed</a:t>
            </a:r>
            <a:endParaRPr lang="en-US" sz="850" dirty="0"/>
          </a:p>
        </p:txBody>
      </p:sp>
      <p:sp>
        <p:nvSpPr>
          <p:cNvPr id="214" name="Line 214"/>
          <p:cNvSpPr/>
          <p:nvPr/>
        </p:nvSpPr>
        <p:spPr>
          <a:xfrm>
            <a:off x="9128252" y="4058920"/>
            <a:ext cx="219456" cy="0"/>
          </a:xfrm>
          <a:prstGeom prst="line">
            <a:avLst/>
          </a:prstGeom>
          <a:noFill/>
          <a:ln w="19050">
            <a:solidFill>
              <a:schemeClr val="accent6"/>
            </a:solidFill>
          </a:ln>
        </p:spPr>
        <p:txBody>
          <a:bodyPr/>
          <a:lstStyle/>
          <a:p>
            <a:endParaRPr lang="es-CL"/>
          </a:p>
        </p:txBody>
      </p:sp>
      <p:sp>
        <p:nvSpPr>
          <p:cNvPr id="215" name="Shape 215"/>
          <p:cNvSpPr txBox="1"/>
          <p:nvPr/>
        </p:nvSpPr>
        <p:spPr>
          <a:xfrm>
            <a:off x="10175240" y="3821176"/>
            <a:ext cx="1444752" cy="475488"/>
          </a:xfrm>
          <a:prstGeom prst="roundRect">
            <a:avLst>
              <a:gd name="adj" fmla="val 20000"/>
            </a:avLst>
          </a:prstGeom>
          <a:solidFill>
            <a:schemeClr val="accent3"/>
          </a:solidFill>
          <a:ln>
            <a:noFill/>
          </a:ln>
        </p:spPr>
        <p:txBody>
          <a:bodyPr wrap="square" lIns="128016" tIns="0" rIns="91440" bIns="0" rtlCol="0" anchor="ctr"/>
          <a:lstStyle/>
          <a:p>
            <a:pPr marL="0" indent="0" algn="l">
              <a:lnSpc>
                <a:spcPct val="90000"/>
              </a:lnSpc>
              <a:buNone/>
            </a:pPr>
            <a:r>
              <a:rPr lang="en-US" sz="950" b="1" dirty="0">
                <a:solidFill>
                  <a:schemeClr val="accent1"/>
                </a:solidFill>
              </a:rPr>
              <a:t>Offer rule and margin</a:t>
            </a:r>
            <a:endParaRPr lang="en-US" sz="950" dirty="0"/>
          </a:p>
        </p:txBody>
      </p:sp>
      <p:sp>
        <p:nvSpPr>
          <p:cNvPr id="216" name="Shape 216"/>
          <p:cNvSpPr/>
          <p:nvPr/>
        </p:nvSpPr>
        <p:spPr>
          <a:xfrm>
            <a:off x="528320" y="4360672"/>
            <a:ext cx="9555480" cy="475488"/>
          </a:xfrm>
          <a:prstGeom prst="roundRect">
            <a:avLst>
              <a:gd name="adj" fmla="val 20000"/>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217" name="Circle 217"/>
          <p:cNvSpPr txBox="1"/>
          <p:nvPr/>
        </p:nvSpPr>
        <p:spPr>
          <a:xfrm>
            <a:off x="665480" y="4442968"/>
            <a:ext cx="310896" cy="310896"/>
          </a:xfrm>
          <a:prstGeom prst="ellipse">
            <a:avLst/>
          </a:prstGeom>
          <a:solidFill>
            <a:schemeClr val="accent1"/>
          </a:solidFill>
          <a:ln>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218" name="Text 218"/>
          <p:cNvSpPr txBox="1"/>
          <p:nvPr/>
        </p:nvSpPr>
        <p:spPr>
          <a:xfrm>
            <a:off x="1076960" y="4360672"/>
            <a:ext cx="1691640" cy="475488"/>
          </a:xfrm>
          <a:prstGeom prst="rect">
            <a:avLst/>
          </a:prstGeom>
          <a:noFill/>
          <a:ln>
            <a:noFill/>
          </a:ln>
        </p:spPr>
        <p:txBody>
          <a:bodyPr wrap="square" lIns="0" tIns="0" rIns="0" bIns="0" rtlCol="0" anchor="ctr"/>
          <a:lstStyle/>
          <a:p>
            <a:pPr marL="0" indent="0" algn="l">
              <a:buNone/>
            </a:pPr>
            <a:r>
              <a:rPr lang="en-US" sz="850" b="1" dirty="0">
                <a:solidFill>
                  <a:schemeClr val="accent1"/>
                </a:solidFill>
              </a:rPr>
              <a:t>SO3</a:t>
            </a:r>
            <a:endParaRPr lang="en-US" sz="850" dirty="0"/>
          </a:p>
          <a:p>
            <a:pPr marL="0" indent="0" algn="l">
              <a:buNone/>
            </a:pPr>
            <a:r>
              <a:rPr lang="en-US" sz="1050" b="1" dirty="0">
                <a:solidFill>
                  <a:schemeClr val="tx1"/>
                </a:solidFill>
              </a:rPr>
              <a:t>Adoption barriers</a:t>
            </a:r>
            <a:endParaRPr lang="en-US" sz="1050" dirty="0"/>
          </a:p>
        </p:txBody>
      </p:sp>
      <p:sp>
        <p:nvSpPr>
          <p:cNvPr id="219" name="Shape 219"/>
          <p:cNvSpPr txBox="1"/>
          <p:nvPr/>
        </p:nvSpPr>
        <p:spPr>
          <a:xfrm>
            <a:off x="2914904" y="4415536"/>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Objections to AI</a:t>
            </a:r>
            <a:endParaRPr lang="en-US" sz="850" dirty="0"/>
          </a:p>
        </p:txBody>
      </p:sp>
      <p:sp>
        <p:nvSpPr>
          <p:cNvPr id="220" name="Shape 220"/>
          <p:cNvSpPr txBox="1"/>
          <p:nvPr/>
        </p:nvSpPr>
        <p:spPr>
          <a:xfrm>
            <a:off x="4606544" y="4415536"/>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Fear of fraud</a:t>
            </a:r>
            <a:endParaRPr lang="en-US" sz="850" dirty="0"/>
          </a:p>
        </p:txBody>
      </p:sp>
      <p:sp>
        <p:nvSpPr>
          <p:cNvPr id="221" name="Shape 221"/>
          <p:cNvSpPr txBox="1"/>
          <p:nvPr/>
        </p:nvSpPr>
        <p:spPr>
          <a:xfrm>
            <a:off x="6801104" y="4415536"/>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Criticality, Likert 1–5</a:t>
            </a:r>
            <a:endParaRPr lang="en-US" sz="850" dirty="0"/>
          </a:p>
        </p:txBody>
      </p:sp>
      <p:sp>
        <p:nvSpPr>
          <p:cNvPr id="222" name="Shape 222"/>
          <p:cNvSpPr txBox="1"/>
          <p:nvPr/>
        </p:nvSpPr>
        <p:spPr>
          <a:xfrm>
            <a:off x="8492744" y="4415536"/>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How common each fear is</a:t>
            </a:r>
            <a:endParaRPr lang="en-US" sz="850" dirty="0"/>
          </a:p>
        </p:txBody>
      </p:sp>
      <p:sp>
        <p:nvSpPr>
          <p:cNvPr id="223" name="Text 223"/>
          <p:cNvSpPr txBox="1"/>
          <p:nvPr/>
        </p:nvSpPr>
        <p:spPr>
          <a:xfrm>
            <a:off x="6215888" y="4360672"/>
            <a:ext cx="457200" cy="475488"/>
          </a:xfrm>
          <a:prstGeom prst="rect">
            <a:avLst/>
          </a:prstGeom>
          <a:noFill/>
          <a:ln>
            <a:noFill/>
          </a:ln>
        </p:spPr>
        <p:txBody>
          <a:bodyPr wrap="square" lIns="0" tIns="0" rIns="0" bIns="0" rtlCol="0" anchor="ctr"/>
          <a:lstStyle/>
          <a:p>
            <a:pPr marL="0" indent="0" algn="ctr">
              <a:buNone/>
            </a:pPr>
            <a:r>
              <a:rPr lang="en-US" sz="1400" b="1" dirty="0">
                <a:solidFill>
                  <a:schemeClr val="accent4"/>
                </a:solidFill>
              </a:rPr>
              <a:t>→</a:t>
            </a:r>
            <a:endParaRPr lang="en-US" sz="1400" dirty="0"/>
          </a:p>
        </p:txBody>
      </p:sp>
      <p:sp>
        <p:nvSpPr>
          <p:cNvPr id="224" name="Shape 224"/>
          <p:cNvSpPr txBox="1"/>
          <p:nvPr/>
        </p:nvSpPr>
        <p:spPr>
          <a:xfrm>
            <a:off x="10175240" y="4360672"/>
            <a:ext cx="1444752" cy="475488"/>
          </a:xfrm>
          <a:prstGeom prst="roundRect">
            <a:avLst>
              <a:gd name="adj" fmla="val 20000"/>
            </a:avLst>
          </a:prstGeom>
          <a:solidFill>
            <a:schemeClr val="accent3"/>
          </a:solidFill>
          <a:ln>
            <a:noFill/>
          </a:ln>
        </p:spPr>
        <p:txBody>
          <a:bodyPr wrap="square" lIns="128016" tIns="0" rIns="91440" bIns="0" rtlCol="0" anchor="ctr"/>
          <a:lstStyle/>
          <a:p>
            <a:pPr marL="0" indent="0" algn="l">
              <a:lnSpc>
                <a:spcPct val="90000"/>
              </a:lnSpc>
              <a:buNone/>
            </a:pPr>
            <a:r>
              <a:rPr lang="en-US" sz="950" b="1" dirty="0">
                <a:solidFill>
                  <a:schemeClr val="accent1"/>
                </a:solidFill>
              </a:rPr>
              <a:t>How the report explains itself</a:t>
            </a:r>
            <a:endParaRPr lang="en-US" sz="950" dirty="0"/>
          </a:p>
        </p:txBody>
      </p:sp>
      <p:sp>
        <p:nvSpPr>
          <p:cNvPr id="225" name="Shape 225"/>
          <p:cNvSpPr/>
          <p:nvPr/>
        </p:nvSpPr>
        <p:spPr>
          <a:xfrm>
            <a:off x="528320" y="4900168"/>
            <a:ext cx="9555480" cy="475488"/>
          </a:xfrm>
          <a:prstGeom prst="roundRect">
            <a:avLst>
              <a:gd name="adj" fmla="val 20000"/>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226" name="Circle 226"/>
          <p:cNvSpPr txBox="1"/>
          <p:nvPr/>
        </p:nvSpPr>
        <p:spPr>
          <a:xfrm>
            <a:off x="665480" y="4982464"/>
            <a:ext cx="310896" cy="310896"/>
          </a:xfrm>
          <a:prstGeom prst="ellipse">
            <a:avLst/>
          </a:prstGeom>
          <a:solidFill>
            <a:schemeClr val="accent1"/>
          </a:solidFill>
          <a:ln>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227" name="Text 227"/>
          <p:cNvSpPr txBox="1"/>
          <p:nvPr/>
        </p:nvSpPr>
        <p:spPr>
          <a:xfrm>
            <a:off x="1076960" y="4900168"/>
            <a:ext cx="1691640" cy="475488"/>
          </a:xfrm>
          <a:prstGeom prst="rect">
            <a:avLst/>
          </a:prstGeom>
          <a:noFill/>
          <a:ln>
            <a:noFill/>
          </a:ln>
        </p:spPr>
        <p:txBody>
          <a:bodyPr wrap="square" lIns="0" tIns="0" rIns="0" bIns="0" rtlCol="0" anchor="ctr"/>
          <a:lstStyle/>
          <a:p>
            <a:pPr marL="0" indent="0" algn="l">
              <a:buNone/>
            </a:pPr>
            <a:r>
              <a:rPr lang="en-US" sz="850" b="1" dirty="0">
                <a:solidFill>
                  <a:schemeClr val="accent1"/>
                </a:solidFill>
              </a:rPr>
              <a:t>SO4</a:t>
            </a:r>
            <a:endParaRPr lang="en-US" sz="850" dirty="0"/>
          </a:p>
          <a:p>
            <a:pPr marL="0" indent="0" algn="l">
              <a:buNone/>
            </a:pPr>
            <a:r>
              <a:rPr lang="en-US" sz="1050" b="1" dirty="0">
                <a:solidFill>
                  <a:schemeClr val="tx1"/>
                </a:solidFill>
              </a:rPr>
              <a:t>Workshop experience</a:t>
            </a:r>
            <a:endParaRPr lang="en-US" sz="1050" dirty="0"/>
          </a:p>
        </p:txBody>
      </p:sp>
      <p:sp>
        <p:nvSpPr>
          <p:cNvPr id="228" name="Shape 228"/>
          <p:cNvSpPr txBox="1"/>
          <p:nvPr/>
        </p:nvSpPr>
        <p:spPr>
          <a:xfrm>
            <a:off x="2914904" y="4955032"/>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Where time is lost</a:t>
            </a:r>
            <a:endParaRPr lang="en-US" sz="850" dirty="0"/>
          </a:p>
        </p:txBody>
      </p:sp>
      <p:sp>
        <p:nvSpPr>
          <p:cNvPr id="229" name="Line 229"/>
          <p:cNvSpPr/>
          <p:nvPr/>
        </p:nvSpPr>
        <p:spPr>
          <a:xfrm>
            <a:off x="5242052" y="5137912"/>
            <a:ext cx="219456" cy="0"/>
          </a:xfrm>
          <a:prstGeom prst="line">
            <a:avLst/>
          </a:prstGeom>
          <a:noFill/>
          <a:ln w="19050">
            <a:solidFill>
              <a:schemeClr val="accent6"/>
            </a:solidFill>
          </a:ln>
        </p:spPr>
        <p:txBody>
          <a:bodyPr/>
          <a:lstStyle/>
          <a:p>
            <a:endParaRPr lang="es-CL"/>
          </a:p>
        </p:txBody>
      </p:sp>
      <p:sp>
        <p:nvSpPr>
          <p:cNvPr id="230" name="Shape 230"/>
          <p:cNvSpPr txBox="1"/>
          <p:nvPr/>
        </p:nvSpPr>
        <p:spPr>
          <a:xfrm>
            <a:off x="6801104" y="4955032"/>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Days stopped, hours to quote</a:t>
            </a:r>
            <a:endParaRPr lang="en-US" sz="850" dirty="0"/>
          </a:p>
        </p:txBody>
      </p:sp>
      <p:sp>
        <p:nvSpPr>
          <p:cNvPr id="231" name="Line 231"/>
          <p:cNvSpPr/>
          <p:nvPr/>
        </p:nvSpPr>
        <p:spPr>
          <a:xfrm>
            <a:off x="9128252" y="5137912"/>
            <a:ext cx="219456" cy="0"/>
          </a:xfrm>
          <a:prstGeom prst="line">
            <a:avLst/>
          </a:prstGeom>
          <a:noFill/>
          <a:ln w="19050">
            <a:solidFill>
              <a:schemeClr val="accent6"/>
            </a:solidFill>
          </a:ln>
        </p:spPr>
        <p:txBody>
          <a:bodyPr/>
          <a:lstStyle/>
          <a:p>
            <a:endParaRPr lang="es-CL"/>
          </a:p>
        </p:txBody>
      </p:sp>
      <p:sp>
        <p:nvSpPr>
          <p:cNvPr id="232" name="Text 232"/>
          <p:cNvSpPr txBox="1"/>
          <p:nvPr/>
        </p:nvSpPr>
        <p:spPr>
          <a:xfrm>
            <a:off x="6215888" y="4900168"/>
            <a:ext cx="457200" cy="475488"/>
          </a:xfrm>
          <a:prstGeom prst="rect">
            <a:avLst/>
          </a:prstGeom>
          <a:noFill/>
          <a:ln>
            <a:noFill/>
          </a:ln>
        </p:spPr>
        <p:txBody>
          <a:bodyPr wrap="square" lIns="0" tIns="0" rIns="0" bIns="0" rtlCol="0" anchor="ctr"/>
          <a:lstStyle/>
          <a:p>
            <a:pPr marL="0" indent="0" algn="ctr">
              <a:buNone/>
            </a:pPr>
            <a:r>
              <a:rPr lang="en-US" sz="1400" b="1" dirty="0">
                <a:solidFill>
                  <a:schemeClr val="accent4"/>
                </a:solidFill>
              </a:rPr>
              <a:t>→</a:t>
            </a:r>
            <a:endParaRPr lang="en-US" sz="1400" dirty="0"/>
          </a:p>
        </p:txBody>
      </p:sp>
      <p:sp>
        <p:nvSpPr>
          <p:cNvPr id="233" name="Shape 233"/>
          <p:cNvSpPr txBox="1"/>
          <p:nvPr/>
        </p:nvSpPr>
        <p:spPr>
          <a:xfrm>
            <a:off x="10175240" y="4900168"/>
            <a:ext cx="1444752" cy="475488"/>
          </a:xfrm>
          <a:prstGeom prst="roundRect">
            <a:avLst>
              <a:gd name="adj" fmla="val 20000"/>
            </a:avLst>
          </a:prstGeom>
          <a:solidFill>
            <a:schemeClr val="accent3"/>
          </a:solidFill>
          <a:ln>
            <a:noFill/>
          </a:ln>
        </p:spPr>
        <p:txBody>
          <a:bodyPr wrap="square" lIns="128016" tIns="0" rIns="91440" bIns="0" rtlCol="0" anchor="ctr"/>
          <a:lstStyle/>
          <a:p>
            <a:pPr marL="0" indent="0" algn="l">
              <a:lnSpc>
                <a:spcPct val="90000"/>
              </a:lnSpc>
              <a:buNone/>
            </a:pPr>
            <a:r>
              <a:rPr lang="en-US" sz="950" b="1" dirty="0">
                <a:solidFill>
                  <a:schemeClr val="accent1"/>
                </a:solidFill>
              </a:rPr>
              <a:t>App flow and timing</a:t>
            </a:r>
            <a:endParaRPr lang="en-US" sz="950" dirty="0"/>
          </a:p>
        </p:txBody>
      </p:sp>
      <p:sp>
        <p:nvSpPr>
          <p:cNvPr id="234" name="Shape 234"/>
          <p:cNvSpPr/>
          <p:nvPr/>
        </p:nvSpPr>
        <p:spPr>
          <a:xfrm>
            <a:off x="528320" y="5439664"/>
            <a:ext cx="9555480" cy="475488"/>
          </a:xfrm>
          <a:prstGeom prst="roundRect">
            <a:avLst>
              <a:gd name="adj" fmla="val 20000"/>
            </a:avLst>
          </a:prstGeom>
          <a:solidFill>
            <a:schemeClr val="bg1"/>
          </a:solidFill>
          <a:ln>
            <a:noFill/>
          </a:ln>
          <a:effectLst>
            <a:outerShdw blurRad="152400" dist="38100" dir="5400000" algn="bl" rotWithShape="0">
              <a:srgbClr val="12141C">
                <a:alpha val="13000"/>
              </a:srgbClr>
            </a:outerShdw>
          </a:effectLst>
        </p:spPr>
        <p:txBody>
          <a:bodyPr/>
          <a:lstStyle/>
          <a:p>
            <a:endParaRPr lang="es-CL"/>
          </a:p>
        </p:txBody>
      </p:sp>
      <p:sp>
        <p:nvSpPr>
          <p:cNvPr id="235" name="Circle 235"/>
          <p:cNvSpPr txBox="1"/>
          <p:nvPr/>
        </p:nvSpPr>
        <p:spPr>
          <a:xfrm>
            <a:off x="665480" y="5521960"/>
            <a:ext cx="310896" cy="310896"/>
          </a:xfrm>
          <a:prstGeom prst="ellipse">
            <a:avLst/>
          </a:prstGeom>
          <a:solidFill>
            <a:schemeClr val="accent1"/>
          </a:solidFill>
          <a:ln>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36" name="Text 236"/>
          <p:cNvSpPr txBox="1"/>
          <p:nvPr/>
        </p:nvSpPr>
        <p:spPr>
          <a:xfrm>
            <a:off x="1076960" y="5439664"/>
            <a:ext cx="1691640" cy="475488"/>
          </a:xfrm>
          <a:prstGeom prst="rect">
            <a:avLst/>
          </a:prstGeom>
          <a:noFill/>
          <a:ln>
            <a:noFill/>
          </a:ln>
        </p:spPr>
        <p:txBody>
          <a:bodyPr wrap="square" lIns="0" tIns="0" rIns="0" bIns="0" rtlCol="0" anchor="ctr"/>
          <a:lstStyle/>
          <a:p>
            <a:pPr marL="0" indent="0" algn="l">
              <a:buNone/>
            </a:pPr>
            <a:r>
              <a:rPr lang="en-US" sz="850" b="1" dirty="0">
                <a:solidFill>
                  <a:schemeClr val="accent1"/>
                </a:solidFill>
              </a:rPr>
              <a:t>SO5</a:t>
            </a:r>
            <a:endParaRPr lang="en-US" sz="850" dirty="0"/>
          </a:p>
          <a:p>
            <a:pPr marL="0" indent="0" algn="l">
              <a:buNone/>
            </a:pPr>
            <a:r>
              <a:rPr lang="en-US" sz="1050" b="1" dirty="0">
                <a:solidFill>
                  <a:schemeClr val="tx1"/>
                </a:solidFill>
              </a:rPr>
              <a:t>Appeal and adoption</a:t>
            </a:r>
            <a:endParaRPr lang="en-US" sz="1050" dirty="0"/>
          </a:p>
        </p:txBody>
      </p:sp>
      <p:sp>
        <p:nvSpPr>
          <p:cNvPr id="238" name="Shape 238"/>
          <p:cNvSpPr txBox="1"/>
          <p:nvPr/>
        </p:nvSpPr>
        <p:spPr>
          <a:xfrm>
            <a:off x="2914904" y="5494528"/>
            <a:ext cx="3181096"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First reaction to the prototype</a:t>
            </a:r>
            <a:endParaRPr lang="en-US" sz="850" dirty="0"/>
          </a:p>
        </p:txBody>
      </p:sp>
      <p:sp>
        <p:nvSpPr>
          <p:cNvPr id="239" name="Shape 239"/>
          <p:cNvSpPr txBox="1"/>
          <p:nvPr/>
        </p:nvSpPr>
        <p:spPr>
          <a:xfrm>
            <a:off x="6801104" y="5494528"/>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Concept test, Top-2 Box</a:t>
            </a:r>
            <a:endParaRPr lang="en-US" sz="850" dirty="0">
              <a:solidFill>
                <a:schemeClr val="bg1"/>
              </a:solidFill>
            </a:endParaRPr>
          </a:p>
        </p:txBody>
      </p:sp>
      <p:sp>
        <p:nvSpPr>
          <p:cNvPr id="240" name="Shape 240"/>
          <p:cNvSpPr txBox="1"/>
          <p:nvPr/>
        </p:nvSpPr>
        <p:spPr>
          <a:xfrm>
            <a:off x="8492744" y="5494528"/>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Intent + PSM</a:t>
            </a:r>
            <a:endParaRPr lang="en-US" sz="850" dirty="0"/>
          </a:p>
        </p:txBody>
      </p:sp>
      <p:sp>
        <p:nvSpPr>
          <p:cNvPr id="241" name="Text 241"/>
          <p:cNvSpPr txBox="1"/>
          <p:nvPr/>
        </p:nvSpPr>
        <p:spPr>
          <a:xfrm>
            <a:off x="6215888" y="5439664"/>
            <a:ext cx="457200" cy="475488"/>
          </a:xfrm>
          <a:prstGeom prst="rect">
            <a:avLst/>
          </a:prstGeom>
          <a:noFill/>
          <a:ln>
            <a:noFill/>
          </a:ln>
        </p:spPr>
        <p:txBody>
          <a:bodyPr wrap="square" lIns="0" tIns="0" rIns="0" bIns="0" rtlCol="0" anchor="ctr"/>
          <a:lstStyle/>
          <a:p>
            <a:pPr marL="0" indent="0" algn="ctr">
              <a:buNone/>
            </a:pPr>
            <a:r>
              <a:rPr lang="en-US" sz="1400" b="1" dirty="0">
                <a:solidFill>
                  <a:schemeClr val="accent4"/>
                </a:solidFill>
              </a:rPr>
              <a:t>→</a:t>
            </a:r>
            <a:endParaRPr lang="en-US" sz="1400" dirty="0"/>
          </a:p>
        </p:txBody>
      </p:sp>
      <p:sp>
        <p:nvSpPr>
          <p:cNvPr id="242" name="Shape 242"/>
          <p:cNvSpPr txBox="1"/>
          <p:nvPr/>
        </p:nvSpPr>
        <p:spPr>
          <a:xfrm>
            <a:off x="10175240" y="5439664"/>
            <a:ext cx="1444752" cy="475488"/>
          </a:xfrm>
          <a:prstGeom prst="roundRect">
            <a:avLst>
              <a:gd name="adj" fmla="val 20000"/>
            </a:avLst>
          </a:prstGeom>
          <a:solidFill>
            <a:schemeClr val="accent3"/>
          </a:solidFill>
          <a:ln>
            <a:noFill/>
          </a:ln>
        </p:spPr>
        <p:txBody>
          <a:bodyPr wrap="square" lIns="128016" tIns="0" rIns="91440" bIns="0" rtlCol="0" anchor="ctr"/>
          <a:lstStyle/>
          <a:p>
            <a:pPr marL="0" indent="0" algn="l">
              <a:lnSpc>
                <a:spcPct val="90000"/>
              </a:lnSpc>
              <a:buNone/>
            </a:pPr>
            <a:r>
              <a:rPr lang="en-US" sz="950" b="1" dirty="0">
                <a:solidFill>
                  <a:schemeClr val="accent1"/>
                </a:solidFill>
              </a:rPr>
              <a:t>B2B and B2C prices</a:t>
            </a:r>
            <a:endParaRPr lang="en-US" sz="950" dirty="0"/>
          </a:p>
        </p:txBody>
      </p:sp>
      <p:sp>
        <p:nvSpPr>
          <p:cNvPr id="243" name="sparkle 243"/>
          <p:cNvSpPr/>
          <p:nvPr/>
        </p:nvSpPr>
        <p:spPr>
          <a:xfrm>
            <a:off x="11430000" y="1920240"/>
            <a:ext cx="384048" cy="384048"/>
          </a:xfrm>
          <a:prstGeom prst="star4">
            <a:avLst/>
          </a:prstGeom>
          <a:solidFill>
            <a:schemeClr val="accent2"/>
          </a:solidFill>
          <a:ln>
            <a:noFill/>
          </a:ln>
        </p:spPr>
        <p:txBody>
          <a:bodyPr/>
          <a:lstStyle/>
          <a:p>
            <a:endParaRPr lang="es-CL"/>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9</a:t>
            </a:fld>
            <a:endParaRPr lang="en-US"/>
          </a:p>
        </p:txBody>
      </p:sp>
      <p:sp>
        <p:nvSpPr>
          <p:cNvPr id="5" name="Shape 219">
            <a:extLst>
              <a:ext uri="{FF2B5EF4-FFF2-40B4-BE49-F238E27FC236}">
                <a16:creationId xmlns:a16="http://schemas.microsoft.com/office/drawing/2014/main" id="{DFADE5C1-3F6C-B515-EEE9-0A648DBBA2AC}"/>
              </a:ext>
            </a:extLst>
          </p:cNvPr>
          <p:cNvSpPr txBox="1"/>
          <p:nvPr/>
        </p:nvSpPr>
        <p:spPr>
          <a:xfrm>
            <a:off x="2914904" y="3876040"/>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Hidden costs</a:t>
            </a:r>
            <a:endParaRPr lang="en-US" sz="850" dirty="0"/>
          </a:p>
        </p:txBody>
      </p:sp>
      <p:sp>
        <p:nvSpPr>
          <p:cNvPr id="7" name="Shape 202">
            <a:extLst>
              <a:ext uri="{FF2B5EF4-FFF2-40B4-BE49-F238E27FC236}">
                <a16:creationId xmlns:a16="http://schemas.microsoft.com/office/drawing/2014/main" id="{BB19FE01-9669-E342-9F39-8A15E6985F5A}"/>
              </a:ext>
            </a:extLst>
          </p:cNvPr>
          <p:cNvSpPr txBox="1"/>
          <p:nvPr/>
        </p:nvSpPr>
        <p:spPr>
          <a:xfrm>
            <a:off x="4616704" y="3341519"/>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marL="0" indent="0" algn="ctr">
              <a:lnSpc>
                <a:spcPct val="88000"/>
              </a:lnSpc>
              <a:buNone/>
            </a:pPr>
            <a:r>
              <a:rPr lang="en-US" sz="850" b="1" dirty="0">
                <a:solidFill>
                  <a:schemeClr val="accent1"/>
                </a:solidFill>
              </a:rPr>
              <a:t>Impact in the buying decision</a:t>
            </a:r>
            <a:endParaRPr lang="en-US" sz="850" dirty="0"/>
          </a:p>
        </p:txBody>
      </p:sp>
      <p:sp>
        <p:nvSpPr>
          <p:cNvPr id="8" name="Shape 204">
            <a:extLst>
              <a:ext uri="{FF2B5EF4-FFF2-40B4-BE49-F238E27FC236}">
                <a16:creationId xmlns:a16="http://schemas.microsoft.com/office/drawing/2014/main" id="{142EE15F-DB85-52F7-D3B8-DC2BF960B477}"/>
              </a:ext>
            </a:extLst>
          </p:cNvPr>
          <p:cNvSpPr txBox="1"/>
          <p:nvPr/>
        </p:nvSpPr>
        <p:spPr>
          <a:xfrm>
            <a:off x="8483600" y="3334512"/>
            <a:ext cx="1490472" cy="365760"/>
          </a:xfrm>
          <a:prstGeom prst="roundRect">
            <a:avLst>
              <a:gd name="adj" fmla="val 50000"/>
            </a:avLst>
          </a:prstGeom>
          <a:solidFill>
            <a:schemeClr val="accent1"/>
          </a:solidFill>
          <a:ln>
            <a:noFill/>
          </a:ln>
        </p:spPr>
        <p:txBody>
          <a:bodyPr wrap="square" lIns="73152" tIns="0" rIns="73152" bIns="0" rtlCol="0" anchor="ctr"/>
          <a:lstStyle/>
          <a:p>
            <a:pPr marL="0" indent="0" algn="ctr">
              <a:lnSpc>
                <a:spcPct val="88000"/>
              </a:lnSpc>
              <a:buNone/>
            </a:pPr>
            <a:r>
              <a:rPr lang="en-US" sz="850" b="1" dirty="0">
                <a:solidFill>
                  <a:schemeClr val="bg1"/>
                </a:solidFill>
              </a:rPr>
              <a:t>Most relevant aspects, Likert 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seba-Documents-Visual-Studio-Proyectos-Acad-micos-Marketing/f45da085-a5d6-4f69-9770-44d4abda6eac/scratchpad/v3x/ppt/media/image-1-1.png"/>
          <p:cNvPicPr>
            <a:picLocks noChangeAspect="1"/>
          </p:cNvPicPr>
          <p:nvPr/>
        </p:nvPicPr>
        <p:blipFill>
          <a:blip r:embed="rId3"/>
          <a:stretch>
            <a:fillRect/>
          </a:stretch>
        </p:blipFill>
        <p:spPr>
          <a:xfrm>
            <a:off x="548640" y="411480"/>
            <a:ext cx="1463040" cy="512064"/>
          </a:xfrm>
          <a:prstGeom prst="rect">
            <a:avLst/>
          </a:prstGeom>
        </p:spPr>
      </p:pic>
      <p:sp>
        <p:nvSpPr>
          <p:cNvPr id="3" name="Text 0"/>
          <p:cNvSpPr txBox="1"/>
          <p:nvPr/>
        </p:nvSpPr>
        <p:spPr>
          <a:xfrm>
            <a:off x="384048" y="960120"/>
            <a:ext cx="11430000" cy="1783080"/>
          </a:xfrm>
          <a:prstGeom prst="rect">
            <a:avLst/>
          </a:prstGeom>
          <a:noFill/>
          <a:ln/>
        </p:spPr>
        <p:txBody>
          <a:bodyPr wrap="square" lIns="0" tIns="0" rIns="0" bIns="0" rtlCol="0" anchor="ctr"/>
          <a:lstStyle/>
          <a:p>
            <a:pPr marL="0" indent="0">
              <a:buNone/>
            </a:pPr>
            <a:r>
              <a:rPr lang="en-US" sz="13000" b="1" dirty="0">
                <a:solidFill>
                  <a:schemeClr val="bg1"/>
                </a:solidFill>
              </a:rPr>
              <a:t>Thank you</a:t>
            </a:r>
            <a:endParaRPr lang="en-US" sz="13000" dirty="0"/>
          </a:p>
        </p:txBody>
      </p:sp>
      <p:sp>
        <p:nvSpPr>
          <p:cNvPr id="4" name="sparkle"/>
          <p:cNvSpPr/>
          <p:nvPr/>
        </p:nvSpPr>
        <p:spPr>
          <a:xfrm>
            <a:off x="10241280" y="914400"/>
            <a:ext cx="685800" cy="685800"/>
          </a:xfrm>
          <a:prstGeom prst="star4">
            <a:avLst/>
          </a:prstGeom>
          <a:solidFill>
            <a:schemeClr val="accent2"/>
          </a:solidFill>
          <a:ln/>
        </p:spPr>
        <p:txBody>
          <a:bodyPr/>
          <a:lstStyle/>
          <a:p>
            <a:endParaRPr lang="es-CL"/>
          </a:p>
        </p:txBody>
      </p:sp>
      <p:sp>
        <p:nvSpPr>
          <p:cNvPr id="5" name="Text 2"/>
          <p:cNvSpPr txBox="1"/>
          <p:nvPr/>
        </p:nvSpPr>
        <p:spPr>
          <a:xfrm rot="-72000">
            <a:off x="658368" y="3063240"/>
            <a:ext cx="2331720" cy="1005840"/>
          </a:xfrm>
          <a:prstGeom prst="roundRect">
            <a:avLst>
              <a:gd name="adj" fmla="val 27273"/>
            </a:avLst>
          </a:prstGeom>
          <a:solidFill>
            <a:schemeClr val="bg1"/>
          </a:solidFill>
          <a:ln/>
        </p:spPr>
        <p:txBody>
          <a:bodyPr wrap="square" lIns="502920" tIns="91440" rIns="182880" bIns="91440" rtlCol="0" anchor="ctr"/>
          <a:lstStyle/>
          <a:p>
            <a:pPr marL="0" indent="0">
              <a:spcAft>
                <a:spcPts val="200"/>
              </a:spcAft>
              <a:buNone/>
            </a:pPr>
            <a:r>
              <a:rPr lang="en-US" sz="1300" b="1" dirty="0">
                <a:solidFill>
                  <a:schemeClr val="accent1"/>
                </a:solidFill>
              </a:rPr>
              <a:t>Diagnosis</a:t>
            </a:r>
            <a:endParaRPr lang="en-US" sz="1100" dirty="0"/>
          </a:p>
          <a:p>
            <a:pPr marL="0" indent="0">
              <a:buNone/>
            </a:pPr>
            <a:r>
              <a:rPr lang="en-US" sz="1100" dirty="0">
                <a:solidFill>
                  <a:schemeClr val="tx1"/>
                </a:solidFill>
              </a:rPr>
              <a:t>Buyers cannot see a car's condition.</a:t>
            </a:r>
            <a:endParaRPr lang="en-US" sz="1100" dirty="0"/>
          </a:p>
        </p:txBody>
      </p:sp>
      <p:sp>
        <p:nvSpPr>
          <p:cNvPr id="6" name="Text 3"/>
          <p:cNvSpPr txBox="1"/>
          <p:nvPr/>
        </p:nvSpPr>
        <p:spPr>
          <a:xfrm>
            <a:off x="768096" y="3364992"/>
            <a:ext cx="329184" cy="329184"/>
          </a:xfrm>
          <a:prstGeom prst="ellipse">
            <a:avLst/>
          </a:prstGeom>
          <a:solidFill>
            <a:schemeClr val="accent2"/>
          </a:solidFill>
          <a:ln/>
        </p:spPr>
        <p:txBody>
          <a:bodyPr wrap="square" lIns="0" tIns="0" rIns="0" bIns="0" rtlCol="0" anchor="ctr"/>
          <a:lstStyle/>
          <a:p>
            <a:pPr marL="0" indent="0" algn="ctr">
              <a:buNone/>
            </a:pPr>
            <a:r>
              <a:rPr lang="en-US" sz="1100" b="1" dirty="0">
                <a:solidFill>
                  <a:schemeClr val="tx1"/>
                </a:solidFill>
              </a:rPr>
              <a:t>1</a:t>
            </a:r>
            <a:endParaRPr lang="en-US" sz="1100" dirty="0"/>
          </a:p>
        </p:txBody>
      </p:sp>
      <p:sp>
        <p:nvSpPr>
          <p:cNvPr id="7" name="Text 4"/>
          <p:cNvSpPr txBox="1"/>
          <p:nvPr/>
        </p:nvSpPr>
        <p:spPr>
          <a:xfrm rot="48000">
            <a:off x="3172968" y="3063240"/>
            <a:ext cx="2331720" cy="1005840"/>
          </a:xfrm>
          <a:prstGeom prst="roundRect">
            <a:avLst>
              <a:gd name="adj" fmla="val 27273"/>
            </a:avLst>
          </a:prstGeom>
          <a:solidFill>
            <a:schemeClr val="bg1"/>
          </a:solidFill>
          <a:ln/>
        </p:spPr>
        <p:txBody>
          <a:bodyPr wrap="square" lIns="502920" tIns="91440" rIns="182880" bIns="91440" rtlCol="0" anchor="ctr"/>
          <a:lstStyle/>
          <a:p>
            <a:pPr marL="0" indent="0">
              <a:spcAft>
                <a:spcPts val="200"/>
              </a:spcAft>
              <a:buNone/>
            </a:pPr>
            <a:r>
              <a:rPr lang="en-US" sz="1300" b="1" dirty="0">
                <a:solidFill>
                  <a:schemeClr val="accent1"/>
                </a:solidFill>
              </a:rPr>
              <a:t>Objective</a:t>
            </a:r>
            <a:endParaRPr lang="en-US" sz="1100" dirty="0"/>
          </a:p>
          <a:p>
            <a:pPr marL="0" indent="0">
              <a:buNone/>
            </a:pPr>
            <a:r>
              <a:rPr lang="en-US" sz="1100" dirty="0">
                <a:solidFill>
                  <a:schemeClr val="tx1"/>
                </a:solidFill>
              </a:rPr>
              <a:t>Understand what certainty is worth.</a:t>
            </a:r>
            <a:endParaRPr lang="en-US" sz="1100" dirty="0"/>
          </a:p>
        </p:txBody>
      </p:sp>
      <p:sp>
        <p:nvSpPr>
          <p:cNvPr id="8" name="Text 5"/>
          <p:cNvSpPr txBox="1"/>
          <p:nvPr/>
        </p:nvSpPr>
        <p:spPr>
          <a:xfrm>
            <a:off x="3282696" y="3364992"/>
            <a:ext cx="329184" cy="329184"/>
          </a:xfrm>
          <a:prstGeom prst="ellipse">
            <a:avLst/>
          </a:prstGeom>
          <a:solidFill>
            <a:schemeClr val="accent2"/>
          </a:solidFill>
          <a:ln/>
        </p:spPr>
        <p:txBody>
          <a:bodyPr wrap="square" lIns="0" tIns="0" rIns="0" bIns="0" rtlCol="0" anchor="ctr"/>
          <a:lstStyle/>
          <a:p>
            <a:pPr marL="0" indent="0" algn="ctr">
              <a:buNone/>
            </a:pPr>
            <a:r>
              <a:rPr lang="en-US" sz="1100" b="1" dirty="0">
                <a:solidFill>
                  <a:schemeClr val="tx1"/>
                </a:solidFill>
              </a:rPr>
              <a:t>2</a:t>
            </a:r>
            <a:endParaRPr lang="en-US" sz="1100" dirty="0"/>
          </a:p>
        </p:txBody>
      </p:sp>
      <p:sp>
        <p:nvSpPr>
          <p:cNvPr id="9" name="Text 6"/>
          <p:cNvSpPr txBox="1"/>
          <p:nvPr/>
        </p:nvSpPr>
        <p:spPr>
          <a:xfrm rot="-36000">
            <a:off x="5687568" y="3063240"/>
            <a:ext cx="2331720" cy="1005840"/>
          </a:xfrm>
          <a:prstGeom prst="roundRect">
            <a:avLst>
              <a:gd name="adj" fmla="val 27273"/>
            </a:avLst>
          </a:prstGeom>
          <a:solidFill>
            <a:schemeClr val="bg1"/>
          </a:solidFill>
          <a:ln/>
        </p:spPr>
        <p:txBody>
          <a:bodyPr wrap="square" lIns="502920" tIns="91440" rIns="182880" bIns="91440" rtlCol="0" anchor="ctr"/>
          <a:lstStyle/>
          <a:p>
            <a:pPr marL="0" indent="0">
              <a:spcAft>
                <a:spcPts val="200"/>
              </a:spcAft>
              <a:buNone/>
            </a:pPr>
            <a:r>
              <a:rPr lang="en-US" sz="1300" b="1" dirty="0">
                <a:solidFill>
                  <a:schemeClr val="accent1"/>
                </a:solidFill>
              </a:rPr>
              <a:t>Method</a:t>
            </a:r>
            <a:endParaRPr lang="en-US" sz="1100" dirty="0"/>
          </a:p>
          <a:p>
            <a:pPr marL="0" indent="0">
              <a:buNone/>
            </a:pPr>
            <a:r>
              <a:rPr lang="en-US" sz="1100" dirty="0">
                <a:solidFill>
                  <a:schemeClr val="tx1"/>
                </a:solidFill>
              </a:rPr>
              <a:t>Listen first, then measure.</a:t>
            </a:r>
            <a:endParaRPr lang="en-US" sz="1100" dirty="0"/>
          </a:p>
        </p:txBody>
      </p:sp>
      <p:sp>
        <p:nvSpPr>
          <p:cNvPr id="10" name="Text 7"/>
          <p:cNvSpPr txBox="1"/>
          <p:nvPr/>
        </p:nvSpPr>
        <p:spPr>
          <a:xfrm>
            <a:off x="5797296" y="3364992"/>
            <a:ext cx="329184" cy="329184"/>
          </a:xfrm>
          <a:prstGeom prst="ellipse">
            <a:avLst/>
          </a:prstGeom>
          <a:solidFill>
            <a:schemeClr val="accent2"/>
          </a:solidFill>
          <a:ln/>
        </p:spPr>
        <p:txBody>
          <a:bodyPr wrap="square" lIns="0" tIns="0" rIns="0" bIns="0" rtlCol="0" anchor="ctr"/>
          <a:lstStyle/>
          <a:p>
            <a:pPr marL="0" indent="0" algn="ctr">
              <a:buNone/>
            </a:pPr>
            <a:r>
              <a:rPr lang="en-US" sz="1100" b="1" dirty="0">
                <a:solidFill>
                  <a:schemeClr val="tx1"/>
                </a:solidFill>
              </a:rPr>
              <a:t>3</a:t>
            </a:r>
            <a:endParaRPr lang="en-US" sz="1100" dirty="0"/>
          </a:p>
        </p:txBody>
      </p:sp>
      <p:sp>
        <p:nvSpPr>
          <p:cNvPr id="11" name="Text 8"/>
          <p:cNvSpPr txBox="1"/>
          <p:nvPr/>
        </p:nvSpPr>
        <p:spPr>
          <a:xfrm>
            <a:off x="548640" y="4434840"/>
            <a:ext cx="1691640" cy="512064"/>
          </a:xfrm>
          <a:prstGeom prst="roundRect">
            <a:avLst>
              <a:gd name="adj" fmla="val 50000"/>
            </a:avLst>
          </a:prstGeom>
          <a:solidFill>
            <a:schemeClr val="accent2"/>
          </a:solidFill>
          <a:ln/>
        </p:spPr>
        <p:txBody>
          <a:bodyPr wrap="square" lIns="0" tIns="0" rIns="0" bIns="0" rtlCol="0" anchor="ctr"/>
          <a:lstStyle/>
          <a:p>
            <a:pPr marL="0" indent="0" algn="ctr">
              <a:buNone/>
            </a:pPr>
            <a:r>
              <a:rPr lang="en-US" sz="1600" b="1" dirty="0">
                <a:solidFill>
                  <a:schemeClr val="tx1"/>
                </a:solidFill>
              </a:rPr>
              <a:t>Questions?</a:t>
            </a:r>
            <a:endParaRPr lang="en-US" sz="1600" dirty="0"/>
          </a:p>
        </p:txBody>
      </p:sp>
      <p:pic>
        <p:nvPicPr>
          <p:cNvPr id="12" name="Image 1" descr="/private/tmp/claude-501/-Users-seba-Documents-Visual-Studio-Proyectos-Acad-micos-Marketing/f45da085-a5d6-4f69-9770-44d4abda6eac/scratchpad/v3x/ppt/media/image-1-2.png"/>
          <p:cNvPicPr>
            <a:picLocks noChangeAspect="1"/>
          </p:cNvPicPr>
          <p:nvPr/>
        </p:nvPicPr>
        <p:blipFill>
          <a:blip r:embed="rId4"/>
          <a:stretch>
            <a:fillRect/>
          </a:stretch>
        </p:blipFill>
        <p:spPr>
          <a:xfrm>
            <a:off x="6583680" y="4023360"/>
            <a:ext cx="5029200" cy="1547165"/>
          </a:xfrm>
          <a:prstGeom prst="rect">
            <a:avLst/>
          </a:prstGeom>
        </p:spPr>
      </p:pic>
      <p:sp>
        <p:nvSpPr>
          <p:cNvPr id="13" name="sparkle"/>
          <p:cNvSpPr/>
          <p:nvPr/>
        </p:nvSpPr>
        <p:spPr>
          <a:xfrm>
            <a:off x="11201400" y="3429000"/>
            <a:ext cx="347472" cy="347472"/>
          </a:xfrm>
          <a:prstGeom prst="star4">
            <a:avLst/>
          </a:prstGeom>
          <a:solidFill>
            <a:schemeClr val="bg1"/>
          </a:solidFill>
          <a:ln/>
        </p:spPr>
        <p:txBody>
          <a:bodyPr/>
          <a:lstStyle/>
          <a:p>
            <a:endParaRPr lang="es-CL"/>
          </a:p>
        </p:txBody>
      </p:sp>
      <p:sp>
        <p:nvSpPr>
          <p:cNvPr id="14" name="Text 10"/>
          <p:cNvSpPr txBox="1"/>
          <p:nvPr/>
        </p:nvSpPr>
        <p:spPr>
          <a:xfrm>
            <a:off x="548640" y="6263640"/>
            <a:ext cx="7315200" cy="274320"/>
          </a:xfrm>
          <a:prstGeom prst="rect">
            <a:avLst/>
          </a:prstGeom>
          <a:noFill/>
          <a:ln/>
        </p:spPr>
        <p:txBody>
          <a:bodyPr wrap="square" lIns="0" tIns="0" rIns="0" bIns="0" rtlCol="0" anchor="ctr"/>
          <a:lstStyle/>
          <a:p>
            <a:pPr marL="0" indent="0">
              <a:buNone/>
            </a:pPr>
            <a:r>
              <a:rPr lang="en-US" sz="1100" dirty="0">
                <a:solidFill>
                  <a:schemeClr val="accent5"/>
                </a:solidFill>
              </a:rPr>
              <a:t>InfoCar · Strategic Marketing · Universidad del Desarrollo · October 2026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841248"/>
            <a:ext cx="9692640" cy="731520"/>
          </a:xfrm>
          <a:prstGeom prst="rect">
            <a:avLst/>
          </a:prstGeom>
          <a:noFill/>
          <a:ln/>
        </p:spPr>
        <p:txBody>
          <a:bodyPr wrap="square" lIns="0" tIns="0" rIns="0" bIns="0" rtlCol="0" anchor="t"/>
          <a:lstStyle/>
          <a:p>
            <a:pPr marL="0" indent="0" algn="l">
              <a:buNone/>
            </a:pPr>
            <a:r>
              <a:rPr lang="en-US" sz="3600" b="1" dirty="0">
                <a:solidFill>
                  <a:schemeClr val="tx1"/>
                </a:solidFill>
              </a:rPr>
              <a:t>References</a:t>
            </a:r>
            <a:endParaRPr lang="en-US" sz="3600" dirty="0"/>
          </a:p>
        </p:txBody>
      </p:sp>
      <p:sp>
        <p:nvSpPr>
          <p:cNvPr id="3" name="Text 3"/>
          <p:cNvSpPr>
            <a:spLocks noGrp="1"/>
          </p:cNvSpPr>
          <p:nvPr>
            <p:ph type="body" idx="105" hasCustomPrompt="1"/>
          </p:nvPr>
        </p:nvSpPr>
        <p:spPr>
          <a:xfrm>
            <a:off x="548640" y="1536192"/>
            <a:ext cx="9692640" cy="548640"/>
          </a:xfrm>
          <a:prstGeom prst="rect">
            <a:avLst/>
          </a:prstGeom>
          <a:noFill/>
          <a:ln/>
        </p:spPr>
        <p:txBody>
          <a:bodyPr wrap="square" lIns="0" tIns="0" rIns="0" bIns="0" rtlCol="0" anchor="t"/>
          <a:lstStyle/>
          <a:p>
            <a:pPr marL="0" indent="0" algn="l">
              <a:buNone/>
            </a:pPr>
            <a:r>
              <a:rPr lang="en-US" sz="1500" dirty="0">
                <a:solidFill>
                  <a:schemeClr val="tx2"/>
                </a:solidFill>
              </a:rPr>
              <a:t>APA 7th edition. Appendix.</a:t>
            </a:r>
            <a:endParaRPr lang="en-US" sz="1500" dirty="0"/>
          </a:p>
        </p:txBody>
      </p:sp>
      <p:sp>
        <p:nvSpPr>
          <p:cNvPr id="4" name="Text 2"/>
          <p:cNvSpPr txBox="1"/>
          <p:nvPr/>
        </p:nvSpPr>
        <p:spPr>
          <a:xfrm>
            <a:off x="548640" y="2240280"/>
            <a:ext cx="5394960" cy="3931920"/>
          </a:xfrm>
          <a:prstGeom prst="rect">
            <a:avLst/>
          </a:prstGeom>
          <a:noFill/>
          <a:ln/>
        </p:spPr>
        <p:txBody>
          <a:bodyPr wrap="square" lIns="0" tIns="0" rIns="0" bIns="0" rtlCol="0" anchor="t"/>
          <a:lstStyle/>
          <a:p>
            <a:pPr marL="0" indent="0">
              <a:spcAft>
                <a:spcPts val="600"/>
              </a:spcAft>
              <a:buNone/>
            </a:pPr>
            <a:r>
              <a:rPr lang="en-US" sz="850" dirty="0">
                <a:solidFill>
                  <a:schemeClr val="tx1"/>
                </a:solidFill>
              </a:rPr>
              <a:t>Akerlof, G. A. (1970). The market for "lemons": Quality uncertainty and the market mechanism. The Quarterly Journal of Economics, 84(3), 488–500. https://doi.org/10.2307/1879431</a:t>
            </a:r>
            <a:endParaRPr lang="en-US" sz="850" dirty="0"/>
          </a:p>
          <a:p>
            <a:pPr marL="0" indent="0">
              <a:spcAft>
                <a:spcPts val="600"/>
              </a:spcAft>
              <a:buNone/>
            </a:pPr>
            <a:r>
              <a:rPr lang="en-US" sz="850" dirty="0">
                <a:solidFill>
                  <a:schemeClr val="tx1"/>
                </a:solidFill>
              </a:rPr>
              <a:t>Asociación Nacional Automotriz de Chile [ANAC]. (2026). Informe del sector automotor: Cierre 2025 y evolución acumulada 2026. https://www.anac.cl</a:t>
            </a:r>
            <a:endParaRPr lang="en-US" sz="850" dirty="0"/>
          </a:p>
          <a:p>
            <a:pPr marL="0" indent="0">
              <a:spcAft>
                <a:spcPts val="600"/>
              </a:spcAft>
              <a:buNone/>
            </a:pPr>
            <a:r>
              <a:rPr lang="en-US" sz="850" dirty="0">
                <a:solidFill>
                  <a:schemeClr val="tx1"/>
                </a:solidFill>
              </a:rPr>
              <a:t>Cámara de Comercio Automotriz de Chile [CAVEM]. (2026a). Informe del mercado automotor diciembre 2025: Balance de transferencias de livianos y medianos. https://www.cavem.cl</a:t>
            </a:r>
            <a:endParaRPr lang="en-US" sz="850" dirty="0"/>
          </a:p>
          <a:p>
            <a:pPr marL="0" indent="0">
              <a:spcAft>
                <a:spcPts val="600"/>
              </a:spcAft>
              <a:buNone/>
            </a:pPr>
            <a:r>
              <a:rPr lang="en-US" sz="850" dirty="0">
                <a:solidFill>
                  <a:schemeClr val="tx1"/>
                </a:solidFill>
              </a:rPr>
              <a:t>Cámara de Comercio Automotriz de Chile [CAVEM]. (2026c). Informe estadístico septiembre 2026: Transferencias acumuladas de usados y ventas de nuevos. https://www.cavem.cl</a:t>
            </a:r>
            <a:endParaRPr lang="en-US" sz="850" dirty="0"/>
          </a:p>
          <a:p>
            <a:pPr marL="0" indent="0">
              <a:spcAft>
                <a:spcPts val="600"/>
              </a:spcAft>
              <a:buNone/>
            </a:pPr>
            <a:r>
              <a:rPr lang="en-US" sz="850" dirty="0">
                <a:solidFill>
                  <a:schemeClr val="tx1"/>
                </a:solidFill>
              </a:rPr>
              <a:t>Cámara de Comercio Automotriz de Chile [CAVEM]. (2026e, October 11). Marcas chinas de autos usados en Chile: cuántas se transfieren y qué buscan los compradores según CAVEM. https://www.cavem.cl/noticias/marcas-chinas-de-autos-usados-en-chile-cuntas-se-transfieren-y-qu-buscan-los-compradores-segn-cavem</a:t>
            </a:r>
            <a:endParaRPr lang="en-US" sz="850" dirty="0"/>
          </a:p>
          <a:p>
            <a:pPr marL="0" indent="0">
              <a:spcAft>
                <a:spcPts val="600"/>
              </a:spcAft>
              <a:buNone/>
            </a:pPr>
            <a:r>
              <a:rPr lang="en-US" sz="850" dirty="0">
                <a:solidFill>
                  <a:schemeClr val="tx1"/>
                </a:solidFill>
              </a:rPr>
              <a:t>Cazvid. (n.d.). ¿Cuánto gana un mecánico en Chile? Retrieved October 26, 2026, from https://cazvid.com/es/blog/cuanto-gana-un-mecanico-en-chile</a:t>
            </a:r>
            <a:endParaRPr lang="en-US" sz="850" dirty="0"/>
          </a:p>
          <a:p>
            <a:pPr marL="0" indent="0">
              <a:spcAft>
                <a:spcPts val="600"/>
              </a:spcAft>
              <a:buNone/>
            </a:pPr>
            <a:r>
              <a:rPr lang="en-US" sz="850" dirty="0">
                <a:solidFill>
                  <a:schemeClr val="tx1"/>
                </a:solidFill>
              </a:rPr>
              <a:t>Farías, C. (2026, May 8). El dolor de cabeza tras chocar: Reparaciones de vehículos en talleres asegurados promedian 52 días. La Tercera. https://www.latercera.com</a:t>
            </a:r>
            <a:endParaRPr lang="en-US" sz="850" dirty="0"/>
          </a:p>
          <a:p>
            <a:pPr marL="0" indent="0">
              <a:spcAft>
                <a:spcPts val="600"/>
              </a:spcAft>
              <a:buNone/>
            </a:pPr>
            <a:r>
              <a:rPr lang="en-US" sz="850" dirty="0">
                <a:solidFill>
                  <a:schemeClr val="tx1"/>
                </a:solidFill>
              </a:rPr>
              <a:t>GoAuto. (n.d.). GoAuto. Retrieved October 26, 2026, from https://www.goauto.cl/</a:t>
            </a:r>
            <a:endParaRPr lang="en-US" sz="850" dirty="0"/>
          </a:p>
        </p:txBody>
      </p:sp>
      <p:sp>
        <p:nvSpPr>
          <p:cNvPr id="5" name="Text 3"/>
          <p:cNvSpPr txBox="1"/>
          <p:nvPr/>
        </p:nvSpPr>
        <p:spPr>
          <a:xfrm>
            <a:off x="6217920" y="2240280"/>
            <a:ext cx="5394960" cy="3931920"/>
          </a:xfrm>
          <a:prstGeom prst="rect">
            <a:avLst/>
          </a:prstGeom>
          <a:noFill/>
          <a:ln/>
        </p:spPr>
        <p:txBody>
          <a:bodyPr wrap="square" lIns="0" tIns="0" rIns="0" bIns="0" rtlCol="0" anchor="t"/>
          <a:lstStyle/>
          <a:p>
            <a:pPr marL="0" indent="0">
              <a:spcAft>
                <a:spcPts val="600"/>
              </a:spcAft>
              <a:buNone/>
            </a:pPr>
            <a:r>
              <a:rPr lang="en-US" sz="850" dirty="0">
                <a:solidFill>
                  <a:schemeClr val="tx1"/>
                </a:solidFill>
              </a:rPr>
              <a:t>Guzmán, J. P. (2026, February 13). Radiografía al mercado de autos usados en Chile 2025: Precios promedio suben 5% y Ford F-150 lidera búsquedas. Emol Economía. https://www.emol.com</a:t>
            </a:r>
            <a:endParaRPr lang="en-US" sz="850" dirty="0"/>
          </a:p>
          <a:p>
            <a:pPr marL="0" indent="0">
              <a:spcAft>
                <a:spcPts val="600"/>
              </a:spcAft>
              <a:buNone/>
            </a:pPr>
            <a:r>
              <a:rPr lang="en-US" sz="850" dirty="0">
                <a:solidFill>
                  <a:schemeClr val="tx1"/>
                </a:solidFill>
              </a:rPr>
              <a:t>Ley N.° 19.496. (1997, March 7). Establece normas sobre protección de los derechos de los consumidores. Biblioteca del Congreso Nacional de Chile. https://www.bcn.cl/leychile/navegar?idNorma=61438</a:t>
            </a:r>
            <a:endParaRPr lang="en-US" sz="850" dirty="0"/>
          </a:p>
          <a:p>
            <a:pPr marL="0" indent="0">
              <a:spcAft>
                <a:spcPts val="600"/>
              </a:spcAft>
              <a:buNone/>
            </a:pPr>
            <a:r>
              <a:rPr lang="en-US" sz="850" dirty="0">
                <a:solidFill>
                  <a:schemeClr val="tx1"/>
                </a:solidFill>
              </a:rPr>
              <a:t>Ley N.° 21.398. (2021, December 24). Establece medidas para incentivar la protección de los derechos de los consumidores. Biblioteca del Congreso Nacional de Chile. https://www.bcn.cl/leychile/navegar?idLey=21398</a:t>
            </a:r>
            <a:endParaRPr lang="en-US" sz="850" dirty="0"/>
          </a:p>
          <a:p>
            <a:pPr marL="0" indent="0">
              <a:spcAft>
                <a:spcPts val="600"/>
              </a:spcAft>
              <a:buNone/>
            </a:pPr>
            <a:r>
              <a:rPr lang="en-US" sz="850" dirty="0">
                <a:solidFill>
                  <a:schemeClr val="tx1"/>
                </a:solidFill>
              </a:rPr>
              <a:t>Melelli Viveros, A. (2026, October 6). Récord de fraudes vehiculares en Chile: Causas judiciales ingresadas suben 64% en 2025. The Clinic. https://www.theclinic.cl</a:t>
            </a:r>
            <a:endParaRPr lang="en-US" sz="850" dirty="0"/>
          </a:p>
          <a:p>
            <a:pPr marL="0" indent="0">
              <a:spcAft>
                <a:spcPts val="600"/>
              </a:spcAft>
              <a:buNone/>
            </a:pPr>
            <a:r>
              <a:rPr lang="en-US" sz="850" dirty="0">
                <a:solidFill>
                  <a:schemeClr val="tx1"/>
                </a:solidFill>
              </a:rPr>
              <a:t>Ojo Mecánico. (n.d.). Revisión pre compra. Retrieved October 26, 2026, from https://www.revisionprecompra.cl/</a:t>
            </a:r>
            <a:endParaRPr lang="en-US" sz="850" dirty="0"/>
          </a:p>
          <a:p>
            <a:pPr marL="0" indent="0">
              <a:spcAft>
                <a:spcPts val="600"/>
              </a:spcAft>
              <a:buNone/>
            </a:pPr>
            <a:r>
              <a:rPr lang="en-US" sz="850" dirty="0">
                <a:solidFill>
                  <a:schemeClr val="tx1"/>
                </a:solidFill>
              </a:rPr>
              <a:t>Rodar. (n.d.). Rodar. Retrieved October 26, 2026, from https://www.rodar.cl/</a:t>
            </a:r>
            <a:endParaRPr lang="en-US" sz="850" dirty="0"/>
          </a:p>
          <a:p>
            <a:pPr marL="0" indent="0">
              <a:spcAft>
                <a:spcPts val="600"/>
              </a:spcAft>
              <a:buNone/>
            </a:pPr>
            <a:r>
              <a:rPr lang="en-US" sz="850" dirty="0">
                <a:solidFill>
                  <a:schemeClr val="tx1"/>
                </a:solidFill>
              </a:rPr>
              <a:t>Servicio de Impuestos Internos [SII]. (2024). Estadísticas de empresas por rubro y actividad económica. https://www.sii.cl/sobre_el_sii/estadisticas_de_empresas.html</a:t>
            </a:r>
            <a:endParaRPr lang="en-US" sz="850" dirty="0"/>
          </a:p>
          <a:p>
            <a:pPr marL="0" indent="0">
              <a:spcAft>
                <a:spcPts val="600"/>
              </a:spcAft>
              <a:buNone/>
            </a:pPr>
            <a:r>
              <a:rPr lang="en-US" sz="850" dirty="0">
                <a:solidFill>
                  <a:schemeClr val="tx1"/>
                </a:solidFill>
              </a:rPr>
              <a:t>Serviteca CyT. (n.d.). Inspección pre compra full. Retrieved October 26, 2026, from https://servitecacyt.cl/product/inspeccion-pre-compra-full/</a:t>
            </a:r>
            <a:endParaRPr lang="en-US" sz="850" dirty="0"/>
          </a:p>
        </p:txBody>
      </p:sp>
      <p:sp>
        <p:nvSpPr>
          <p:cNvPr id="6" name="Text 3"/>
          <p:cNvSpPr>
            <a:spLocks noGrp="1"/>
          </p:cNvSpPr>
          <p:nvPr>
            <p:ph type="body" idx="106" hasCustomPrompt="1"/>
          </p:nvPr>
        </p:nvSpPr>
        <p:spPr>
          <a:xfrm>
            <a:off x="548640" y="6309360"/>
            <a:ext cx="9966960" cy="292608"/>
          </a:xfrm>
          <a:prstGeom prst="rect">
            <a:avLst/>
          </a:prstGeom>
          <a:noFill/>
          <a:ln/>
        </p:spPr>
        <p:txBody>
          <a:bodyPr wrap="square" lIns="0" tIns="0" rIns="0" bIns="0" rtlCol="0" anchor="ctr"/>
          <a:lstStyle/>
          <a:p>
            <a:pPr marL="0" indent="0" algn="l">
              <a:buNone/>
            </a:pP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InfoCar Canva">
  <a:themeElements>
    <a:clrScheme name="InfoCar Canva">
      <a:dk1>
        <a:srgbClr val="12141C"/>
      </a:dk1>
      <a:lt1>
        <a:srgbClr val="FFFFFF"/>
      </a:lt1>
      <a:dk2>
        <a:srgbClr val="5E6475"/>
      </a:dk2>
      <a:lt2>
        <a:srgbClr val="F3F4F7"/>
      </a:lt2>
      <a:accent1>
        <a:srgbClr val="2340E0"/>
      </a:accent1>
      <a:accent2>
        <a:srgbClr val="FFCF1F"/>
      </a:accent2>
      <a:accent3>
        <a:srgbClr val="E4E9FF"/>
      </a:accent3>
      <a:accent4>
        <a:srgbClr val="9AABF5"/>
      </a:accent4>
      <a:accent5>
        <a:srgbClr val="C9D2FF"/>
      </a:accent5>
      <a:accent6>
        <a:srgbClr val="D5D9E3"/>
      </a:accent6>
      <a:hlink>
        <a:srgbClr val="2340E0"/>
      </a:hlink>
      <a:folHlink>
        <a:srgbClr val="5E6475"/>
      </a:folHlink>
    </a:clrScheme>
    <a:fontScheme name="InfoCar Canv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D39FB4C-53C2-48EF-8501-8EB75E988DA2}">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BF71FE9-3F58-463F-B422-A1FEEFF47847}">
  <we:reference id="wa200010725" version="1.0.0.1" store="es-ES" storeType="OMEX"/>
  <we:alternateReferences>
    <we:reference id="WA200010725" version="1.0.0.1" store="WA200010725" storeType="OMEX"/>
  </we:alternateReferences>
  <we:properties>
    <we:property name="claude.fileId" value="&quot;d76f891c-bea1-4709-90c3-c042dd014fe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TotalTime>
  <Words>2798</Words>
  <Application>Microsoft Macintosh PowerPoint</Application>
  <PresentationFormat>Panorámica</PresentationFormat>
  <Paragraphs>290</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Century Gothic</vt:lpstr>
      <vt:lpstr>InfoCar Canva</vt:lpstr>
      <vt:lpstr>Presentación de PowerPoint</vt:lpstr>
      <vt:lpstr>Information asymmetry</vt:lpstr>
      <vt:lpstr>Who carries the gap</vt:lpstr>
      <vt:lpstr>Who pays to close the gap</vt:lpstr>
      <vt:lpstr>What we want to understand</vt:lpstr>
      <vt:lpstr>Listen first, then measure</vt:lpstr>
      <vt:lpstr>Qualitative: one tool per customer</vt:lpstr>
      <vt:lpstr>Quantitative: meet each customer</vt:lpstr>
      <vt:lpstr>From method to objectives</vt:lpstr>
      <vt:lpstr>Presentación de PowerPoint</vt:lpstr>
      <vt:lpstr>References</vt:lpstr>
    </vt:vector>
  </TitlesOfParts>
  <Company>Universidad del Desarrollo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InfoCar: Research Methodology Proposal</dc:title>
  <dc:subject>PptxGenJS Presentation</dc:subject>
  <dc:creator>InfoCar team, Universidad del Desarrollo</dc:creator>
  <cp:lastModifiedBy>Daniel Cuero</cp:lastModifiedBy>
  <cp:revision>2</cp:revision>
  <dcterms:created xsi:type="dcterms:W3CDTF">2026-10-26T18:41:02Z</dcterms:created>
  <dcterms:modified xsi:type="dcterms:W3CDTF">2026-10-27T02:50:58Z</dcterms:modified>
</cp:coreProperties>
</file>