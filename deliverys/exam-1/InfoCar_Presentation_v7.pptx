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3260112-07ac-948c-606b-c5b9f3915115}">
          <p14:sldIdLst>
            <p14:sldId id="256"/>
          </p14:sldIdLst>
        </p14:section>
        <p14:section name="Context" id="{8f3898cc-5d7a-a17f-9726-344320bb645e}">
          <p14:sldIdLst>
            <p14:sldId id="257"/>
            <p14:sldId id="258"/>
            <p14:sldId id="259"/>
          </p14:sldIdLst>
        </p14:section>
        <p14:section name="Objectives" id="{489d7c61-c0e6-1cc0-f2e9-3065c183d170}">
          <p14:sldIdLst>
            <p14:sldId id="260"/>
          </p14:sldIdLst>
        </p14:section>
        <p14:section name="Methodology" id="{fc08e9f7-eb70-3318-8502-99588caa762a}">
          <p14:sldIdLst>
            <p14:sldId id="261"/>
            <p14:sldId id="262"/>
            <p14:sldId id="263"/>
            <p14:sldId id="264"/>
          </p14:sldIdLst>
        </p14:section>
        <p14:section name="Closing" id="{6ba5d156-f3a8-5be1-b892-68cd7c236943}">
          <p14:sldIdLst>
            <p14:sldId id="265"/>
          </p14:sldIdLst>
        </p14:section>
        <p14:section name="Appendix" id="{63058259-df65-7826-7af7-29dc90a9e055}">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Buyers</c:v>
                </c:pt>
              </c:strCache>
            </c:strRef>
          </c:tx>
          <c:spPr>
            <a:solidFill>
              <a:schemeClr val="accent1"/>
            </a:solidFill>
            <a:ln w="9525" cap="flat">
              <a:solidFill>
                <a:srgbClr val="F9F9F9"/>
              </a:solidFill>
              <a:prstDash val="solid"/>
              <a:round/>
            </a:ln>
            <a:effectLst/>
          </c:spPr>
          <c:dPt>
            <c:idx val="0"/>
            <c:bubble3D val="0"/>
            <c:spPr>
              <a:solidFill>
                <a:srgbClr val="2340E0"/>
              </a:solidFill>
              <a:ln w="25400" cap="flat">
                <a:solidFill>
                  <a:srgbClr val="FFFFFF"/>
                </a:solidFill>
                <a:prstDash val="solid"/>
                <a:round/>
              </a:ln>
              <a:effectLst/>
            </c:spPr>
          </c:dPt>
          <c:dPt>
            <c:idx val="1"/>
            <c:bubble3D val="0"/>
            <c:spPr>
              <a:solidFill>
                <a:srgbClr val="FFCF1F"/>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People</c:v>
                </c:pt>
                <c:pt idx="1">
                  <c:v>Companies</c:v>
                </c:pt>
              </c:strCache>
            </c:strRef>
          </c:cat>
          <c:val>
            <c:numRef>
              <c:f>Sheet1!$B$2:$B$3</c:f>
              <c:numCache>
                <c:ptCount val="2"/>
                <c:pt idx="0">
                  <c:v>83.8</c:v>
                </c:pt>
                <c:pt idx="1">
                  <c:v>16.2</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InfoCar is B2B: we sell to used-car dealers in Chile. Today we present our research methodology: the context and what changed after your feedback, our objectives, the mixed sequential method, and the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1:15. The core of the project is information asymmetry. The seller knows the car's history: crashes, repaint, hidden filler. The buyer only sees an ad and a price. Akerlof called this a market for lemons: since the buyer cannot check, every car is discounted and good cars leave. Two numbers show the cost: the same model is listed from 2 to almost 69 million pesos, so price does not reveal condition; and a car spends 52.3 days on average in an insured repair workshop, so hidden damage shows up late and is costly.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Now we project that gap onto the market. Who faces it: in 2025 there were 1,060,919 used-car transfers; people are 83.8% of buyers, but they buy a car every few years. Our scope, the 557 core dealers from the TAM-SAM-SOM, buy between 3 and 27 cars a month, about 9 on average and some 4,900 in total: they face the gap on every purchase. What widens it: Chinese brands are 41.4% of new sales and 12.95% of used transfers; as their 3 to 5 year warranties end, they reach the used market with little local record of faults or part prices. Who protects the buyer: a dealer sale has a 6-month legal warranty; a private sale has no SERNAC protection, and vehicle-fraud cases rose 64% in 2025 to 41,700.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Who pays to close the gap. InfoCar builds one condition report from phone photos, and there are two ways to pay for it. B2B: the dealer pays a monthly plan, prices each car knowing the repair cost, and shares the report with its customer for free; the customer pays nothing extra and the dealer wins the sale. B2C: a person buying from a private seller, where there is no legal warranty, buys a single report. Local tools solve other problems: GoAuto manages stock and Rodar needs an OBD-II scanner; we only need photos. Both prices are hypotheses, and objective 5 tests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These objectives are not evaluated again, but they explain the method. The general objective uses a higher-order verb and only names the phenomenon: no method, no who, no where. Each specific objective studies one dimension and informs one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1:45. We chose a mixed, sequential design. Stage 1 is qualitative, to explore; stage 2 is quantitative, to conclude. The order matters for two reasons. First, appraisal in Chile has no standard: it runs on rules of thumb and informal words, so a closed survey first would measure the wrong things. Second, what we hear in stage 1 becomes the answer options and scales of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1:45. For dealers we use one-on-one in-depth interviews: margins and workshop deals are trade secrets, and nobody shares them in front of competitors. They give us hidden pricing rules, how far dealers trust AI, and what fails in tools like GoAuto or Rodar. For private buyers we use moderated focus groups: fear of fraud is social, and hearing other people's stories makes buyers talk. They give us shared risk perceptions, the buyer's own words, and a first reaction to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1:45. For dealers: face-to-face interviews at their workplace, in car hubs like Gran Avenida or Av. Bilbao, with a tablet, because dealers rarely answer web surveys and we need to show them the report prototype. Phone calls (CATI) cover regions. For private buyers: an online survey (CAWI) with quotas by gender, age and car age, for volume and speed; if a quota fills slowly, we intercept buyers at notaries and vehicle inspection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1:30. This matrix links the method to the objectives. Read each row from left to right. Step one, in yellow, is stage 1: the outlined boxes are what interviews and focus groups explore, such as the dealers' words for each damage or their objections to AI. That becomes the questions of stage 2, in black: the filled boxes are what the surveys measure, such as severity on a 1 to 5 scale, a choice experiment with and without the repair cost, or a concept test with Van Westendorp. Step three, in blue, is the business decision each objective informs. A dash means that technique is not used for that objective. As the brief says, population and sample size come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0:45. To close: the diagnosis is a market for lemons; our objective is to understand what certainty is worth; and the method is to listen first and then measure.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indent="0" marL="0">
              <a:buNone/>
            </a:pPr>
            <a:r>
              <a:rPr lang="en-US" sz="1300" b="1" dirty="0">
                <a:solidFill>
                  <a:schemeClr val="tx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indent="0" marL="0">
              <a:buNone/>
            </a:pPr>
            <a:r>
              <a:rPr lang="en-US" sz="1000" dirty="0">
                <a:solidFill>
                  <a:schemeClr val="tx2"/>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002-1.png">    </p:cNvPr>
          <p:cNvPicPr>
            <a:picLocks noChangeAspect="1"/>
          </p:cNvPicPr>
          <p:nvPr/>
        </p:nvPicPr>
        <p:blipFill>
          <a:blip r:embed="rId1"/>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tx1"/>
            </a:solidFill>
          </a:ln>
        </p:spPr>
        <p:txBody>
          <a:bodyPr wrap="square" rtlCol="0" anchor="ctr"/>
          <a:lstStyle/>
          <a:p>
            <a:pPr indent="0" marL="0">
              <a:buNone/>
            </a:pPr>
            <a:endParaRPr lang="en-US" dirty="0"/>
          </a:p>
        </p:txBody>
      </p:sp>
      <p:sp>
        <p:nvSpPr>
          <p:cNvPr id="6" name="Text 3"/>
          <p:cNvSpPr/>
          <p:nvPr>
            <p:ph idx="104" type="title" hasCustomPrompt="1"/>
          </p:nvPr>
        </p:nvSpPr>
        <p:spPr>
          <a:xfrm>
            <a:off x="548640" y="841248"/>
            <a:ext cx="969264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7" name="Text 3"/>
          <p:cNvSpPr/>
          <p:nvPr>
            <p:ph idx="105" type="body" hasCustomPrompt="1"/>
          </p:nvPr>
        </p:nvSpPr>
        <p:spPr>
          <a:xfrm>
            <a:off x="548640" y="1536192"/>
            <a:ext cx="9692640" cy="54864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r>
              <a:rPr lang="en-US" sz="1500" dirty="0">
                <a:solidFill>
                  <a:schemeClr val="tx2"/>
                </a:solidFill>
              </a:rPr>
              <a:t>Subtitle</a:t>
            </a:r>
            <a:endParaRPr lang="en-US" sz="1500" dirty="0"/>
          </a:p>
        </p:txBody>
      </p:sp>
      <p:sp>
        <p:nvSpPr>
          <p:cNvPr id="8" name="Text 3"/>
          <p:cNvSpPr/>
          <p:nvPr>
            <p:ph idx="106" type="body" hasCustomPrompt="1"/>
          </p:nvPr>
        </p:nvSpPr>
        <p:spPr>
          <a:xfrm>
            <a:off x="548640" y="6309360"/>
            <a:ext cx="9966960" cy="292608"/>
          </a:xfrm>
          <a:prstGeom prst="rect">
            <a:avLst/>
          </a:prstGeom>
          <a:noFill/>
          <a:ln/>
        </p:spPr>
        <p:txBody>
          <a:bodyPr wrap="square" rtlCol="0"/>
          <a:lstStyle>
            <a:lvl1pPr algn="l" indent="0" marL="0">
              <a:buNone/>
              <a:defRPr lang="en-US" sz="850" dirty="0">
                <a:solidFill>
                  <a:schemeClr val="tx2"/>
                </a:solidFill>
              </a:defRPr>
            </a:lvl1pPr>
          </a:lstStyle>
          <a:p>
            <a:pPr algn="l" indent="0" marL="0">
              <a:buNone/>
            </a:pPr>
            <a:r>
              <a:rPr lang="en-US" sz="850" dirty="0">
                <a:solidFill>
                  <a:schemeClr val="tx2"/>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chemeClr val="accent3"/>
        </a:solidFill>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indent="0" marL="0">
              <a:buNone/>
            </a:pPr>
            <a:r>
              <a:rPr lang="en-US" sz="1300" b="1" dirty="0">
                <a:solidFill>
                  <a:schemeClr val="tx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indent="0" marL="0">
              <a:buNone/>
            </a:pPr>
            <a:r>
              <a:rPr lang="en-US" sz="1000" dirty="0">
                <a:solidFill>
                  <a:schemeClr val="tx2"/>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002-1.png">    </p:cNvPr>
          <p:cNvPicPr>
            <a:picLocks noChangeAspect="1"/>
          </p:cNvPicPr>
          <p:nvPr/>
        </p:nvPicPr>
        <p:blipFill>
          <a:blip r:embed="rId1"/>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tx1"/>
            </a:solidFill>
          </a:ln>
        </p:spPr>
        <p:txBody>
          <a:bodyPr wrap="square" rtlCol="0" anchor="ctr"/>
          <a:lstStyle/>
          <a:p>
            <a:pPr indent="0" marL="0">
              <a:buNone/>
            </a:pPr>
            <a:endParaRPr lang="en-US" dirty="0"/>
          </a:p>
        </p:txBody>
      </p:sp>
      <p:sp>
        <p:nvSpPr>
          <p:cNvPr id="6" name="Text 3"/>
          <p:cNvSpPr/>
          <p:nvPr>
            <p:ph idx="104" type="title" hasCustomPrompt="1"/>
          </p:nvPr>
        </p:nvSpPr>
        <p:spPr>
          <a:xfrm>
            <a:off x="548640" y="841248"/>
            <a:ext cx="969264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7" name="Text 3"/>
          <p:cNvSpPr/>
          <p:nvPr>
            <p:ph idx="105" type="body" hasCustomPrompt="1"/>
          </p:nvPr>
        </p:nvSpPr>
        <p:spPr>
          <a:xfrm>
            <a:off x="548640" y="1536192"/>
            <a:ext cx="9692640" cy="54864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r>
              <a:rPr lang="en-US" sz="1500" dirty="0">
                <a:solidFill>
                  <a:schemeClr val="tx2"/>
                </a:solidFill>
              </a:rPr>
              <a:t>Subtitle</a:t>
            </a:r>
            <a:endParaRPr lang="en-US" sz="1500" dirty="0"/>
          </a:p>
        </p:txBody>
      </p:sp>
      <p:sp>
        <p:nvSpPr>
          <p:cNvPr id="8" name="Text 3"/>
          <p:cNvSpPr/>
          <p:nvPr>
            <p:ph idx="106" type="body" hasCustomPrompt="1"/>
          </p:nvPr>
        </p:nvSpPr>
        <p:spPr>
          <a:xfrm>
            <a:off x="548640" y="6309360"/>
            <a:ext cx="9966960" cy="292608"/>
          </a:xfrm>
          <a:prstGeom prst="rect">
            <a:avLst/>
          </a:prstGeom>
          <a:noFill/>
          <a:ln/>
        </p:spPr>
        <p:txBody>
          <a:bodyPr wrap="square" rtlCol="0"/>
          <a:lstStyle>
            <a:lvl1pPr algn="l" indent="0" marL="0">
              <a:buNone/>
              <a:defRPr lang="en-US" sz="850" dirty="0">
                <a:solidFill>
                  <a:schemeClr val="tx2"/>
                </a:solidFill>
              </a:defRPr>
            </a:lvl1pPr>
          </a:lstStyle>
          <a:p>
            <a:pPr algn="l" indent="0" marL="0">
              <a:buNone/>
            </a:pPr>
            <a:r>
              <a:rPr lang="en-US" sz="850" dirty="0">
                <a:solidFill>
                  <a:schemeClr val="tx2"/>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chemeClr val="accent1"/>
        </a:solidFill>
      </p:bgPr>
    </p:bg>
    <p:spTree>
      <p:nvGrpSpPr>
        <p:cNvPr id="1" name=""/>
        <p:cNvGrpSpPr/>
        <p:nvPr/>
      </p:nvGrpSpPr>
      <p:grpSpPr>
        <a:xfrm>
          <a:off x="0" y="0"/>
          <a:ext cx="0" cy="0"/>
          <a:chOff x="0" y="0"/>
          <a:chExt cx="0" cy="0"/>
        </a:xfrm>
      </p:grpSpPr>
      <p:sp>
        <p:nvSpPr>
          <p:cNvPr id="2" name="Text 0"/>
          <p:cNvSpPr/>
          <p:nvPr/>
        </p:nvSpPr>
        <p:spPr>
          <a:xfrm>
            <a:off x="548640" y="329184"/>
            <a:ext cx="1097280" cy="274320"/>
          </a:xfrm>
          <a:prstGeom prst="rect">
            <a:avLst/>
          </a:prstGeom>
          <a:noFill/>
          <a:ln/>
        </p:spPr>
        <p:txBody>
          <a:bodyPr wrap="square" lIns="0" tIns="0" rIns="0" bIns="0" rtlCol="0" anchor="ctr"/>
          <a:lstStyle/>
          <a:p>
            <a:pPr indent="0" marL="0">
              <a:buNone/>
            </a:pPr>
            <a:r>
              <a:rPr lang="en-US" sz="1300" b="1" dirty="0">
                <a:solidFill>
                  <a:schemeClr val="bg1"/>
                </a:solidFill>
              </a:rPr>
              <a:t>InfoCar</a:t>
            </a:r>
            <a:endParaRPr lang="en-US" sz="1300" dirty="0"/>
          </a:p>
        </p:txBody>
      </p:sp>
      <p:sp>
        <p:nvSpPr>
          <p:cNvPr id="3" name="Text 1"/>
          <p:cNvSpPr/>
          <p:nvPr/>
        </p:nvSpPr>
        <p:spPr>
          <a:xfrm>
            <a:off x="1554480" y="329184"/>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Strategic Marketing  ·  Universidad del Desarrollo</a:t>
            </a:r>
            <a:endParaRPr lang="en-US" sz="1000" dirty="0"/>
          </a:p>
        </p:txBody>
      </p:sp>
      <p:pic>
        <p:nvPicPr>
          <p:cNvPr id="4" name="Image 0" descr="/private/tmp/claude-501/-Users-seba-Documents-Visual-Studio-Proyectos-Acad-micos-Marketing/f45da085-a5d6-4f69-9770-44d4abda6eac/scratchpad/v3x/ppt/media/image-1-1.png">    </p:cNvPr>
          <p:cNvPicPr>
            <a:picLocks noChangeAspect="1"/>
          </p:cNvPicPr>
          <p:nvPr/>
        </p:nvPicPr>
        <p:blipFill>
          <a:blip r:embed="rId1"/>
          <a:stretch>
            <a:fillRect/>
          </a:stretch>
        </p:blipFill>
        <p:spPr>
          <a:xfrm>
            <a:off x="10405872" y="274320"/>
            <a:ext cx="1234440" cy="434340"/>
          </a:xfrm>
          <a:prstGeom prst="rect">
            <a:avLst/>
          </a:prstGeom>
        </p:spPr>
      </p:pic>
      <p:sp>
        <p:nvSpPr>
          <p:cNvPr id="5" name="Text 2"/>
          <p:cNvSpPr/>
          <p:nvPr/>
        </p:nvSpPr>
        <p:spPr>
          <a:xfrm>
            <a:off x="10981944" y="6309360"/>
            <a:ext cx="658368" cy="292608"/>
          </a:xfrm>
          <a:prstGeom prst="roundRect">
            <a:avLst>
              <a:gd name="adj" fmla="val 50000"/>
            </a:avLst>
          </a:prstGeom>
          <a:ln w="12700">
            <a:solidFill>
              <a:schemeClr val="bg1"/>
            </a:solidFill>
          </a:ln>
        </p:spPr>
        <p:txBody>
          <a:bodyPr wrap="square" rtlCol="0" anchor="ctr"/>
          <a:lstStyle/>
          <a:p>
            <a:pPr indent="0" marL="0">
              <a:buNone/>
            </a:pPr>
            <a:endParaRPr lang="en-US" dirty="0"/>
          </a:p>
        </p:txBody>
      </p:sp>
      <p:sp>
        <p:nvSpPr>
          <p:cNvPr id="6" name="Text 3"/>
          <p:cNvSpPr/>
          <p:nvPr>
            <p:ph idx="104" type="title" hasCustomPrompt="1"/>
          </p:nvPr>
        </p:nvSpPr>
        <p:spPr>
          <a:xfrm>
            <a:off x="548640" y="841248"/>
            <a:ext cx="96926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Title</a:t>
            </a:r>
            <a:endParaRPr lang="en-US" sz="3600" dirty="0"/>
          </a:p>
        </p:txBody>
      </p:sp>
      <p:sp>
        <p:nvSpPr>
          <p:cNvPr id="7" name="Text 3"/>
          <p:cNvSpPr/>
          <p:nvPr>
            <p:ph idx="105" type="body" hasCustomPrompt="1"/>
          </p:nvPr>
        </p:nvSpPr>
        <p:spPr>
          <a:xfrm>
            <a:off x="548640" y="1536192"/>
            <a:ext cx="9692640" cy="54864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r>
              <a:rPr lang="en-US" sz="1500" dirty="0">
                <a:solidFill>
                  <a:schemeClr val="accent5"/>
                </a:solidFill>
              </a:rPr>
              <a:t>Subtitle</a:t>
            </a:r>
            <a:endParaRPr lang="en-US" sz="1500" dirty="0"/>
          </a:p>
        </p:txBody>
      </p:sp>
      <p:sp>
        <p:nvSpPr>
          <p:cNvPr id="8" name="Text 3"/>
          <p:cNvSpPr/>
          <p:nvPr>
            <p:ph idx="106" type="body" hasCustomPrompt="1"/>
          </p:nvPr>
        </p:nvSpPr>
        <p:spPr>
          <a:xfrm>
            <a:off x="548640" y="6309360"/>
            <a:ext cx="9966960" cy="292608"/>
          </a:xfrm>
          <a:prstGeom prst="rect">
            <a:avLst/>
          </a:prstGeom>
          <a:noFill/>
          <a:ln/>
        </p:spPr>
        <p:txBody>
          <a:bodyPr wrap="square" rtlCol="0"/>
          <a:lstStyle>
            <a:lvl1pPr algn="l" indent="0" marL="0">
              <a:buNone/>
              <a:defRPr lang="en-US" sz="850" dirty="0">
                <a:solidFill>
                  <a:schemeClr val="accent5"/>
                </a:solidFill>
              </a:defRPr>
            </a:lvl1pPr>
          </a:lstStyle>
          <a:p>
            <a:pPr algn="l" indent="0" marL="0">
              <a:buNone/>
            </a:pPr>
            <a:r>
              <a:rPr lang="en-US" sz="850" dirty="0">
                <a:solidFill>
                  <a:schemeClr val="accent5"/>
                </a:solidFill>
              </a:rPr>
              <a:t>Sources</a:t>
            </a: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seba-Documents-Visual-Studio-Proyectos-Acad-micos-Marketing/f45da085-a5d6-4f69-9770-44d4abda6eac/scratchpad/v3x/ppt/media/image-1-1.png">    </p:cNvPr>
          <p:cNvPicPr>
            <a:picLocks noChangeAspect="1"/>
          </p:cNvPicPr>
          <p:nvPr/>
        </p:nvPicPr>
        <p:blipFill>
          <a:blip r:embed="rId1"/>
          <a:stretch>
            <a:fillRect/>
          </a:stretch>
        </p:blipFill>
        <p:spPr>
          <a:xfrm>
            <a:off x="548640" y="411480"/>
            <a:ext cx="1463040" cy="512064"/>
          </a:xfrm>
          <a:prstGeom prst="rect">
            <a:avLst/>
          </a:prstGeom>
        </p:spPr>
      </p:pic>
      <p:sp>
        <p:nvSpPr>
          <p:cNvPr id="3" name="Text 0"/>
          <p:cNvSpPr txBox="1"/>
          <p:nvPr/>
        </p:nvSpPr>
        <p:spPr>
          <a:xfrm>
            <a:off x="8119872" y="457200"/>
            <a:ext cx="1783080" cy="365760"/>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100" dirty="0">
                <a:solidFill>
                  <a:schemeClr val="bg1"/>
                </a:solidFill>
              </a:rPr>
              <a:t>Strategic Marketing</a:t>
            </a:r>
            <a:endParaRPr lang="en-US" sz="1100" dirty="0"/>
          </a:p>
        </p:txBody>
      </p:sp>
      <p:sp>
        <p:nvSpPr>
          <p:cNvPr id="4" name="Text 1"/>
          <p:cNvSpPr txBox="1"/>
          <p:nvPr/>
        </p:nvSpPr>
        <p:spPr>
          <a:xfrm>
            <a:off x="10040112" y="457200"/>
            <a:ext cx="1600200" cy="365760"/>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100" dirty="0">
                <a:solidFill>
                  <a:schemeClr val="bg1"/>
                </a:solidFill>
              </a:rPr>
              <a:t>Exam 1 · Oct 2026</a:t>
            </a:r>
            <a:endParaRPr lang="en-US" sz="1100" dirty="0"/>
          </a:p>
        </p:txBody>
      </p:sp>
      <p:sp>
        <p:nvSpPr>
          <p:cNvPr id="5" name="Text 2"/>
          <p:cNvSpPr txBox="1"/>
          <p:nvPr/>
        </p:nvSpPr>
        <p:spPr>
          <a:xfrm>
            <a:off x="384048" y="1097280"/>
            <a:ext cx="11430000" cy="2377440"/>
          </a:xfrm>
          <a:prstGeom prst="rect">
            <a:avLst/>
          </a:prstGeom>
          <a:noFill/>
          <a:ln/>
        </p:spPr>
        <p:txBody>
          <a:bodyPr wrap="square" lIns="0" tIns="0" rIns="0" bIns="0" rtlCol="0" anchor="ctr"/>
          <a:lstStyle/>
          <a:p>
            <a:pPr indent="0" marL="0">
              <a:buNone/>
            </a:pPr>
            <a:r>
              <a:rPr lang="en-US" sz="18000" b="1" dirty="0">
                <a:solidFill>
                  <a:schemeClr val="bg1"/>
                </a:solidFill>
              </a:rPr>
              <a:t>InfoCar</a:t>
            </a:r>
            <a:endParaRPr lang="en-US" sz="18000" dirty="0"/>
          </a:p>
        </p:txBody>
      </p:sp>
      <p:pic>
        <p:nvPicPr>
          <p:cNvPr id="6" name="Image 1" descr="/private/tmp/claude-501/-Users-seba-Documents-Visual-Studio-Proyectos-Acad-micos-Marketing/f45da085-a5d6-4f69-9770-44d4abda6eac/scratchpad/v3x/ppt/media/image-1-2.png">    </p:cNvPr>
          <p:cNvPicPr>
            <a:picLocks noChangeAspect="1"/>
          </p:cNvPicPr>
          <p:nvPr/>
        </p:nvPicPr>
        <p:blipFill>
          <a:blip r:embed="rId2"/>
          <a:stretch>
            <a:fillRect/>
          </a:stretch>
        </p:blipFill>
        <p:spPr>
          <a:xfrm>
            <a:off x="4800600" y="2487168"/>
            <a:ext cx="6995160" cy="2152498"/>
          </a:xfrm>
          <a:prstGeom prst="rect">
            <a:avLst/>
          </a:prstGeom>
        </p:spPr>
      </p:pic>
      <p:sp>
        <p:nvSpPr>
          <p:cNvPr id="7" name="sparkle"/>
          <p:cNvSpPr/>
          <p:nvPr/>
        </p:nvSpPr>
        <p:spPr>
          <a:xfrm>
            <a:off x="8732520" y="1051560"/>
            <a:ext cx="731520" cy="731520"/>
          </a:xfrm>
          <a:prstGeom prst="star4">
            <a:avLst/>
          </a:prstGeom>
          <a:solidFill>
            <a:schemeClr val="accent2"/>
          </a:solidFill>
          <a:ln/>
        </p:spPr>
      </p:sp>
      <p:sp>
        <p:nvSpPr>
          <p:cNvPr id="8" name="sparkle"/>
          <p:cNvSpPr/>
          <p:nvPr/>
        </p:nvSpPr>
        <p:spPr>
          <a:xfrm>
            <a:off x="11201400" y="2057400"/>
            <a:ext cx="347472" cy="347472"/>
          </a:xfrm>
          <a:prstGeom prst="star4">
            <a:avLst/>
          </a:prstGeom>
          <a:solidFill>
            <a:schemeClr val="bg1"/>
          </a:solidFill>
          <a:ln/>
        </p:spPr>
      </p:sp>
      <p:sp>
        <p:nvSpPr>
          <p:cNvPr id="9" name="Text 5"/>
          <p:cNvSpPr txBox="1"/>
          <p:nvPr/>
        </p:nvSpPr>
        <p:spPr>
          <a:xfrm>
            <a:off x="548640" y="4526280"/>
            <a:ext cx="352044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B2B  ·  For used-car dealers in Chile</a:t>
            </a:r>
            <a:endParaRPr lang="en-US" sz="1200" dirty="0"/>
          </a:p>
        </p:txBody>
      </p:sp>
      <p:sp>
        <p:nvSpPr>
          <p:cNvPr id="10" name="Text 6"/>
          <p:cNvSpPr txBox="1"/>
          <p:nvPr/>
        </p:nvSpPr>
        <p:spPr>
          <a:xfrm>
            <a:off x="548640" y="5074920"/>
            <a:ext cx="6400800" cy="457200"/>
          </a:xfrm>
          <a:prstGeom prst="rect">
            <a:avLst/>
          </a:prstGeom>
          <a:noFill/>
          <a:ln/>
        </p:spPr>
        <p:txBody>
          <a:bodyPr wrap="square" lIns="0" tIns="0" rIns="0" bIns="0" rtlCol="0" anchor="t"/>
          <a:lstStyle/>
          <a:p>
            <a:pPr indent="0" marL="0">
              <a:buNone/>
            </a:pPr>
            <a:r>
              <a:rPr lang="en-US" sz="2000" dirty="0">
                <a:solidFill>
                  <a:schemeClr val="bg1"/>
                </a:solidFill>
              </a:rPr>
              <a:t>Our plan to learn what certainty is worth.</a:t>
            </a:r>
            <a:endParaRPr lang="en-US" sz="2000" dirty="0"/>
          </a:p>
        </p:txBody>
      </p:sp>
      <p:sp>
        <p:nvSpPr>
          <p:cNvPr id="11" name="Text 7"/>
          <p:cNvSpPr txBox="1"/>
          <p:nvPr/>
        </p:nvSpPr>
        <p:spPr>
          <a:xfrm>
            <a:off x="6373368" y="5138928"/>
            <a:ext cx="1143000" cy="347472"/>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000" dirty="0">
                <a:solidFill>
                  <a:schemeClr val="bg1"/>
                </a:solidFill>
              </a:rPr>
              <a:t>01  Context</a:t>
            </a:r>
            <a:endParaRPr lang="en-US" sz="1000" dirty="0"/>
          </a:p>
        </p:txBody>
      </p:sp>
      <p:sp>
        <p:nvSpPr>
          <p:cNvPr id="12" name="Text 8"/>
          <p:cNvSpPr txBox="1"/>
          <p:nvPr/>
        </p:nvSpPr>
        <p:spPr>
          <a:xfrm>
            <a:off x="7626096" y="5138928"/>
            <a:ext cx="1325880" cy="347472"/>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000" dirty="0">
                <a:solidFill>
                  <a:schemeClr val="bg1"/>
                </a:solidFill>
              </a:rPr>
              <a:t>02  Objectives</a:t>
            </a:r>
            <a:endParaRPr lang="en-US" sz="1000" dirty="0"/>
          </a:p>
        </p:txBody>
      </p:sp>
      <p:sp>
        <p:nvSpPr>
          <p:cNvPr id="13" name="Text 9"/>
          <p:cNvSpPr txBox="1"/>
          <p:nvPr/>
        </p:nvSpPr>
        <p:spPr>
          <a:xfrm>
            <a:off x="9061704" y="5138928"/>
            <a:ext cx="1097280" cy="347472"/>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000" dirty="0">
                <a:solidFill>
                  <a:schemeClr val="bg1"/>
                </a:solidFill>
              </a:rPr>
              <a:t>03  Method</a:t>
            </a:r>
            <a:endParaRPr lang="en-US" sz="1000" dirty="0"/>
          </a:p>
        </p:txBody>
      </p:sp>
      <p:sp>
        <p:nvSpPr>
          <p:cNvPr id="14" name="Text 10"/>
          <p:cNvSpPr txBox="1"/>
          <p:nvPr/>
        </p:nvSpPr>
        <p:spPr>
          <a:xfrm>
            <a:off x="10268712" y="5138928"/>
            <a:ext cx="1371600" cy="347472"/>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1000" dirty="0">
                <a:solidFill>
                  <a:schemeClr val="bg1"/>
                </a:solidFill>
              </a:rPr>
              <a:t>04  Techniques</a:t>
            </a:r>
            <a:endParaRPr lang="en-US" sz="1000" dirty="0"/>
          </a:p>
        </p:txBody>
      </p:sp>
      <p:sp>
        <p:nvSpPr>
          <p:cNvPr id="15" name="Text 11"/>
          <p:cNvSpPr txBox="1"/>
          <p:nvPr/>
        </p:nvSpPr>
        <p:spPr>
          <a:xfrm>
            <a:off x="548640" y="626364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Caro · Cuero · León · Marín · Parraud · Ramírez S. · Ramírez V.</a:t>
            </a:r>
            <a:endParaRPr lang="en-US" sz="1100" dirty="0"/>
          </a:p>
        </p:txBody>
      </p:sp>
      <p:sp>
        <p:nvSpPr>
          <p:cNvPr id="16" name="Text 12"/>
          <p:cNvSpPr txBox="1"/>
          <p:nvPr/>
        </p:nvSpPr>
        <p:spPr>
          <a:xfrm>
            <a:off x="7982712" y="6263640"/>
            <a:ext cx="3657600" cy="274320"/>
          </a:xfrm>
          <a:prstGeom prst="rect">
            <a:avLst/>
          </a:prstGeom>
          <a:noFill/>
          <a:ln/>
        </p:spPr>
        <p:txBody>
          <a:bodyPr wrap="square" lIns="0" tIns="0" rIns="0" bIns="0" rtlCol="0" anchor="ctr"/>
          <a:lstStyle/>
          <a:p>
            <a:pPr algn="r" indent="0" marL="0">
              <a:buNone/>
            </a:pPr>
            <a:r>
              <a:rPr lang="en-US" sz="1100" dirty="0">
                <a:solidFill>
                  <a:schemeClr val="accent5"/>
                </a:solidFill>
              </a:rPr>
              <a:t>Professor: Claudia Scherman 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Information asymmetry</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The seller knows the car's condition; the buyer only sees a price.</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Concept: market for lemons (Akerlof, 1970). Sources: Guzmán (2026), Emol; Farías (2026), La Tercera.</a:t>
            </a:r>
            <a:endParaRPr lang="en-US" sz="850" dirty="0"/>
          </a:p>
        </p:txBody>
      </p:sp>
      <p:sp>
        <p:nvSpPr>
          <p:cNvPr id="101" name="Card 101"/>
          <p:cNvSpPr/>
          <p:nvPr/>
        </p:nvSpPr>
        <p:spPr>
          <a:xfrm>
            <a:off x="548640" y="2240280"/>
            <a:ext cx="2560320" cy="1417320"/>
          </a:xfrm>
          <a:prstGeom prst="roundRect">
            <a:avLst>
              <a:gd name="adj" fmla="val 8333"/>
            </a:avLst>
          </a:prstGeom>
          <a:solidFill>
            <a:schemeClr val="accent1"/>
          </a:solidFill>
          <a:ln>
            <a:noFill/>
          </a:ln>
        </p:spPr>
      </p:sp>
      <p:sp>
        <p:nvSpPr>
          <p:cNvPr id="102" name="Text 102"/>
          <p:cNvSpPr txBox="1"/>
          <p:nvPr/>
        </p:nvSpPr>
        <p:spPr>
          <a:xfrm>
            <a:off x="804672" y="2468880"/>
            <a:ext cx="2048256" cy="1051560"/>
          </a:xfrm>
          <a:prstGeom prst="rect">
            <a:avLst/>
          </a:prstGeom>
          <a:noFill/>
          <a:ln>
            <a:noFill/>
          </a:ln>
        </p:spPr>
        <p:txBody>
          <a:bodyPr wrap="square" lIns="0" tIns="0" rIns="0" bIns="0" rtlCol="0" anchor="t"/>
          <a:lstStyle/>
          <a:p>
            <a:pPr algn="l" indent="0" marL="0">
              <a:spcAft>
                <a:spcPts val="400"/>
              </a:spcAft>
              <a:buNone/>
            </a:pPr>
            <a:r>
              <a:rPr lang="en-US" sz="950" b="1" dirty="0">
                <a:solidFill>
                  <a:schemeClr val="accent2"/>
                </a:solidFill>
              </a:rPr>
              <a:t>SELLER</a:t>
            </a:r>
            <a:endParaRPr lang="en-US" sz="950" dirty="0"/>
          </a:p>
          <a:p>
            <a:pPr algn="l" indent="0" marL="0">
              <a:spcAft>
                <a:spcPts val="400"/>
              </a:spcAft>
              <a:buNone/>
            </a:pPr>
            <a:r>
              <a:rPr lang="en-US" sz="1600" b="1" dirty="0">
                <a:solidFill>
                  <a:schemeClr val="bg1"/>
                </a:solidFill>
              </a:rPr>
              <a:t>Knows the car</a:t>
            </a:r>
            <a:endParaRPr lang="en-US" sz="1600" dirty="0"/>
          </a:p>
          <a:p>
            <a:pPr algn="l" indent="0" marL="0">
              <a:buNone/>
            </a:pPr>
            <a:r>
              <a:rPr lang="en-US" sz="1100" dirty="0">
                <a:solidFill>
                  <a:schemeClr val="accent5"/>
                </a:solidFill>
              </a:rPr>
              <a:t>Past crashes, repaint, hidden filler, old faults.</a:t>
            </a:r>
            <a:endParaRPr lang="en-US" sz="1100" dirty="0"/>
          </a:p>
        </p:txBody>
      </p:sp>
      <p:sp>
        <p:nvSpPr>
          <p:cNvPr id="103" name="Line 103"/>
          <p:cNvSpPr/>
          <p:nvPr/>
        </p:nvSpPr>
        <p:spPr>
          <a:xfrm>
            <a:off x="3200400" y="2807208"/>
            <a:ext cx="2194560" cy="0"/>
          </a:xfrm>
          <a:prstGeom prst="line">
            <a:avLst/>
          </a:prstGeom>
          <a:noFill/>
          <a:ln w="19050">
            <a:solidFill>
              <a:schemeClr val="accent4"/>
            </a:solidFill>
            <a:prstDash val="dash"/>
          </a:ln>
        </p:spPr>
      </p:sp>
      <p:sp>
        <p:nvSpPr>
          <p:cNvPr id="104" name="Circle 104"/>
          <p:cNvSpPr txBox="1"/>
          <p:nvPr/>
        </p:nvSpPr>
        <p:spPr>
          <a:xfrm>
            <a:off x="3968496" y="2478024"/>
            <a:ext cx="658368" cy="658368"/>
          </a:xfrm>
          <a:prstGeom prst="ellipse">
            <a:avLst/>
          </a:prstGeom>
          <a:solidFill>
            <a:schemeClr val="accent2"/>
          </a:solidFill>
          <a:ln>
            <a:noFill/>
          </a:ln>
        </p:spPr>
        <p:txBody>
          <a:bodyPr wrap="square" lIns="0" tIns="0" rIns="0" bIns="0" rtlCol="0" anchor="ctr"/>
          <a:lstStyle/>
          <a:p>
            <a:pPr algn="ctr" indent="0" marL="0">
              <a:buNone/>
            </a:pPr>
            <a:r>
              <a:rPr lang="en-US" sz="2400" b="1" dirty="0">
                <a:solidFill>
                  <a:schemeClr val="tx1"/>
                </a:solidFill>
              </a:rPr>
              <a:t>?</a:t>
            </a:r>
            <a:endParaRPr lang="en-US" sz="2400" dirty="0"/>
          </a:p>
        </p:txBody>
      </p:sp>
      <p:sp>
        <p:nvSpPr>
          <p:cNvPr id="105" name="Text 105"/>
          <p:cNvSpPr txBox="1"/>
          <p:nvPr/>
        </p:nvSpPr>
        <p:spPr>
          <a:xfrm>
            <a:off x="3246120" y="3264408"/>
            <a:ext cx="2103120" cy="640080"/>
          </a:xfrm>
          <a:prstGeom prst="rect">
            <a:avLst/>
          </a:prstGeom>
          <a:noFill/>
          <a:ln>
            <a:noFill/>
          </a:ln>
        </p:spPr>
        <p:txBody>
          <a:bodyPr wrap="square" lIns="0" tIns="0" rIns="0" bIns="0" rtlCol="0" anchor="t"/>
          <a:lstStyle/>
          <a:p>
            <a:pPr algn="ctr" indent="0" marL="0">
              <a:spcAft>
                <a:spcPts val="200"/>
              </a:spcAft>
              <a:buNone/>
            </a:pPr>
            <a:r>
              <a:rPr lang="en-US" sz="1150" b="1" dirty="0">
                <a:solidFill>
                  <a:schemeClr val="tx1"/>
                </a:solidFill>
              </a:rPr>
              <a:t>Information gap</a:t>
            </a:r>
            <a:endParaRPr lang="en-US" sz="1150" dirty="0"/>
          </a:p>
          <a:p>
            <a:pPr algn="ctr" indent="0" marL="0">
              <a:buNone/>
            </a:pPr>
            <a:r>
              <a:rPr lang="en-US" sz="950" dirty="0">
                <a:solidFill>
                  <a:schemeClr val="tx2"/>
                </a:solidFill>
              </a:rPr>
              <a:t>Condition can't be checked before paying</a:t>
            </a:r>
            <a:endParaRPr lang="en-US" sz="950" dirty="0"/>
          </a:p>
        </p:txBody>
      </p:sp>
      <p:sp>
        <p:nvSpPr>
          <p:cNvPr id="106" name="Card 106"/>
          <p:cNvSpPr/>
          <p:nvPr/>
        </p:nvSpPr>
        <p:spPr>
          <a:xfrm>
            <a:off x="5486400" y="2240280"/>
            <a:ext cx="2560320" cy="141732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07" name="Text 107"/>
          <p:cNvSpPr txBox="1"/>
          <p:nvPr/>
        </p:nvSpPr>
        <p:spPr>
          <a:xfrm>
            <a:off x="5742432" y="2468880"/>
            <a:ext cx="2048256" cy="1051560"/>
          </a:xfrm>
          <a:prstGeom prst="rect">
            <a:avLst/>
          </a:prstGeom>
          <a:noFill/>
          <a:ln>
            <a:noFill/>
          </a:ln>
        </p:spPr>
        <p:txBody>
          <a:bodyPr wrap="square" lIns="0" tIns="0" rIns="0" bIns="0" rtlCol="0" anchor="t"/>
          <a:lstStyle/>
          <a:p>
            <a:pPr algn="l" indent="0" marL="0">
              <a:spcAft>
                <a:spcPts val="400"/>
              </a:spcAft>
              <a:buNone/>
            </a:pPr>
            <a:r>
              <a:rPr lang="en-US" sz="950" b="1" dirty="0">
                <a:solidFill>
                  <a:schemeClr val="accent1"/>
                </a:solidFill>
              </a:rPr>
              <a:t>BUYER</a:t>
            </a:r>
            <a:endParaRPr lang="en-US" sz="950" dirty="0"/>
          </a:p>
          <a:p>
            <a:pPr algn="l" indent="0" marL="0">
              <a:spcAft>
                <a:spcPts val="400"/>
              </a:spcAft>
              <a:buNone/>
            </a:pPr>
            <a:r>
              <a:rPr lang="en-US" sz="1600" b="1" dirty="0">
                <a:solidFill>
                  <a:schemeClr val="tx1"/>
                </a:solidFill>
              </a:rPr>
              <a:t>Sees a price</a:t>
            </a:r>
            <a:endParaRPr lang="en-US" sz="1600" dirty="0"/>
          </a:p>
          <a:p>
            <a:pPr algn="l" indent="0" marL="0">
              <a:buNone/>
            </a:pPr>
            <a:r>
              <a:rPr lang="en-US" sz="1100" dirty="0">
                <a:solidFill>
                  <a:schemeClr val="tx2"/>
                </a:solidFill>
              </a:rPr>
              <a:t>An ad, a few photos, a short test drive.</a:t>
            </a:r>
            <a:endParaRPr lang="en-US" sz="1100" dirty="0"/>
          </a:p>
        </p:txBody>
      </p:sp>
      <p:sp>
        <p:nvSpPr>
          <p:cNvPr id="108" name="Circle 108"/>
          <p:cNvSpPr txBox="1"/>
          <p:nvPr/>
        </p:nvSpPr>
        <p:spPr>
          <a:xfrm>
            <a:off x="8165592" y="2642616"/>
            <a:ext cx="329184" cy="329184"/>
          </a:xfrm>
          <a:prstGeom prst="ellipse">
            <a:avLst/>
          </a:prstGeom>
          <a:solidFill>
            <a:schemeClr val="tx1"/>
          </a:solidFill>
          <a:ln>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09" name="Card 109"/>
          <p:cNvSpPr/>
          <p:nvPr/>
        </p:nvSpPr>
        <p:spPr>
          <a:xfrm>
            <a:off x="8613648" y="2240280"/>
            <a:ext cx="3026664" cy="1417320"/>
          </a:xfrm>
          <a:prstGeom prst="roundRect">
            <a:avLst>
              <a:gd name="adj" fmla="val 8333"/>
            </a:avLst>
          </a:prstGeom>
          <a:solidFill>
            <a:schemeClr val="tx1"/>
          </a:solidFill>
          <a:ln>
            <a:noFill/>
          </a:ln>
        </p:spPr>
      </p:sp>
      <p:sp>
        <p:nvSpPr>
          <p:cNvPr id="110" name="Text 110"/>
          <p:cNvSpPr txBox="1"/>
          <p:nvPr/>
        </p:nvSpPr>
        <p:spPr>
          <a:xfrm>
            <a:off x="8869680" y="2468880"/>
            <a:ext cx="2514600" cy="1051560"/>
          </a:xfrm>
          <a:prstGeom prst="rect">
            <a:avLst/>
          </a:prstGeom>
          <a:noFill/>
          <a:ln>
            <a:noFill/>
          </a:ln>
        </p:spPr>
        <p:txBody>
          <a:bodyPr wrap="square" lIns="0" tIns="0" rIns="0" bIns="0" rtlCol="0" anchor="t"/>
          <a:lstStyle/>
          <a:p>
            <a:pPr algn="l" indent="0" marL="0">
              <a:spcAft>
                <a:spcPts val="400"/>
              </a:spcAft>
              <a:buNone/>
            </a:pPr>
            <a:r>
              <a:rPr lang="en-US" sz="950" b="1" dirty="0">
                <a:solidFill>
                  <a:schemeClr val="accent2"/>
                </a:solidFill>
              </a:rPr>
              <a:t>RESULT</a:t>
            </a:r>
            <a:endParaRPr lang="en-US" sz="950" dirty="0"/>
          </a:p>
          <a:p>
            <a:pPr algn="l" indent="0" marL="0">
              <a:spcAft>
                <a:spcPts val="400"/>
              </a:spcAft>
              <a:buNone/>
            </a:pPr>
            <a:r>
              <a:rPr lang="en-US" sz="1600" b="1" dirty="0">
                <a:solidFill>
                  <a:schemeClr val="bg1"/>
                </a:solidFill>
              </a:rPr>
              <a:t>Every car is discounted</a:t>
            </a:r>
            <a:endParaRPr lang="en-US" sz="1600" dirty="0"/>
          </a:p>
          <a:p>
            <a:pPr algn="l" indent="0" marL="0">
              <a:buNone/>
            </a:pPr>
            <a:r>
              <a:rPr lang="en-US" sz="1100" dirty="0">
                <a:solidFill>
                  <a:schemeClr val="accent5"/>
                </a:solidFill>
              </a:rPr>
              <a:t>Doubt sets the price, so good cars leave the market.</a:t>
            </a:r>
            <a:endParaRPr lang="en-US" sz="1100" dirty="0"/>
          </a:p>
        </p:txBody>
      </p:sp>
      <p:sp>
        <p:nvSpPr>
          <p:cNvPr id="111" name="sparkle 111"/>
          <p:cNvSpPr/>
          <p:nvPr/>
        </p:nvSpPr>
        <p:spPr>
          <a:xfrm>
            <a:off x="11338560" y="1965960"/>
            <a:ext cx="548640" cy="548640"/>
          </a:xfrm>
          <a:prstGeom prst="star4">
            <a:avLst/>
          </a:prstGeom>
          <a:solidFill>
            <a:schemeClr val="accent2"/>
          </a:solidFill>
          <a:ln>
            <a:noFill/>
          </a:ln>
        </p:spPr>
      </p:sp>
      <p:sp>
        <p:nvSpPr>
          <p:cNvPr id="112" name="Text 112"/>
          <p:cNvSpPr txBox="1"/>
          <p:nvPr/>
        </p:nvSpPr>
        <p:spPr>
          <a:xfrm>
            <a:off x="548640" y="3977640"/>
            <a:ext cx="7315200" cy="274320"/>
          </a:xfrm>
          <a:prstGeom prst="rect">
            <a:avLst/>
          </a:prstGeom>
          <a:noFill/>
          <a:ln>
            <a:noFill/>
          </a:ln>
        </p:spPr>
        <p:txBody>
          <a:bodyPr wrap="square" lIns="0" tIns="0" rIns="0" bIns="0" rtlCol="0" anchor="ctr"/>
          <a:lstStyle/>
          <a:p>
            <a:pPr algn="l" indent="0" marL="0">
              <a:buNone/>
            </a:pPr>
            <a:r>
              <a:rPr lang="en-US" sz="1100" b="1" dirty="0">
                <a:solidFill>
                  <a:schemeClr val="tx2"/>
                </a:solidFill>
              </a:rPr>
              <a:t>What the gap costs</a:t>
            </a:r>
            <a:endParaRPr lang="en-US" sz="1100" dirty="0"/>
          </a:p>
        </p:txBody>
      </p:sp>
      <p:sp>
        <p:nvSpPr>
          <p:cNvPr id="113" name="Card 113"/>
          <p:cNvSpPr/>
          <p:nvPr/>
        </p:nvSpPr>
        <p:spPr>
          <a:xfrm>
            <a:off x="548640" y="4325112"/>
            <a:ext cx="5413248" cy="118872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14" name="Text 114"/>
          <p:cNvSpPr txBox="1"/>
          <p:nvPr/>
        </p:nvSpPr>
        <p:spPr>
          <a:xfrm>
            <a:off x="822960" y="4325112"/>
            <a:ext cx="2331720" cy="1188720"/>
          </a:xfrm>
          <a:prstGeom prst="rect">
            <a:avLst/>
          </a:prstGeom>
          <a:noFill/>
          <a:ln>
            <a:noFill/>
          </a:ln>
        </p:spPr>
        <p:txBody>
          <a:bodyPr wrap="square" lIns="0" tIns="0" rIns="0" bIns="0" rtlCol="0" anchor="ctr"/>
          <a:lstStyle/>
          <a:p>
            <a:pPr algn="l" indent="0" marL="0">
              <a:buNone/>
            </a:pPr>
            <a:r>
              <a:rPr lang="en-US" sz="3000" b="1" dirty="0">
                <a:solidFill>
                  <a:schemeClr val="accent1"/>
                </a:solidFill>
              </a:rPr>
              <a:t>2.0–68.9M</a:t>
            </a:r>
            <a:endParaRPr lang="en-US" sz="3000" dirty="0"/>
          </a:p>
        </p:txBody>
      </p:sp>
      <p:sp>
        <p:nvSpPr>
          <p:cNvPr id="115" name="Text 115"/>
          <p:cNvSpPr txBox="1"/>
          <p:nvPr/>
        </p:nvSpPr>
        <p:spPr>
          <a:xfrm>
            <a:off x="3246120" y="4434840"/>
            <a:ext cx="2487168" cy="969264"/>
          </a:xfrm>
          <a:prstGeom prst="rect">
            <a:avLst/>
          </a:prstGeom>
          <a:noFill/>
          <a:ln>
            <a:noFill/>
          </a:ln>
        </p:spPr>
        <p:txBody>
          <a:bodyPr wrap="square" lIns="0" tIns="0" rIns="0" bIns="0" rtlCol="0" anchor="ctr"/>
          <a:lstStyle/>
          <a:p>
            <a:pPr algn="l" indent="0" marL="0">
              <a:spcAft>
                <a:spcPts val="300"/>
              </a:spcAft>
              <a:buNone/>
            </a:pPr>
            <a:r>
              <a:rPr lang="en-US" sz="1100" dirty="0">
                <a:solidFill>
                  <a:schemeClr val="tx1"/>
                </a:solidFill>
              </a:rPr>
              <a:t>CLP asking prices for the same model, the Ford F‑150, in 2025. Price alone does not reveal condition.</a:t>
            </a:r>
            <a:endParaRPr lang="en-US" sz="1100" dirty="0"/>
          </a:p>
          <a:p>
            <a:pPr algn="l" indent="0" marL="0">
              <a:buNone/>
            </a:pPr>
            <a:r>
              <a:rPr lang="en-US" sz="900" dirty="0">
                <a:solidFill>
                  <a:schemeClr val="tx2"/>
                </a:solidFill>
              </a:rPr>
              <a:t>Guzmán, 2026</a:t>
            </a:r>
            <a:endParaRPr lang="en-US" sz="900" dirty="0"/>
          </a:p>
        </p:txBody>
      </p:sp>
      <p:sp>
        <p:nvSpPr>
          <p:cNvPr id="116" name="Card 116"/>
          <p:cNvSpPr/>
          <p:nvPr/>
        </p:nvSpPr>
        <p:spPr>
          <a:xfrm>
            <a:off x="6227064" y="4325112"/>
            <a:ext cx="5413248" cy="118872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17" name="Text 117"/>
          <p:cNvSpPr txBox="1"/>
          <p:nvPr/>
        </p:nvSpPr>
        <p:spPr>
          <a:xfrm>
            <a:off x="6501384" y="4325112"/>
            <a:ext cx="2331720" cy="1188720"/>
          </a:xfrm>
          <a:prstGeom prst="rect">
            <a:avLst/>
          </a:prstGeom>
          <a:noFill/>
          <a:ln>
            <a:noFill/>
          </a:ln>
        </p:spPr>
        <p:txBody>
          <a:bodyPr wrap="square" lIns="0" tIns="0" rIns="0" bIns="0" rtlCol="0" anchor="ctr"/>
          <a:lstStyle/>
          <a:p>
            <a:pPr algn="l" indent="0" marL="0">
              <a:buNone/>
            </a:pPr>
            <a:r>
              <a:rPr lang="en-US" sz="3000" b="1" dirty="0">
                <a:solidFill>
                  <a:schemeClr val="accent1"/>
                </a:solidFill>
              </a:rPr>
              <a:t>52.3 days</a:t>
            </a:r>
            <a:endParaRPr lang="en-US" sz="3000" dirty="0"/>
          </a:p>
        </p:txBody>
      </p:sp>
      <p:sp>
        <p:nvSpPr>
          <p:cNvPr id="118" name="Text 118"/>
          <p:cNvSpPr txBox="1"/>
          <p:nvPr/>
        </p:nvSpPr>
        <p:spPr>
          <a:xfrm>
            <a:off x="8924544" y="4434840"/>
            <a:ext cx="2487168" cy="969264"/>
          </a:xfrm>
          <a:prstGeom prst="rect">
            <a:avLst/>
          </a:prstGeom>
          <a:noFill/>
          <a:ln>
            <a:noFill/>
          </a:ln>
        </p:spPr>
        <p:txBody>
          <a:bodyPr wrap="square" lIns="0" tIns="0" rIns="0" bIns="0" rtlCol="0" anchor="ctr"/>
          <a:lstStyle/>
          <a:p>
            <a:pPr algn="l" indent="0" marL="0">
              <a:spcAft>
                <a:spcPts val="300"/>
              </a:spcAft>
              <a:buNone/>
            </a:pPr>
            <a:r>
              <a:rPr lang="en-US" sz="1100" dirty="0">
                <a:solidFill>
                  <a:schemeClr val="tx1"/>
                </a:solidFill>
              </a:rPr>
              <a:t>average time a car spends in an insured repair workshop. Hidden damage shows up late.</a:t>
            </a:r>
            <a:endParaRPr lang="en-US" sz="1100" dirty="0"/>
          </a:p>
          <a:p>
            <a:pPr algn="l" indent="0" marL="0">
              <a:buNone/>
            </a:pPr>
            <a:r>
              <a:rPr lang="en-US" sz="900" dirty="0">
                <a:solidFill>
                  <a:schemeClr val="tx2"/>
                </a:solidFill>
              </a:rPr>
              <a:t>Farías, 2026</a:t>
            </a:r>
            <a:endParaRPr lang="en-US" sz="900" dirty="0"/>
          </a:p>
        </p:txBody>
      </p:sp>
      <p:sp>
        <p:nvSpPr>
          <p:cNvPr id="119" name="Pill 119"/>
          <p:cNvSpPr txBox="1"/>
          <p:nvPr/>
        </p:nvSpPr>
        <p:spPr>
          <a:xfrm>
            <a:off x="548640" y="5760720"/>
            <a:ext cx="5120640" cy="365760"/>
          </a:xfrm>
          <a:prstGeom prst="roundRect">
            <a:avLst>
              <a:gd name="adj" fmla="val 50000"/>
            </a:avLst>
          </a:prstGeom>
          <a:solidFill>
            <a:schemeClr val="tx1"/>
          </a:solidFill>
          <a:ln>
            <a:noFill/>
          </a:ln>
        </p:spPr>
        <p:txBody>
          <a:bodyPr wrap="square" lIns="36576" tIns="0" rIns="36576" bIns="0" rtlCol="0" anchor="ctr"/>
          <a:lstStyle/>
          <a:p>
            <a:pPr algn="ctr" indent="0" marL="0">
              <a:buNone/>
            </a:pPr>
            <a:r>
              <a:rPr lang="en-US" sz="1150" b="1" dirty="0">
                <a:solidFill>
                  <a:schemeClr val="bg1"/>
                </a:solidFill>
              </a:rPr>
              <a:t>Hidden condition = a cost on every deal</a:t>
            </a:r>
            <a:endParaRPr lang="en-US" sz="11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Who carries the gap</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1,060,919 used-car transfers in 2025: who faces the gap, what widens it, who protects the buyer.</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Sources: CAVEM (2026a, 2026c, 2026e); ANAC (2026); SII (2024), own estimate of purchases per dealer; Ley N.° 19.496 (1997); Melelli Viveros (2026).</a:t>
            </a:r>
            <a:endParaRPr lang="en-US" sz="850" dirty="0"/>
          </a:p>
        </p:txBody>
      </p:sp>
      <p:sp>
        <p:nvSpPr>
          <p:cNvPr id="120" name="Card 120"/>
          <p:cNvSpPr/>
          <p:nvPr/>
        </p:nvSpPr>
        <p:spPr>
          <a:xfrm>
            <a:off x="548640" y="2240280"/>
            <a:ext cx="4160520" cy="3310128"/>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21" name="Text 121"/>
          <p:cNvSpPr txBox="1"/>
          <p:nvPr/>
        </p:nvSpPr>
        <p:spPr>
          <a:xfrm>
            <a:off x="822960" y="2468880"/>
            <a:ext cx="3611880" cy="502920"/>
          </a:xfrm>
          <a:prstGeom prst="rect">
            <a:avLst/>
          </a:prstGeom>
          <a:noFill/>
          <a:ln>
            <a:noFill/>
          </a:ln>
        </p:spPr>
        <p:txBody>
          <a:bodyPr wrap="square" lIns="0" tIns="0" rIns="0" bIns="0" rtlCol="0" anchor="t"/>
          <a:lstStyle/>
          <a:p>
            <a:pPr algn="l" indent="0" marL="0">
              <a:spcAft>
                <a:spcPts val="200"/>
              </a:spcAft>
              <a:buNone/>
            </a:pPr>
            <a:r>
              <a:rPr lang="en-US" sz="1500" b="1" dirty="0">
                <a:solidFill>
                  <a:schemeClr val="tx1"/>
                </a:solidFill>
              </a:rPr>
              <a:t>Who faces it</a:t>
            </a:r>
            <a:endParaRPr lang="en-US" sz="1500" dirty="0"/>
          </a:p>
          <a:p>
            <a:pPr algn="l" indent="0" marL="0">
              <a:buNone/>
            </a:pPr>
            <a:r>
              <a:rPr lang="en-US" sz="1000" dirty="0">
                <a:solidFill>
                  <a:schemeClr val="tx2"/>
                </a:solidFill>
              </a:rPr>
              <a:t>Share of used-car buyers, 2025</a:t>
            </a:r>
            <a:endParaRPr lang="en-US" sz="1000" dirty="0"/>
          </a:p>
        </p:txBody>
      </p:sp>
      <p:graphicFrame>
        <p:nvGraphicFramePr>
          <p:cNvPr id="6" name="chart-buyers" descr=""/>
          <p:cNvGraphicFramePr/>
          <p:nvPr/>
        </p:nvGraphicFramePr>
        <p:xfrm>
          <a:off x="731520" y="2898648"/>
          <a:ext cx="1417320" cy="1417320"/>
        </p:xfrm>
        <a:graphic xmlns:a="http://schemas.openxmlformats.org/drawingml/2006/main">
          <a:graphicData uri="http://schemas.openxmlformats.org/drawingml/2006/chart">
            <c:chart xmlns:c="http://schemas.openxmlformats.org/drawingml/2006/chart" r:id="rId1"/>
          </a:graphicData>
        </a:graphic>
      </p:graphicFrame>
      <p:sp>
        <p:nvSpPr>
          <p:cNvPr id="122" name="Text 122"/>
          <p:cNvSpPr txBox="1"/>
          <p:nvPr/>
        </p:nvSpPr>
        <p:spPr>
          <a:xfrm>
            <a:off x="731520" y="3282696"/>
            <a:ext cx="1417320" cy="640080"/>
          </a:xfrm>
          <a:prstGeom prst="rect">
            <a:avLst/>
          </a:prstGeom>
          <a:noFill/>
          <a:ln>
            <a:noFill/>
          </a:ln>
        </p:spPr>
        <p:txBody>
          <a:bodyPr wrap="square" lIns="0" tIns="0" rIns="0" bIns="0" rtlCol="0" anchor="ctr"/>
          <a:lstStyle/>
          <a:p>
            <a:pPr algn="ctr" indent="0" marL="0">
              <a:buNone/>
            </a:pPr>
            <a:r>
              <a:rPr lang="en-US" sz="1200" b="1" dirty="0">
                <a:solidFill>
                  <a:schemeClr val="accent1"/>
                </a:solidFill>
              </a:rPr>
              <a:t>83.8%</a:t>
            </a:r>
            <a:endParaRPr lang="en-US" sz="1200" dirty="0"/>
          </a:p>
          <a:p>
            <a:pPr algn="ctr" indent="0" marL="0">
              <a:buNone/>
            </a:pPr>
            <a:r>
              <a:rPr lang="en-US" sz="800" dirty="0">
                <a:solidFill>
                  <a:schemeClr val="tx2"/>
                </a:solidFill>
              </a:rPr>
              <a:t>people</a:t>
            </a:r>
            <a:endParaRPr lang="en-US" sz="800" dirty="0"/>
          </a:p>
        </p:txBody>
      </p:sp>
      <p:sp>
        <p:nvSpPr>
          <p:cNvPr id="123" name="Pill 123"/>
          <p:cNvSpPr txBox="1"/>
          <p:nvPr/>
        </p:nvSpPr>
        <p:spPr>
          <a:xfrm>
            <a:off x="2377440" y="3136392"/>
            <a:ext cx="1463040" cy="274320"/>
          </a:xfrm>
          <a:prstGeom prst="roundRect">
            <a:avLst>
              <a:gd name="adj" fmla="val 50000"/>
            </a:avLst>
          </a:prstGeom>
          <a:solidFill>
            <a:schemeClr val="accent1"/>
          </a:solidFill>
          <a:ln>
            <a:noFill/>
          </a:ln>
        </p:spPr>
        <p:txBody>
          <a:bodyPr wrap="square" lIns="36576" tIns="0" rIns="36576" bIns="0" rtlCol="0" anchor="ctr"/>
          <a:lstStyle/>
          <a:p>
            <a:pPr algn="ctr" indent="0" marL="0">
              <a:buNone/>
            </a:pPr>
            <a:r>
              <a:rPr lang="en-US" sz="950" b="1" dirty="0">
                <a:solidFill>
                  <a:schemeClr val="bg1"/>
                </a:solidFill>
              </a:rPr>
              <a:t>People 83.8%</a:t>
            </a:r>
            <a:endParaRPr lang="en-US" sz="950" dirty="0"/>
          </a:p>
        </p:txBody>
      </p:sp>
      <p:sp>
        <p:nvSpPr>
          <p:cNvPr id="124" name="Pill 124"/>
          <p:cNvSpPr txBox="1"/>
          <p:nvPr/>
        </p:nvSpPr>
        <p:spPr>
          <a:xfrm>
            <a:off x="2377440" y="3483864"/>
            <a:ext cx="1463040" cy="274320"/>
          </a:xfrm>
          <a:prstGeom prst="roundRect">
            <a:avLst>
              <a:gd name="adj" fmla="val 50000"/>
            </a:avLst>
          </a:prstGeom>
          <a:solidFill>
            <a:schemeClr val="accent2"/>
          </a:solidFill>
          <a:ln>
            <a:noFill/>
          </a:ln>
        </p:spPr>
        <p:txBody>
          <a:bodyPr wrap="square" lIns="36576" tIns="0" rIns="36576" bIns="0" rtlCol="0" anchor="ctr"/>
          <a:lstStyle/>
          <a:p>
            <a:pPr algn="ctr" indent="0" marL="0">
              <a:buNone/>
            </a:pPr>
            <a:r>
              <a:rPr lang="en-US" sz="950" b="1" dirty="0">
                <a:solidFill>
                  <a:schemeClr val="tx1"/>
                </a:solidFill>
              </a:rPr>
              <a:t>Companies 16.2%</a:t>
            </a:r>
            <a:endParaRPr lang="en-US" sz="950" dirty="0"/>
          </a:p>
        </p:txBody>
      </p:sp>
      <p:sp>
        <p:nvSpPr>
          <p:cNvPr id="125" name="Text 125"/>
          <p:cNvSpPr txBox="1"/>
          <p:nvPr/>
        </p:nvSpPr>
        <p:spPr>
          <a:xfrm>
            <a:off x="2377440" y="3831336"/>
            <a:ext cx="2057400" cy="411480"/>
          </a:xfrm>
          <a:prstGeom prst="rect">
            <a:avLst/>
          </a:prstGeom>
          <a:noFill/>
          <a:ln>
            <a:noFill/>
          </a:ln>
        </p:spPr>
        <p:txBody>
          <a:bodyPr wrap="square" lIns="0" tIns="0" rIns="0" bIns="0" rtlCol="0" anchor="t"/>
          <a:lstStyle/>
          <a:p>
            <a:pPr algn="l" indent="0" marL="0">
              <a:buNone/>
            </a:pPr>
            <a:r>
              <a:rPr lang="en-US" sz="950" dirty="0">
                <a:solidFill>
                  <a:schemeClr val="tx2"/>
                </a:solidFill>
              </a:rPr>
              <a:t>Most buyers are people, but few buy often.</a:t>
            </a:r>
            <a:endParaRPr lang="en-US" sz="950" dirty="0"/>
          </a:p>
        </p:txBody>
      </p:sp>
      <p:sp>
        <p:nvSpPr>
          <p:cNvPr id="126" name="Line 126"/>
          <p:cNvSpPr/>
          <p:nvPr/>
        </p:nvSpPr>
        <p:spPr>
          <a:xfrm>
            <a:off x="822960" y="4297680"/>
            <a:ext cx="3611880" cy="0"/>
          </a:xfrm>
          <a:prstGeom prst="line">
            <a:avLst/>
          </a:prstGeom>
          <a:noFill/>
          <a:ln w="12700">
            <a:solidFill>
              <a:schemeClr val="accent6"/>
            </a:solidFill>
          </a:ln>
        </p:spPr>
      </p:sp>
      <p:sp>
        <p:nvSpPr>
          <p:cNvPr id="127" name="Text 127"/>
          <p:cNvSpPr txBox="1"/>
          <p:nvPr/>
        </p:nvSpPr>
        <p:spPr>
          <a:xfrm>
            <a:off x="822960" y="4370832"/>
            <a:ext cx="3566160" cy="228600"/>
          </a:xfrm>
          <a:prstGeom prst="rect">
            <a:avLst/>
          </a:prstGeom>
          <a:noFill/>
          <a:ln>
            <a:noFill/>
          </a:ln>
        </p:spPr>
        <p:txBody>
          <a:bodyPr wrap="square" lIns="0" tIns="0" rIns="0" bIns="0" rtlCol="0" anchor="ctr"/>
          <a:lstStyle/>
          <a:p>
            <a:pPr algn="l" indent="0" marL="0">
              <a:buNone/>
            </a:pPr>
            <a:r>
              <a:rPr lang="en-US" sz="1000" b="1" dirty="0">
                <a:solidFill>
                  <a:schemeClr val="tx2"/>
                </a:solidFill>
              </a:rPr>
              <a:t>How often they buy</a:t>
            </a:r>
            <a:endParaRPr lang="en-US" sz="1000" dirty="0"/>
          </a:p>
        </p:txBody>
      </p:sp>
      <p:sp>
        <p:nvSpPr>
          <p:cNvPr id="128" name="Text 128"/>
          <p:cNvSpPr txBox="1"/>
          <p:nvPr/>
        </p:nvSpPr>
        <p:spPr>
          <a:xfrm>
            <a:off x="822960" y="4645152"/>
            <a:ext cx="1143000" cy="219456"/>
          </a:xfrm>
          <a:prstGeom prst="rect">
            <a:avLst/>
          </a:prstGeom>
          <a:noFill/>
          <a:ln>
            <a:noFill/>
          </a:ln>
        </p:spPr>
        <p:txBody>
          <a:bodyPr wrap="square" lIns="0" tIns="0" rIns="0" bIns="0" rtlCol="0" anchor="ctr"/>
          <a:lstStyle/>
          <a:p>
            <a:pPr algn="l" indent="0" marL="0">
              <a:buNone/>
            </a:pPr>
            <a:r>
              <a:rPr lang="en-US" sz="1000" b="1" dirty="0">
                <a:solidFill>
                  <a:schemeClr val="tx1"/>
                </a:solidFill>
              </a:rPr>
              <a:t>Private buyer</a:t>
            </a:r>
            <a:endParaRPr lang="en-US" sz="1000" dirty="0"/>
          </a:p>
        </p:txBody>
      </p:sp>
      <p:sp>
        <p:nvSpPr>
          <p:cNvPr id="129" name="Shape 129"/>
          <p:cNvSpPr/>
          <p:nvPr/>
        </p:nvSpPr>
        <p:spPr>
          <a:xfrm>
            <a:off x="1920240" y="4690872"/>
            <a:ext cx="91440" cy="128016"/>
          </a:xfrm>
          <a:prstGeom prst="roundRect">
            <a:avLst>
              <a:gd name="adj" fmla="val 25000"/>
            </a:avLst>
          </a:prstGeom>
          <a:solidFill>
            <a:schemeClr val="accent5"/>
          </a:solidFill>
          <a:ln>
            <a:noFill/>
          </a:ln>
        </p:spPr>
      </p:sp>
      <p:sp>
        <p:nvSpPr>
          <p:cNvPr id="130" name="Text 130"/>
          <p:cNvSpPr txBox="1"/>
          <p:nvPr/>
        </p:nvSpPr>
        <p:spPr>
          <a:xfrm>
            <a:off x="2139696" y="4645152"/>
            <a:ext cx="2286000" cy="219456"/>
          </a:xfrm>
          <a:prstGeom prst="rect">
            <a:avLst/>
          </a:prstGeom>
          <a:noFill/>
          <a:ln>
            <a:noFill/>
          </a:ln>
        </p:spPr>
        <p:txBody>
          <a:bodyPr wrap="square" lIns="0" tIns="0" rIns="0" bIns="0" rtlCol="0" anchor="ctr"/>
          <a:lstStyle/>
          <a:p>
            <a:pPr algn="l" indent="0" marL="0">
              <a:buNone/>
            </a:pPr>
            <a:r>
              <a:rPr lang="en-US" sz="950" dirty="0">
                <a:solidFill>
                  <a:schemeClr val="tx2"/>
                </a:solidFill>
              </a:rPr>
              <a:t>1 car every few years</a:t>
            </a:r>
            <a:endParaRPr lang="en-US" sz="950" dirty="0"/>
          </a:p>
        </p:txBody>
      </p:sp>
      <p:sp>
        <p:nvSpPr>
          <p:cNvPr id="131" name="Text 131"/>
          <p:cNvSpPr txBox="1"/>
          <p:nvPr/>
        </p:nvSpPr>
        <p:spPr>
          <a:xfrm>
            <a:off x="822960" y="4910328"/>
            <a:ext cx="1143000" cy="219456"/>
          </a:xfrm>
          <a:prstGeom prst="rect">
            <a:avLst/>
          </a:prstGeom>
          <a:noFill/>
          <a:ln>
            <a:noFill/>
          </a:ln>
        </p:spPr>
        <p:txBody>
          <a:bodyPr wrap="square" lIns="0" tIns="0" rIns="0" bIns="0" rtlCol="0" anchor="ctr"/>
          <a:lstStyle/>
          <a:p>
            <a:pPr algn="l" indent="0" marL="0">
              <a:buNone/>
            </a:pPr>
            <a:r>
              <a:rPr lang="en-US" sz="1000" b="1" dirty="0">
                <a:solidFill>
                  <a:schemeClr val="tx1"/>
                </a:solidFill>
              </a:rPr>
              <a:t>Core dealer</a:t>
            </a:r>
            <a:endParaRPr lang="en-US" sz="1000" dirty="0"/>
          </a:p>
        </p:txBody>
      </p:sp>
      <p:sp>
        <p:nvSpPr>
          <p:cNvPr id="132" name="Shape 132"/>
          <p:cNvSpPr/>
          <p:nvPr/>
        </p:nvSpPr>
        <p:spPr>
          <a:xfrm>
            <a:off x="1920240" y="4956048"/>
            <a:ext cx="91440" cy="128016"/>
          </a:xfrm>
          <a:prstGeom prst="roundRect">
            <a:avLst>
              <a:gd name="adj" fmla="val 25000"/>
            </a:avLst>
          </a:prstGeom>
          <a:solidFill>
            <a:schemeClr val="accent2"/>
          </a:solidFill>
          <a:ln>
            <a:noFill/>
          </a:ln>
        </p:spPr>
      </p:sp>
      <p:sp>
        <p:nvSpPr>
          <p:cNvPr id="133" name="Shape 133"/>
          <p:cNvSpPr/>
          <p:nvPr/>
        </p:nvSpPr>
        <p:spPr>
          <a:xfrm>
            <a:off x="2048256" y="4956048"/>
            <a:ext cx="91440" cy="128016"/>
          </a:xfrm>
          <a:prstGeom prst="roundRect">
            <a:avLst>
              <a:gd name="adj" fmla="val 25000"/>
            </a:avLst>
          </a:prstGeom>
          <a:solidFill>
            <a:schemeClr val="accent2"/>
          </a:solidFill>
          <a:ln>
            <a:noFill/>
          </a:ln>
        </p:spPr>
      </p:sp>
      <p:sp>
        <p:nvSpPr>
          <p:cNvPr id="134" name="Shape 134"/>
          <p:cNvSpPr/>
          <p:nvPr/>
        </p:nvSpPr>
        <p:spPr>
          <a:xfrm>
            <a:off x="2176272" y="4956048"/>
            <a:ext cx="91440" cy="128016"/>
          </a:xfrm>
          <a:prstGeom prst="roundRect">
            <a:avLst>
              <a:gd name="adj" fmla="val 25000"/>
            </a:avLst>
          </a:prstGeom>
          <a:solidFill>
            <a:schemeClr val="accent2"/>
          </a:solidFill>
          <a:ln>
            <a:noFill/>
          </a:ln>
        </p:spPr>
      </p:sp>
      <p:sp>
        <p:nvSpPr>
          <p:cNvPr id="135" name="Shape 135"/>
          <p:cNvSpPr/>
          <p:nvPr/>
        </p:nvSpPr>
        <p:spPr>
          <a:xfrm>
            <a:off x="2304288" y="4956048"/>
            <a:ext cx="91440" cy="128016"/>
          </a:xfrm>
          <a:prstGeom prst="roundRect">
            <a:avLst>
              <a:gd name="adj" fmla="val 25000"/>
            </a:avLst>
          </a:prstGeom>
          <a:solidFill>
            <a:schemeClr val="accent2"/>
          </a:solidFill>
          <a:ln>
            <a:noFill/>
          </a:ln>
        </p:spPr>
      </p:sp>
      <p:sp>
        <p:nvSpPr>
          <p:cNvPr id="136" name="Shape 136"/>
          <p:cNvSpPr/>
          <p:nvPr/>
        </p:nvSpPr>
        <p:spPr>
          <a:xfrm>
            <a:off x="2432304" y="4956048"/>
            <a:ext cx="91440" cy="128016"/>
          </a:xfrm>
          <a:prstGeom prst="roundRect">
            <a:avLst>
              <a:gd name="adj" fmla="val 25000"/>
            </a:avLst>
          </a:prstGeom>
          <a:solidFill>
            <a:schemeClr val="accent2"/>
          </a:solidFill>
          <a:ln>
            <a:noFill/>
          </a:ln>
        </p:spPr>
      </p:sp>
      <p:sp>
        <p:nvSpPr>
          <p:cNvPr id="137" name="Shape 137"/>
          <p:cNvSpPr/>
          <p:nvPr/>
        </p:nvSpPr>
        <p:spPr>
          <a:xfrm>
            <a:off x="2560320" y="4956048"/>
            <a:ext cx="91440" cy="128016"/>
          </a:xfrm>
          <a:prstGeom prst="roundRect">
            <a:avLst>
              <a:gd name="adj" fmla="val 25000"/>
            </a:avLst>
          </a:prstGeom>
          <a:solidFill>
            <a:schemeClr val="accent2"/>
          </a:solidFill>
          <a:ln>
            <a:noFill/>
          </a:ln>
        </p:spPr>
      </p:sp>
      <p:sp>
        <p:nvSpPr>
          <p:cNvPr id="138" name="Shape 138"/>
          <p:cNvSpPr/>
          <p:nvPr/>
        </p:nvSpPr>
        <p:spPr>
          <a:xfrm>
            <a:off x="2688336" y="4956048"/>
            <a:ext cx="91440" cy="128016"/>
          </a:xfrm>
          <a:prstGeom prst="roundRect">
            <a:avLst>
              <a:gd name="adj" fmla="val 25000"/>
            </a:avLst>
          </a:prstGeom>
          <a:solidFill>
            <a:schemeClr val="accent2"/>
          </a:solidFill>
          <a:ln>
            <a:noFill/>
          </a:ln>
        </p:spPr>
      </p:sp>
      <p:sp>
        <p:nvSpPr>
          <p:cNvPr id="139" name="Shape 139"/>
          <p:cNvSpPr/>
          <p:nvPr/>
        </p:nvSpPr>
        <p:spPr>
          <a:xfrm>
            <a:off x="2816352" y="4956048"/>
            <a:ext cx="91440" cy="128016"/>
          </a:xfrm>
          <a:prstGeom prst="roundRect">
            <a:avLst>
              <a:gd name="adj" fmla="val 25000"/>
            </a:avLst>
          </a:prstGeom>
          <a:solidFill>
            <a:schemeClr val="accent2"/>
          </a:solidFill>
          <a:ln>
            <a:noFill/>
          </a:ln>
        </p:spPr>
      </p:sp>
      <p:sp>
        <p:nvSpPr>
          <p:cNvPr id="140" name="Shape 140"/>
          <p:cNvSpPr/>
          <p:nvPr/>
        </p:nvSpPr>
        <p:spPr>
          <a:xfrm>
            <a:off x="2944368" y="4956048"/>
            <a:ext cx="91440" cy="128016"/>
          </a:xfrm>
          <a:prstGeom prst="roundRect">
            <a:avLst>
              <a:gd name="adj" fmla="val 25000"/>
            </a:avLst>
          </a:prstGeom>
          <a:solidFill>
            <a:schemeClr val="accent2"/>
          </a:solidFill>
          <a:ln>
            <a:noFill/>
          </a:ln>
        </p:spPr>
      </p:sp>
      <p:sp>
        <p:nvSpPr>
          <p:cNvPr id="141" name="Text 141"/>
          <p:cNvSpPr txBox="1"/>
          <p:nvPr/>
        </p:nvSpPr>
        <p:spPr>
          <a:xfrm>
            <a:off x="3163824" y="4910328"/>
            <a:ext cx="2286000" cy="219456"/>
          </a:xfrm>
          <a:prstGeom prst="rect">
            <a:avLst/>
          </a:prstGeom>
          <a:noFill/>
          <a:ln>
            <a:noFill/>
          </a:ln>
        </p:spPr>
        <p:txBody>
          <a:bodyPr wrap="square" lIns="0" tIns="0" rIns="0" bIns="0" rtlCol="0" anchor="ctr"/>
          <a:lstStyle/>
          <a:p>
            <a:pPr algn="l" indent="0" marL="0">
              <a:buNone/>
            </a:pPr>
            <a:r>
              <a:rPr lang="en-US" sz="950" b="1" dirty="0">
                <a:solidFill>
                  <a:schemeClr val="accent1"/>
                </a:solidFill>
              </a:rPr>
              <a:t>≈9 cars a month</a:t>
            </a:r>
            <a:endParaRPr lang="en-US" sz="950" dirty="0"/>
          </a:p>
        </p:txBody>
      </p:sp>
      <p:sp>
        <p:nvSpPr>
          <p:cNvPr id="142" name="Text 142"/>
          <p:cNvSpPr txBox="1"/>
          <p:nvPr/>
        </p:nvSpPr>
        <p:spPr>
          <a:xfrm>
            <a:off x="822960" y="5193792"/>
            <a:ext cx="3611880" cy="274320"/>
          </a:xfrm>
          <a:prstGeom prst="rect">
            <a:avLst/>
          </a:prstGeom>
          <a:noFill/>
          <a:ln>
            <a:noFill/>
          </a:ln>
        </p:spPr>
        <p:txBody>
          <a:bodyPr wrap="square" lIns="0" tIns="0" rIns="0" bIns="0" rtlCol="0" anchor="ctr"/>
          <a:lstStyle/>
          <a:p>
            <a:pPr algn="l" indent="0" marL="0">
              <a:buNone/>
            </a:pPr>
            <a:r>
              <a:rPr lang="en-US" sz="900" b="1" dirty="0">
                <a:solidFill>
                  <a:schemeClr val="tx2"/>
                </a:solidFill>
              </a:rPr>
              <a:t>Our scope: </a:t>
            </a:r>
            <a:r>
              <a:rPr lang="en-US" sz="900" dirty="0">
                <a:solidFill>
                  <a:schemeClr val="tx2"/>
                </a:solidFill>
              </a:rPr>
              <a:t>557 core dealers, 3–27 cars a month each</a:t>
            </a:r>
            <a:endParaRPr lang="en-US" sz="900" dirty="0"/>
          </a:p>
        </p:txBody>
      </p:sp>
      <p:sp>
        <p:nvSpPr>
          <p:cNvPr id="143" name="Card 143"/>
          <p:cNvSpPr/>
          <p:nvPr/>
        </p:nvSpPr>
        <p:spPr>
          <a:xfrm>
            <a:off x="4974336" y="2240280"/>
            <a:ext cx="3200400" cy="3310128"/>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44" name="Text 144"/>
          <p:cNvSpPr txBox="1"/>
          <p:nvPr/>
        </p:nvSpPr>
        <p:spPr>
          <a:xfrm>
            <a:off x="5248656" y="2468880"/>
            <a:ext cx="2651760" cy="502920"/>
          </a:xfrm>
          <a:prstGeom prst="rect">
            <a:avLst/>
          </a:prstGeom>
          <a:noFill/>
          <a:ln>
            <a:noFill/>
          </a:ln>
        </p:spPr>
        <p:txBody>
          <a:bodyPr wrap="square" lIns="0" tIns="0" rIns="0" bIns="0" rtlCol="0" anchor="t"/>
          <a:lstStyle/>
          <a:p>
            <a:pPr algn="l" indent="0" marL="0">
              <a:spcAft>
                <a:spcPts val="200"/>
              </a:spcAft>
              <a:buNone/>
            </a:pPr>
            <a:r>
              <a:rPr lang="en-US" sz="1500" b="1" dirty="0">
                <a:solidFill>
                  <a:schemeClr val="tx1"/>
                </a:solidFill>
              </a:rPr>
              <a:t>What widens it</a:t>
            </a:r>
            <a:endParaRPr lang="en-US" sz="1500" dirty="0"/>
          </a:p>
          <a:p>
            <a:pPr algn="l" indent="0" marL="0">
              <a:buNone/>
            </a:pPr>
            <a:r>
              <a:rPr lang="en-US" sz="1000" dirty="0">
                <a:solidFill>
                  <a:schemeClr val="tx2"/>
                </a:solidFill>
              </a:rPr>
              <a:t>Chinese brands, share of sales</a:t>
            </a:r>
            <a:endParaRPr lang="en-US" sz="1000" dirty="0"/>
          </a:p>
        </p:txBody>
      </p:sp>
      <p:sp>
        <p:nvSpPr>
          <p:cNvPr id="145" name="Text 145"/>
          <p:cNvSpPr txBox="1"/>
          <p:nvPr/>
        </p:nvSpPr>
        <p:spPr>
          <a:xfrm>
            <a:off x="5248656" y="3108960"/>
            <a:ext cx="2651760" cy="219456"/>
          </a:xfrm>
          <a:prstGeom prst="rect">
            <a:avLst/>
          </a:prstGeom>
          <a:noFill/>
          <a:ln>
            <a:noFill/>
          </a:ln>
        </p:spPr>
        <p:txBody>
          <a:bodyPr wrap="square" lIns="0" tIns="0" rIns="0" bIns="0" rtlCol="0" anchor="ctr"/>
          <a:lstStyle/>
          <a:p>
            <a:pPr algn="l" indent="0" marL="0">
              <a:buNone/>
            </a:pPr>
            <a:r>
              <a:rPr lang="en-US" sz="950" dirty="0">
                <a:solidFill>
                  <a:schemeClr val="tx2"/>
                </a:solidFill>
              </a:rPr>
              <a:t>New cars  ·  ANAC 2026</a:t>
            </a:r>
            <a:endParaRPr lang="en-US" sz="950" dirty="0"/>
          </a:p>
        </p:txBody>
      </p:sp>
      <p:sp>
        <p:nvSpPr>
          <p:cNvPr id="146" name="Shape 146"/>
          <p:cNvSpPr/>
          <p:nvPr/>
        </p:nvSpPr>
        <p:spPr>
          <a:xfrm>
            <a:off x="5248656" y="3383280"/>
            <a:ext cx="1600200" cy="310896"/>
          </a:xfrm>
          <a:prstGeom prst="roundRect">
            <a:avLst>
              <a:gd name="adj" fmla="val 50000"/>
            </a:avLst>
          </a:prstGeom>
          <a:solidFill>
            <a:schemeClr val="bg2"/>
          </a:solidFill>
          <a:ln>
            <a:noFill/>
          </a:ln>
        </p:spPr>
      </p:sp>
      <p:sp>
        <p:nvSpPr>
          <p:cNvPr id="147" name="Shape 147"/>
          <p:cNvSpPr/>
          <p:nvPr/>
        </p:nvSpPr>
        <p:spPr>
          <a:xfrm>
            <a:off x="5248656" y="3383280"/>
            <a:ext cx="1324966" cy="310896"/>
          </a:xfrm>
          <a:prstGeom prst="roundRect">
            <a:avLst>
              <a:gd name="adj" fmla="val 50000"/>
            </a:avLst>
          </a:prstGeom>
          <a:solidFill>
            <a:schemeClr val="accent1"/>
          </a:solidFill>
          <a:ln>
            <a:noFill/>
          </a:ln>
        </p:spPr>
      </p:sp>
      <p:sp>
        <p:nvSpPr>
          <p:cNvPr id="148" name="Text 148"/>
          <p:cNvSpPr txBox="1"/>
          <p:nvPr/>
        </p:nvSpPr>
        <p:spPr>
          <a:xfrm>
            <a:off x="6958584" y="3337560"/>
            <a:ext cx="941832" cy="402336"/>
          </a:xfrm>
          <a:prstGeom prst="rect">
            <a:avLst/>
          </a:prstGeom>
          <a:noFill/>
          <a:ln>
            <a:noFill/>
          </a:ln>
        </p:spPr>
        <p:txBody>
          <a:bodyPr wrap="square" lIns="0" tIns="0" rIns="0" bIns="0" rtlCol="0" anchor="ctr"/>
          <a:lstStyle/>
          <a:p>
            <a:pPr algn="l" indent="0" marL="0">
              <a:buNone/>
            </a:pPr>
            <a:r>
              <a:rPr lang="en-US" sz="1600" b="1" dirty="0">
                <a:solidFill>
                  <a:schemeClr val="accent1"/>
                </a:solidFill>
              </a:rPr>
              <a:t>41.4%</a:t>
            </a:r>
            <a:endParaRPr lang="en-US" sz="1600" dirty="0"/>
          </a:p>
        </p:txBody>
      </p:sp>
      <p:sp>
        <p:nvSpPr>
          <p:cNvPr id="149" name="Text 149"/>
          <p:cNvSpPr txBox="1"/>
          <p:nvPr/>
        </p:nvSpPr>
        <p:spPr>
          <a:xfrm>
            <a:off x="5248656" y="3931920"/>
            <a:ext cx="2651760" cy="219456"/>
          </a:xfrm>
          <a:prstGeom prst="rect">
            <a:avLst/>
          </a:prstGeom>
          <a:noFill/>
          <a:ln>
            <a:noFill/>
          </a:ln>
        </p:spPr>
        <p:txBody>
          <a:bodyPr wrap="square" lIns="0" tIns="0" rIns="0" bIns="0" rtlCol="0" anchor="ctr"/>
          <a:lstStyle/>
          <a:p>
            <a:pPr algn="l" indent="0" marL="0">
              <a:buNone/>
            </a:pPr>
            <a:r>
              <a:rPr lang="en-US" sz="950" dirty="0">
                <a:solidFill>
                  <a:schemeClr val="tx2"/>
                </a:solidFill>
              </a:rPr>
              <a:t>Used cars  ·  CAVEM 2026</a:t>
            </a:r>
            <a:endParaRPr lang="en-US" sz="950" dirty="0"/>
          </a:p>
        </p:txBody>
      </p:sp>
      <p:sp>
        <p:nvSpPr>
          <p:cNvPr id="150" name="Shape 150"/>
          <p:cNvSpPr/>
          <p:nvPr/>
        </p:nvSpPr>
        <p:spPr>
          <a:xfrm>
            <a:off x="5248656" y="4206240"/>
            <a:ext cx="1600200" cy="310896"/>
          </a:xfrm>
          <a:prstGeom prst="roundRect">
            <a:avLst>
              <a:gd name="adj" fmla="val 50000"/>
            </a:avLst>
          </a:prstGeom>
          <a:solidFill>
            <a:schemeClr val="bg2"/>
          </a:solidFill>
          <a:ln>
            <a:noFill/>
          </a:ln>
        </p:spPr>
      </p:sp>
      <p:sp>
        <p:nvSpPr>
          <p:cNvPr id="151" name="Shape 151"/>
          <p:cNvSpPr/>
          <p:nvPr/>
        </p:nvSpPr>
        <p:spPr>
          <a:xfrm>
            <a:off x="5248656" y="4206240"/>
            <a:ext cx="414452" cy="310896"/>
          </a:xfrm>
          <a:prstGeom prst="roundRect">
            <a:avLst>
              <a:gd name="adj" fmla="val 50000"/>
            </a:avLst>
          </a:prstGeom>
          <a:solidFill>
            <a:schemeClr val="accent2"/>
          </a:solidFill>
          <a:ln>
            <a:noFill/>
          </a:ln>
        </p:spPr>
      </p:sp>
      <p:sp>
        <p:nvSpPr>
          <p:cNvPr id="152" name="Text 152"/>
          <p:cNvSpPr txBox="1"/>
          <p:nvPr/>
        </p:nvSpPr>
        <p:spPr>
          <a:xfrm>
            <a:off x="6958584" y="4160520"/>
            <a:ext cx="941832" cy="402336"/>
          </a:xfrm>
          <a:prstGeom prst="rect">
            <a:avLst/>
          </a:prstGeom>
          <a:noFill/>
          <a:ln>
            <a:noFill/>
          </a:ln>
        </p:spPr>
        <p:txBody>
          <a:bodyPr wrap="square" lIns="0" tIns="0" rIns="0" bIns="0" rtlCol="0" anchor="ctr"/>
          <a:lstStyle/>
          <a:p>
            <a:pPr algn="l" indent="0" marL="0">
              <a:buNone/>
            </a:pPr>
            <a:r>
              <a:rPr lang="en-US" sz="1600" b="1" dirty="0">
                <a:solidFill>
                  <a:schemeClr val="accent1"/>
                </a:solidFill>
              </a:rPr>
              <a:t>12.95%</a:t>
            </a:r>
            <a:endParaRPr lang="en-US" sz="1600" dirty="0"/>
          </a:p>
        </p:txBody>
      </p:sp>
      <p:sp>
        <p:nvSpPr>
          <p:cNvPr id="153" name="Text 153"/>
          <p:cNvSpPr txBox="1"/>
          <p:nvPr/>
        </p:nvSpPr>
        <p:spPr>
          <a:xfrm>
            <a:off x="5248656" y="3685032"/>
            <a:ext cx="2651760" cy="237744"/>
          </a:xfrm>
          <a:prstGeom prst="rect">
            <a:avLst/>
          </a:prstGeom>
          <a:noFill/>
          <a:ln>
            <a:noFill/>
          </a:ln>
        </p:spPr>
        <p:txBody>
          <a:bodyPr wrap="square" lIns="0" tIns="0" rIns="0" bIns="0" rtlCol="0" anchor="ctr"/>
          <a:lstStyle/>
          <a:p>
            <a:pPr algn="l" indent="0" marL="0">
              <a:buNone/>
            </a:pPr>
            <a:r>
              <a:rPr lang="en-US" sz="900" b="1" i="1" dirty="0">
                <a:solidFill>
                  <a:schemeClr val="accent1"/>
                </a:solidFill>
              </a:rPr>
              <a:t>↓  in 3–5 years their factory warranty ends</a:t>
            </a:r>
            <a:endParaRPr lang="en-US" sz="900" dirty="0"/>
          </a:p>
        </p:txBody>
      </p:sp>
      <p:sp>
        <p:nvSpPr>
          <p:cNvPr id="154" name="Shape 154"/>
          <p:cNvSpPr txBox="1"/>
          <p:nvPr/>
        </p:nvSpPr>
        <p:spPr>
          <a:xfrm>
            <a:off x="5248656" y="4636008"/>
            <a:ext cx="2651760" cy="713232"/>
          </a:xfrm>
          <a:prstGeom prst="roundRect">
            <a:avLst>
              <a:gd name="adj" fmla="val 16000"/>
            </a:avLst>
          </a:prstGeom>
          <a:solidFill>
            <a:schemeClr val="accent3"/>
          </a:solidFill>
          <a:ln>
            <a:noFill/>
          </a:ln>
        </p:spPr>
        <p:txBody>
          <a:bodyPr wrap="square" lIns="128016" tIns="54864" rIns="128016" bIns="54864" rtlCol="0" anchor="ctr"/>
          <a:lstStyle/>
          <a:p>
            <a:pPr algn="l" indent="0" marL="0">
              <a:buNone/>
            </a:pPr>
            <a:r>
              <a:rPr lang="en-US" sz="1000" b="1" dirty="0">
                <a:solidFill>
                  <a:schemeClr val="tx1"/>
                </a:solidFill>
              </a:rPr>
              <a:t>They reach the used market with little local record of typical faults or part prices.</a:t>
            </a:r>
            <a:endParaRPr lang="en-US" sz="1000" dirty="0"/>
          </a:p>
        </p:txBody>
      </p:sp>
      <p:sp>
        <p:nvSpPr>
          <p:cNvPr id="155" name="Card 155"/>
          <p:cNvSpPr/>
          <p:nvPr/>
        </p:nvSpPr>
        <p:spPr>
          <a:xfrm>
            <a:off x="8439912" y="2240280"/>
            <a:ext cx="3200400" cy="3310128"/>
          </a:xfrm>
          <a:prstGeom prst="roundRect">
            <a:avLst>
              <a:gd name="adj" fmla="val 8333"/>
            </a:avLst>
          </a:prstGeom>
          <a:solidFill>
            <a:schemeClr val="accent1"/>
          </a:solidFill>
          <a:ln>
            <a:noFill/>
          </a:ln>
        </p:spPr>
      </p:sp>
      <p:sp>
        <p:nvSpPr>
          <p:cNvPr id="156" name="Text 156"/>
          <p:cNvSpPr txBox="1"/>
          <p:nvPr/>
        </p:nvSpPr>
        <p:spPr>
          <a:xfrm>
            <a:off x="8714232" y="2468880"/>
            <a:ext cx="2651760" cy="502920"/>
          </a:xfrm>
          <a:prstGeom prst="rect">
            <a:avLst/>
          </a:prstGeom>
          <a:noFill/>
          <a:ln>
            <a:noFill/>
          </a:ln>
        </p:spPr>
        <p:txBody>
          <a:bodyPr wrap="square" lIns="0" tIns="0" rIns="0" bIns="0" rtlCol="0" anchor="t"/>
          <a:lstStyle/>
          <a:p>
            <a:pPr algn="l" indent="0" marL="0">
              <a:spcAft>
                <a:spcPts val="200"/>
              </a:spcAft>
              <a:buNone/>
            </a:pPr>
            <a:r>
              <a:rPr lang="en-US" sz="1500" b="1" dirty="0">
                <a:solidFill>
                  <a:schemeClr val="bg1"/>
                </a:solidFill>
              </a:rPr>
              <a:t>Who protects the buyer?</a:t>
            </a:r>
            <a:endParaRPr lang="en-US" sz="1500" dirty="0"/>
          </a:p>
          <a:p>
            <a:pPr algn="l" indent="0" marL="0">
              <a:buNone/>
            </a:pPr>
            <a:r>
              <a:rPr lang="en-US" sz="1000" dirty="0">
                <a:solidFill>
                  <a:schemeClr val="accent5"/>
                </a:solidFill>
              </a:rPr>
              <a:t>Legal cover by type of seller</a:t>
            </a:r>
            <a:endParaRPr lang="en-US" sz="1000" dirty="0"/>
          </a:p>
        </p:txBody>
      </p:sp>
      <p:sp>
        <p:nvSpPr>
          <p:cNvPr id="157" name="Circle 157"/>
          <p:cNvSpPr txBox="1"/>
          <p:nvPr/>
        </p:nvSpPr>
        <p:spPr>
          <a:xfrm>
            <a:off x="8714232" y="3136392"/>
            <a:ext cx="347472" cy="347472"/>
          </a:xfrm>
          <a:prstGeom prst="ellipse">
            <a:avLst/>
          </a:prstGeom>
          <a:solidFill>
            <a:schemeClr val="accent2"/>
          </a:solidFill>
          <a:ln>
            <a:no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58" name="Text 158"/>
          <p:cNvSpPr txBox="1"/>
          <p:nvPr/>
        </p:nvSpPr>
        <p:spPr>
          <a:xfrm>
            <a:off x="9189720" y="3108960"/>
            <a:ext cx="2176272" cy="640080"/>
          </a:xfrm>
          <a:prstGeom prst="rect">
            <a:avLst/>
          </a:prstGeom>
          <a:noFill/>
          <a:ln>
            <a:noFill/>
          </a:ln>
        </p:spPr>
        <p:txBody>
          <a:bodyPr wrap="square" lIns="0" tIns="0" rIns="0" bIns="0" rtlCol="0" anchor="t"/>
          <a:lstStyle/>
          <a:p>
            <a:pPr algn="l" indent="0" marL="0">
              <a:spcAft>
                <a:spcPts val="100"/>
              </a:spcAft>
              <a:buNone/>
            </a:pPr>
            <a:r>
              <a:rPr lang="en-US" sz="1100" b="1" dirty="0">
                <a:solidFill>
                  <a:schemeClr val="bg1"/>
                </a:solidFill>
              </a:rPr>
              <a:t>From a dealer</a:t>
            </a:r>
            <a:endParaRPr lang="en-US" sz="1100" dirty="0"/>
          </a:p>
          <a:p>
            <a:pPr algn="l" indent="0" marL="0">
              <a:buNone/>
            </a:pPr>
            <a:r>
              <a:rPr lang="en-US" sz="950" dirty="0">
                <a:solidFill>
                  <a:schemeClr val="accent5"/>
                </a:solidFill>
              </a:rPr>
              <a:t>6-month legal warranty (Ley 19.496).</a:t>
            </a:r>
            <a:endParaRPr lang="en-US" sz="950" dirty="0"/>
          </a:p>
        </p:txBody>
      </p:sp>
      <p:sp>
        <p:nvSpPr>
          <p:cNvPr id="159" name="Circle 159"/>
          <p:cNvSpPr txBox="1"/>
          <p:nvPr/>
        </p:nvSpPr>
        <p:spPr>
          <a:xfrm>
            <a:off x="8714232" y="3849624"/>
            <a:ext cx="347472" cy="347472"/>
          </a:xfrm>
          <a:prstGeom prst="ellipse">
            <a:avLst/>
          </a:prstGeom>
          <a:solidFill>
            <a:schemeClr val="bg1"/>
          </a:solidFill>
          <a:ln>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sp>
        <p:nvSpPr>
          <p:cNvPr id="160" name="Text 160"/>
          <p:cNvSpPr txBox="1"/>
          <p:nvPr/>
        </p:nvSpPr>
        <p:spPr>
          <a:xfrm>
            <a:off x="9189720" y="3822192"/>
            <a:ext cx="2176272" cy="640080"/>
          </a:xfrm>
          <a:prstGeom prst="rect">
            <a:avLst/>
          </a:prstGeom>
          <a:noFill/>
          <a:ln>
            <a:noFill/>
          </a:ln>
        </p:spPr>
        <p:txBody>
          <a:bodyPr wrap="square" lIns="0" tIns="0" rIns="0" bIns="0" rtlCol="0" anchor="t"/>
          <a:lstStyle/>
          <a:p>
            <a:pPr algn="l" indent="0" marL="0">
              <a:spcAft>
                <a:spcPts val="100"/>
              </a:spcAft>
              <a:buNone/>
            </a:pPr>
            <a:r>
              <a:rPr lang="en-US" sz="1100" b="1" dirty="0">
                <a:solidFill>
                  <a:schemeClr val="bg1"/>
                </a:solidFill>
              </a:rPr>
              <a:t>From a private seller</a:t>
            </a:r>
            <a:endParaRPr lang="en-US" sz="1100" dirty="0"/>
          </a:p>
          <a:p>
            <a:pPr algn="l" indent="0" marL="0">
              <a:buNone/>
            </a:pPr>
            <a:r>
              <a:rPr lang="en-US" sz="950" dirty="0">
                <a:solidFill>
                  <a:schemeClr val="accent5"/>
                </a:solidFill>
              </a:rPr>
              <a:t>No SERNAC protection: the buyer carries the risk.</a:t>
            </a:r>
            <a:endParaRPr lang="en-US" sz="950" dirty="0"/>
          </a:p>
        </p:txBody>
      </p:sp>
      <p:sp>
        <p:nvSpPr>
          <p:cNvPr id="161" name="Shape 161"/>
          <p:cNvSpPr/>
          <p:nvPr/>
        </p:nvSpPr>
        <p:spPr>
          <a:xfrm>
            <a:off x="8714232" y="4636008"/>
            <a:ext cx="2651760" cy="713232"/>
          </a:xfrm>
          <a:prstGeom prst="roundRect">
            <a:avLst>
              <a:gd name="adj" fmla="val 16000"/>
            </a:avLst>
          </a:prstGeom>
          <a:solidFill>
            <a:schemeClr val="bg1"/>
          </a:solidFill>
          <a:ln>
            <a:noFill/>
          </a:ln>
        </p:spPr>
      </p:sp>
      <p:sp>
        <p:nvSpPr>
          <p:cNvPr id="162" name="Text 162"/>
          <p:cNvSpPr txBox="1"/>
          <p:nvPr/>
        </p:nvSpPr>
        <p:spPr>
          <a:xfrm>
            <a:off x="8842248" y="4636008"/>
            <a:ext cx="1005840" cy="713232"/>
          </a:xfrm>
          <a:prstGeom prst="rect">
            <a:avLst/>
          </a:prstGeom>
          <a:noFill/>
          <a:ln>
            <a:noFill/>
          </a:ln>
        </p:spPr>
        <p:txBody>
          <a:bodyPr wrap="square" lIns="0" tIns="0" rIns="0" bIns="0" rtlCol="0" anchor="ctr"/>
          <a:lstStyle/>
          <a:p>
            <a:pPr algn="l" indent="0" marL="0">
              <a:buNone/>
            </a:pPr>
            <a:r>
              <a:rPr lang="en-US" sz="1700" b="1" dirty="0">
                <a:solidFill>
                  <a:schemeClr val="accent1"/>
                </a:solidFill>
              </a:rPr>
              <a:t>41,700</a:t>
            </a:r>
            <a:endParaRPr lang="en-US" sz="1700" dirty="0"/>
          </a:p>
        </p:txBody>
      </p:sp>
      <p:sp>
        <p:nvSpPr>
          <p:cNvPr id="163" name="Text 163"/>
          <p:cNvSpPr txBox="1"/>
          <p:nvPr/>
        </p:nvSpPr>
        <p:spPr>
          <a:xfrm>
            <a:off x="9857232" y="4636008"/>
            <a:ext cx="1417320" cy="713232"/>
          </a:xfrm>
          <a:prstGeom prst="rect">
            <a:avLst/>
          </a:prstGeom>
          <a:noFill/>
          <a:ln>
            <a:noFill/>
          </a:ln>
        </p:spPr>
        <p:txBody>
          <a:bodyPr wrap="square" lIns="0" tIns="0" rIns="0" bIns="0" rtlCol="0" anchor="ctr"/>
          <a:lstStyle/>
          <a:p>
            <a:pPr algn="l" indent="0" marL="0">
              <a:spcAft>
                <a:spcPts val="100"/>
              </a:spcAft>
              <a:buNone/>
            </a:pPr>
            <a:r>
              <a:rPr lang="en-US" sz="900" b="1" dirty="0">
                <a:solidFill>
                  <a:schemeClr val="tx1"/>
                </a:solidFill>
              </a:rPr>
              <a:t>vehicle-fraud court cases in 2025, up 64%</a:t>
            </a:r>
            <a:endParaRPr lang="en-US" sz="900" dirty="0"/>
          </a:p>
          <a:p>
            <a:pPr algn="l" indent="0" marL="0">
              <a:buNone/>
            </a:pPr>
            <a:r>
              <a:rPr lang="en-US" sz="800" dirty="0">
                <a:solidFill>
                  <a:schemeClr val="tx2"/>
                </a:solidFill>
              </a:rPr>
              <a:t>Melelli Viveros, 2026</a:t>
            </a:r>
            <a:endParaRPr lang="en-US" sz="800" dirty="0"/>
          </a:p>
        </p:txBody>
      </p:sp>
      <p:sp>
        <p:nvSpPr>
          <p:cNvPr id="164" name="sparkle 164"/>
          <p:cNvSpPr/>
          <p:nvPr/>
        </p:nvSpPr>
        <p:spPr>
          <a:xfrm>
            <a:off x="11256264" y="1965960"/>
            <a:ext cx="548640" cy="548640"/>
          </a:xfrm>
          <a:prstGeom prst="star4">
            <a:avLst/>
          </a:prstGeom>
          <a:solidFill>
            <a:schemeClr val="accent2"/>
          </a:solidFill>
          <a:ln>
            <a:noFill/>
          </a:ln>
        </p:spPr>
      </p:sp>
      <p:sp>
        <p:nvSpPr>
          <p:cNvPr id="165" name="Pill 165"/>
          <p:cNvSpPr txBox="1"/>
          <p:nvPr/>
        </p:nvSpPr>
        <p:spPr>
          <a:xfrm>
            <a:off x="548640" y="5760720"/>
            <a:ext cx="8503920" cy="365760"/>
          </a:xfrm>
          <a:prstGeom prst="roundRect">
            <a:avLst>
              <a:gd name="adj" fmla="val 50000"/>
            </a:avLst>
          </a:prstGeom>
          <a:solidFill>
            <a:schemeClr val="tx1"/>
          </a:solidFill>
          <a:ln>
            <a:noFill/>
          </a:ln>
        </p:spPr>
        <p:txBody>
          <a:bodyPr wrap="square" lIns="36576" tIns="0" rIns="36576" bIns="0" rtlCol="0" anchor="ctr"/>
          <a:lstStyle/>
          <a:p>
            <a:pPr algn="ctr" indent="0" marL="0">
              <a:buNone/>
            </a:pPr>
            <a:r>
              <a:rPr lang="en-US" sz="1100" b="1" dirty="0">
                <a:solidFill>
                  <a:schemeClr val="bg1"/>
                </a:solidFill>
              </a:rPr>
              <a:t>Dealers face the gap on every purchase, new brands widen it, and the law barely covers it.</a:t>
            </a:r>
            <a:endParaRPr lang="en-US" sz="110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Who pays to close the gap</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Two revenue lines: the dealer pays a plan, and a private-sale buyer pays per report.</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Sources: GoAuto (n.d.); Rodar (n.d.). Prices are team hypotheses to test in OE5.</a:t>
            </a:r>
            <a:endParaRPr lang="en-US" sz="850" dirty="0"/>
          </a:p>
        </p:txBody>
      </p:sp>
      <p:sp>
        <p:nvSpPr>
          <p:cNvPr id="166" name="Card 166"/>
          <p:cNvSpPr/>
          <p:nvPr/>
        </p:nvSpPr>
        <p:spPr>
          <a:xfrm>
            <a:off x="548640" y="2240280"/>
            <a:ext cx="2743200" cy="2377440"/>
          </a:xfrm>
          <a:prstGeom prst="roundRect">
            <a:avLst>
              <a:gd name="adj" fmla="val 8333"/>
            </a:avLst>
          </a:prstGeom>
          <a:solidFill>
            <a:schemeClr val="accent1"/>
          </a:solidFill>
          <a:ln>
            <a:noFill/>
          </a:ln>
        </p:spPr>
      </p:sp>
      <p:sp>
        <p:nvSpPr>
          <p:cNvPr id="167" name="Text 167"/>
          <p:cNvSpPr txBox="1"/>
          <p:nvPr/>
        </p:nvSpPr>
        <p:spPr>
          <a:xfrm>
            <a:off x="822960" y="2496312"/>
            <a:ext cx="2194560" cy="1920240"/>
          </a:xfrm>
          <a:prstGeom prst="rect">
            <a:avLst/>
          </a:prstGeom>
          <a:noFill/>
          <a:ln>
            <a:noFill/>
          </a:ln>
        </p:spPr>
        <p:txBody>
          <a:bodyPr wrap="square" lIns="0" tIns="0" rIns="0" bIns="0" rtlCol="0" anchor="t"/>
          <a:lstStyle/>
          <a:p>
            <a:pPr algn="l" indent="0" marL="0">
              <a:spcAft>
                <a:spcPts val="400"/>
              </a:spcAft>
              <a:buNone/>
            </a:pPr>
            <a:r>
              <a:rPr lang="en-US" sz="950" b="1" dirty="0">
                <a:solidFill>
                  <a:schemeClr val="accent2"/>
                </a:solidFill>
              </a:rPr>
              <a:t>INFOCAR</a:t>
            </a:r>
            <a:endParaRPr lang="en-US" sz="950" dirty="0"/>
          </a:p>
          <a:p>
            <a:pPr algn="l" indent="0" marL="0">
              <a:spcAft>
                <a:spcPts val="400"/>
              </a:spcAft>
              <a:buNone/>
            </a:pPr>
            <a:r>
              <a:rPr lang="en-US" sz="1600" b="1" dirty="0">
                <a:solidFill>
                  <a:schemeClr val="bg1"/>
                </a:solidFill>
              </a:rPr>
              <a:t>Condition report</a:t>
            </a:r>
            <a:endParaRPr lang="en-US" sz="1600" dirty="0"/>
          </a:p>
          <a:p>
            <a:pPr algn="l" indent="0" marL="0">
              <a:spcAft>
                <a:spcPts val="1000"/>
              </a:spcAft>
              <a:buNone/>
            </a:pPr>
            <a:r>
              <a:rPr lang="en-US" sz="1100" dirty="0">
                <a:solidFill>
                  <a:schemeClr val="accent5"/>
                </a:solidFill>
              </a:rPr>
              <a:t>Damage and repair cost, built from phone photos.</a:t>
            </a:r>
            <a:endParaRPr lang="en-US" sz="1100" dirty="0"/>
          </a:p>
          <a:p>
            <a:pPr algn="l" indent="0" marL="0">
              <a:buNone/>
            </a:pPr>
            <a:r>
              <a:rPr lang="en-US" sz="1000" b="1" i="1" dirty="0">
                <a:solidFill>
                  <a:schemeClr val="bg1"/>
                </a:solidFill>
              </a:rPr>
              <a:t>One report, two ways to pay.</a:t>
            </a:r>
            <a:endParaRPr lang="en-US" sz="1000" dirty="0"/>
          </a:p>
        </p:txBody>
      </p:sp>
      <p:sp>
        <p:nvSpPr>
          <p:cNvPr id="168" name="Circle 168"/>
          <p:cNvSpPr txBox="1"/>
          <p:nvPr/>
        </p:nvSpPr>
        <p:spPr>
          <a:xfrm>
            <a:off x="3401568" y="2624328"/>
            <a:ext cx="329184" cy="329184"/>
          </a:xfrm>
          <a:prstGeom prst="ellipse">
            <a:avLst/>
          </a:prstGeom>
          <a:solidFill>
            <a:schemeClr val="tx1"/>
          </a:solidFill>
          <a:ln>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9" name="Card 169"/>
          <p:cNvSpPr/>
          <p:nvPr/>
        </p:nvSpPr>
        <p:spPr>
          <a:xfrm>
            <a:off x="3840480" y="2240280"/>
            <a:ext cx="3703320" cy="109728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70" name="Text 170"/>
          <p:cNvSpPr txBox="1"/>
          <p:nvPr/>
        </p:nvSpPr>
        <p:spPr>
          <a:xfrm>
            <a:off x="4096512" y="2423160"/>
            <a:ext cx="3191256" cy="822960"/>
          </a:xfrm>
          <a:prstGeom prst="rect">
            <a:avLst/>
          </a:prstGeom>
          <a:noFill/>
          <a:ln>
            <a:noFill/>
          </a:ln>
        </p:spPr>
        <p:txBody>
          <a:bodyPr wrap="square" lIns="0" tIns="0" rIns="0" bIns="0" rtlCol="0" anchor="t"/>
          <a:lstStyle/>
          <a:p>
            <a:pPr algn="l" indent="0" marL="0">
              <a:spcAft>
                <a:spcPts val="300"/>
              </a:spcAft>
              <a:buNone/>
            </a:pPr>
            <a:r>
              <a:rPr lang="en-US" sz="950" b="1" dirty="0">
                <a:solidFill>
                  <a:schemeClr val="accent1"/>
                </a:solidFill>
              </a:rPr>
              <a:t>B2B  ·  THE DEALER PAYS</a:t>
            </a:r>
            <a:endParaRPr lang="en-US" sz="950" dirty="0"/>
          </a:p>
          <a:p>
            <a:pPr algn="l" indent="0" marL="0">
              <a:spcAft>
                <a:spcPts val="500"/>
              </a:spcAft>
              <a:buNone/>
            </a:pPr>
            <a:r>
              <a:rPr lang="en-US" sz="1400" b="1" dirty="0">
                <a:solidFill>
                  <a:schemeClr val="tx1"/>
                </a:solidFill>
              </a:rPr>
              <a:t>Prices with the repair cost known</a:t>
            </a:r>
            <a:endParaRPr lang="en-US" sz="1400" dirty="0"/>
          </a:p>
        </p:txBody>
      </p:sp>
      <p:sp>
        <p:nvSpPr>
          <p:cNvPr id="171" name="Pill 171"/>
          <p:cNvSpPr txBox="1"/>
          <p:nvPr/>
        </p:nvSpPr>
        <p:spPr>
          <a:xfrm>
            <a:off x="4096512" y="2907792"/>
            <a:ext cx="3191256" cy="292608"/>
          </a:xfrm>
          <a:prstGeom prst="roundRect">
            <a:avLst>
              <a:gd name="adj" fmla="val 50000"/>
            </a:avLst>
          </a:prstGeom>
          <a:solidFill>
            <a:schemeClr val="accent2"/>
          </a:solidFill>
          <a:ln>
            <a:noFill/>
          </a:ln>
        </p:spPr>
        <p:txBody>
          <a:bodyPr wrap="square" lIns="36576" tIns="0" rIns="36576" bIns="0" rtlCol="0" anchor="ctr"/>
          <a:lstStyle/>
          <a:p>
            <a:pPr algn="ctr" indent="0" marL="0">
              <a:buNone/>
            </a:pPr>
            <a:r>
              <a:rPr lang="en-US" sz="1000" b="1" dirty="0">
                <a:solidFill>
                  <a:schemeClr val="tx1"/>
                </a:solidFill>
              </a:rPr>
              <a:t>Monthly plan  ·  CLP 59,900–149,900</a:t>
            </a:r>
            <a:endParaRPr lang="en-US" sz="1000" dirty="0"/>
          </a:p>
        </p:txBody>
      </p:sp>
      <p:sp>
        <p:nvSpPr>
          <p:cNvPr id="172" name="Circle 172"/>
          <p:cNvSpPr txBox="1"/>
          <p:nvPr/>
        </p:nvSpPr>
        <p:spPr>
          <a:xfrm>
            <a:off x="7653528" y="2624328"/>
            <a:ext cx="329184" cy="329184"/>
          </a:xfrm>
          <a:prstGeom prst="ellipse">
            <a:avLst/>
          </a:prstGeom>
          <a:solidFill>
            <a:schemeClr val="tx1"/>
          </a:solidFill>
          <a:ln>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3" name="Text 173"/>
          <p:cNvSpPr txBox="1"/>
          <p:nvPr/>
        </p:nvSpPr>
        <p:spPr>
          <a:xfrm>
            <a:off x="7498080" y="2258568"/>
            <a:ext cx="640080" cy="384048"/>
          </a:xfrm>
          <a:prstGeom prst="rect">
            <a:avLst/>
          </a:prstGeom>
          <a:noFill/>
          <a:ln>
            <a:noFill/>
          </a:ln>
        </p:spPr>
        <p:txBody>
          <a:bodyPr wrap="square" lIns="0" tIns="0" rIns="0" bIns="0" rtlCol="0" anchor="b"/>
          <a:lstStyle/>
          <a:p>
            <a:pPr algn="ctr" indent="0" marL="0">
              <a:buNone/>
            </a:pPr>
            <a:r>
              <a:rPr lang="en-US" sz="850" b="1" dirty="0">
                <a:solidFill>
                  <a:schemeClr val="tx2"/>
                </a:solidFill>
              </a:rPr>
              <a:t>shares it</a:t>
            </a:r>
            <a:endParaRPr lang="en-US" sz="850" dirty="0"/>
          </a:p>
          <a:p>
            <a:pPr algn="ctr" indent="0" marL="0">
              <a:buNone/>
            </a:pPr>
            <a:r>
              <a:rPr lang="en-US" sz="850" b="1" dirty="0">
                <a:solidFill>
                  <a:schemeClr val="tx2"/>
                </a:solidFill>
              </a:rPr>
              <a:t>for free</a:t>
            </a:r>
            <a:endParaRPr lang="en-US" sz="850" dirty="0"/>
          </a:p>
        </p:txBody>
      </p:sp>
      <p:sp>
        <p:nvSpPr>
          <p:cNvPr id="174" name="Card 174"/>
          <p:cNvSpPr/>
          <p:nvPr/>
        </p:nvSpPr>
        <p:spPr>
          <a:xfrm>
            <a:off x="8092440" y="2240280"/>
            <a:ext cx="3547872" cy="109728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75" name="Text 175"/>
          <p:cNvSpPr txBox="1"/>
          <p:nvPr/>
        </p:nvSpPr>
        <p:spPr>
          <a:xfrm>
            <a:off x="8348472" y="2423160"/>
            <a:ext cx="3035808" cy="822960"/>
          </a:xfrm>
          <a:prstGeom prst="rect">
            <a:avLst/>
          </a:prstGeom>
          <a:noFill/>
          <a:ln>
            <a:noFill/>
          </a:ln>
        </p:spPr>
        <p:txBody>
          <a:bodyPr wrap="square" lIns="0" tIns="0" rIns="0" bIns="0" rtlCol="0" anchor="t"/>
          <a:lstStyle/>
          <a:p>
            <a:pPr algn="l" indent="0" marL="0">
              <a:spcAft>
                <a:spcPts val="300"/>
              </a:spcAft>
              <a:buNone/>
            </a:pPr>
            <a:r>
              <a:rPr lang="en-US" sz="950" b="1" dirty="0">
                <a:solidFill>
                  <a:schemeClr val="accent1"/>
                </a:solidFill>
              </a:rPr>
              <a:t>THE DEALER'S CUSTOMER</a:t>
            </a:r>
            <a:endParaRPr lang="en-US" sz="950" dirty="0"/>
          </a:p>
          <a:p>
            <a:pPr algn="l" indent="0" marL="0">
              <a:spcAft>
                <a:spcPts val="300"/>
              </a:spcAft>
              <a:buNone/>
            </a:pPr>
            <a:r>
              <a:rPr lang="en-US" sz="1400" b="1" dirty="0">
                <a:solidFill>
                  <a:schemeClr val="tx1"/>
                </a:solidFill>
              </a:rPr>
              <a:t>Gets it for free</a:t>
            </a:r>
            <a:endParaRPr lang="en-US" sz="1400" dirty="0"/>
          </a:p>
          <a:p>
            <a:pPr algn="l" indent="0" marL="0">
              <a:buNone/>
            </a:pPr>
            <a:r>
              <a:rPr lang="en-US" sz="1000" dirty="0">
                <a:solidFill>
                  <a:schemeClr val="tx2"/>
                </a:solidFill>
              </a:rPr>
              <a:t>Trusts the car, and the dealer wins the sale.</a:t>
            </a:r>
            <a:endParaRPr lang="en-US" sz="1000" dirty="0"/>
          </a:p>
        </p:txBody>
      </p:sp>
      <p:sp>
        <p:nvSpPr>
          <p:cNvPr id="176" name="Circle 176"/>
          <p:cNvSpPr txBox="1"/>
          <p:nvPr/>
        </p:nvSpPr>
        <p:spPr>
          <a:xfrm>
            <a:off x="3401568" y="3904488"/>
            <a:ext cx="329184" cy="329184"/>
          </a:xfrm>
          <a:prstGeom prst="ellipse">
            <a:avLst/>
          </a:prstGeom>
          <a:solidFill>
            <a:schemeClr val="tx1"/>
          </a:solidFill>
          <a:ln>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7" name="Card 177"/>
          <p:cNvSpPr/>
          <p:nvPr/>
        </p:nvSpPr>
        <p:spPr>
          <a:xfrm>
            <a:off x="3840480" y="3520440"/>
            <a:ext cx="7799832" cy="1097280"/>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78" name="Text 178"/>
          <p:cNvSpPr txBox="1"/>
          <p:nvPr/>
        </p:nvSpPr>
        <p:spPr>
          <a:xfrm>
            <a:off x="4096512" y="3703320"/>
            <a:ext cx="4754880" cy="822960"/>
          </a:xfrm>
          <a:prstGeom prst="rect">
            <a:avLst/>
          </a:prstGeom>
          <a:noFill/>
          <a:ln>
            <a:noFill/>
          </a:ln>
        </p:spPr>
        <p:txBody>
          <a:bodyPr wrap="square" lIns="0" tIns="0" rIns="0" bIns="0" rtlCol="0" anchor="t"/>
          <a:lstStyle/>
          <a:p>
            <a:pPr algn="l" indent="0" marL="0">
              <a:spcAft>
                <a:spcPts val="300"/>
              </a:spcAft>
              <a:buNone/>
            </a:pPr>
            <a:r>
              <a:rPr lang="en-US" sz="950" b="1" dirty="0">
                <a:solidFill>
                  <a:schemeClr val="accent1"/>
                </a:solidFill>
              </a:rPr>
              <a:t>B2C  ·  THE BUYER PAYS</a:t>
            </a:r>
            <a:endParaRPr lang="en-US" sz="950" dirty="0"/>
          </a:p>
          <a:p>
            <a:pPr algn="l" indent="0" marL="0">
              <a:spcAft>
                <a:spcPts val="300"/>
              </a:spcAft>
              <a:buNone/>
            </a:pPr>
            <a:r>
              <a:rPr lang="en-US" sz="1400" b="1" dirty="0">
                <a:solidFill>
                  <a:schemeClr val="tx1"/>
                </a:solidFill>
              </a:rPr>
              <a:t>Buys a car from a private seller</a:t>
            </a:r>
            <a:endParaRPr lang="en-US" sz="1400" dirty="0"/>
          </a:p>
          <a:p>
            <a:pPr algn="l" indent="0" marL="0">
              <a:buNone/>
            </a:pPr>
            <a:r>
              <a:rPr lang="en-US" sz="1000" dirty="0">
                <a:solidFill>
                  <a:schemeClr val="tx2"/>
                </a:solidFill>
              </a:rPr>
              <a:t>No dealer and no legal warranty: where the law protects least.</a:t>
            </a:r>
            <a:endParaRPr lang="en-US" sz="1000" dirty="0"/>
          </a:p>
        </p:txBody>
      </p:sp>
      <p:sp>
        <p:nvSpPr>
          <p:cNvPr id="179" name="Pill 179"/>
          <p:cNvSpPr txBox="1"/>
          <p:nvPr/>
        </p:nvSpPr>
        <p:spPr>
          <a:xfrm>
            <a:off x="8641080" y="3886200"/>
            <a:ext cx="2743200" cy="365760"/>
          </a:xfrm>
          <a:prstGeom prst="roundRect">
            <a:avLst>
              <a:gd name="adj" fmla="val 50000"/>
            </a:avLst>
          </a:prstGeom>
          <a:solidFill>
            <a:schemeClr val="accent1"/>
          </a:solidFill>
          <a:ln>
            <a:noFill/>
          </a:ln>
        </p:spPr>
        <p:txBody>
          <a:bodyPr wrap="square" lIns="36576" tIns="0" rIns="36576" bIns="0" rtlCol="0" anchor="ctr"/>
          <a:lstStyle/>
          <a:p>
            <a:pPr algn="ctr" indent="0" marL="0">
              <a:buNone/>
            </a:pPr>
            <a:r>
              <a:rPr lang="en-US" sz="1050" b="1" dirty="0">
                <a:solidFill>
                  <a:schemeClr val="bg1"/>
                </a:solidFill>
              </a:rPr>
              <a:t>One report  ·  CLP 7,990–24,990</a:t>
            </a:r>
            <a:endParaRPr lang="en-US" sz="1050" dirty="0"/>
          </a:p>
        </p:txBody>
      </p:sp>
      <p:sp>
        <p:nvSpPr>
          <p:cNvPr id="180" name="Card 180"/>
          <p:cNvSpPr/>
          <p:nvPr/>
        </p:nvSpPr>
        <p:spPr>
          <a:xfrm>
            <a:off x="548640" y="4800600"/>
            <a:ext cx="11091672" cy="676656"/>
          </a:xfrm>
          <a:prstGeom prst="roundRect">
            <a:avLst>
              <a:gd name="adj" fmla="val 8333"/>
            </a:avLst>
          </a:prstGeom>
          <a:solidFill>
            <a:schemeClr val="bg1"/>
          </a:solidFill>
          <a:ln>
            <a:noFill/>
          </a:ln>
          <a:effectLst>
            <a:outerShdw blurRad="152400" dist="38100" dir="5400000" sx="100000" sy="100000" kx="0" ky="0" algn="bl" rotWithShape="0">
              <a:srgbClr val="12141C">
                <a:alpha val="13000"/>
              </a:srgbClr>
            </a:outerShdw>
          </a:effectLst>
        </p:spPr>
      </p:sp>
      <p:sp>
        <p:nvSpPr>
          <p:cNvPr id="181" name="Text 181"/>
          <p:cNvSpPr txBox="1"/>
          <p:nvPr/>
        </p:nvSpPr>
        <p:spPr>
          <a:xfrm>
            <a:off x="822960" y="4800600"/>
            <a:ext cx="2103120" cy="676656"/>
          </a:xfrm>
          <a:prstGeom prst="rect">
            <a:avLst/>
          </a:prstGeom>
          <a:noFill/>
          <a:ln>
            <a:noFill/>
          </a:ln>
        </p:spPr>
        <p:txBody>
          <a:bodyPr wrap="square" lIns="0" tIns="0" rIns="0" bIns="0" rtlCol="0" anchor="ctr"/>
          <a:lstStyle/>
          <a:p>
            <a:pPr algn="l" indent="0" marL="0">
              <a:spcAft>
                <a:spcPts val="100"/>
              </a:spcAft>
              <a:buNone/>
            </a:pPr>
            <a:r>
              <a:rPr lang="en-US" sz="1200" b="1" dirty="0">
                <a:solidFill>
                  <a:schemeClr val="tx1"/>
                </a:solidFill>
              </a:rPr>
              <a:t>Local tools today</a:t>
            </a:r>
            <a:endParaRPr lang="en-US" sz="1200" dirty="0"/>
          </a:p>
          <a:p>
            <a:pPr algn="l" indent="0" marL="0">
              <a:buNone/>
            </a:pPr>
            <a:r>
              <a:rPr lang="en-US" sz="950" dirty="0">
                <a:solidFill>
                  <a:schemeClr val="tx2"/>
                </a:solidFill>
              </a:rPr>
              <a:t>What each one needs</a:t>
            </a:r>
            <a:endParaRPr lang="en-US" sz="950" dirty="0"/>
          </a:p>
        </p:txBody>
      </p:sp>
      <p:sp>
        <p:nvSpPr>
          <p:cNvPr id="182" name="Text 182"/>
          <p:cNvSpPr txBox="1"/>
          <p:nvPr/>
        </p:nvSpPr>
        <p:spPr>
          <a:xfrm>
            <a:off x="3063240" y="4800600"/>
            <a:ext cx="2468880" cy="676656"/>
          </a:xfrm>
          <a:prstGeom prst="rect">
            <a:avLst/>
          </a:prstGeom>
          <a:noFill/>
          <a:ln>
            <a:noFill/>
          </a:ln>
        </p:spPr>
        <p:txBody>
          <a:bodyPr wrap="square" lIns="0" tIns="0" rIns="0" bIns="0" rtlCol="0" anchor="ctr"/>
          <a:lstStyle/>
          <a:p>
            <a:pPr algn="l" indent="0" marL="0">
              <a:spcAft>
                <a:spcPts val="100"/>
              </a:spcAft>
              <a:buNone/>
            </a:pPr>
            <a:r>
              <a:rPr lang="en-US" sz="1150" b="1" dirty="0">
                <a:solidFill>
                  <a:schemeClr val="accent1"/>
                </a:solidFill>
              </a:rPr>
              <a:t>GoAuto</a:t>
            </a:r>
            <a:endParaRPr lang="en-US" sz="1150" dirty="0"/>
          </a:p>
          <a:p>
            <a:pPr algn="l" indent="0" marL="0">
              <a:buNone/>
            </a:pPr>
            <a:r>
              <a:rPr lang="en-US" sz="1000" dirty="0">
                <a:solidFill>
                  <a:schemeClr val="tx1"/>
                </a:solidFill>
              </a:rPr>
              <a:t>Manages dealer stock</a:t>
            </a:r>
            <a:endParaRPr lang="en-US" sz="1000" dirty="0"/>
          </a:p>
        </p:txBody>
      </p:sp>
      <p:sp>
        <p:nvSpPr>
          <p:cNvPr id="183" name="Text 183"/>
          <p:cNvSpPr txBox="1"/>
          <p:nvPr/>
        </p:nvSpPr>
        <p:spPr>
          <a:xfrm>
            <a:off x="5897880" y="4800600"/>
            <a:ext cx="2468880" cy="676656"/>
          </a:xfrm>
          <a:prstGeom prst="rect">
            <a:avLst/>
          </a:prstGeom>
          <a:noFill/>
          <a:ln>
            <a:noFill/>
          </a:ln>
        </p:spPr>
        <p:txBody>
          <a:bodyPr wrap="square" lIns="0" tIns="0" rIns="0" bIns="0" rtlCol="0" anchor="ctr"/>
          <a:lstStyle/>
          <a:p>
            <a:pPr algn="l" indent="0" marL="0">
              <a:spcAft>
                <a:spcPts val="100"/>
              </a:spcAft>
              <a:buNone/>
            </a:pPr>
            <a:r>
              <a:rPr lang="en-US" sz="1150" b="1" dirty="0">
                <a:solidFill>
                  <a:schemeClr val="accent1"/>
                </a:solidFill>
              </a:rPr>
              <a:t>Rodar</a:t>
            </a:r>
            <a:endParaRPr lang="en-US" sz="1150" dirty="0"/>
          </a:p>
          <a:p>
            <a:pPr algn="l" indent="0" marL="0">
              <a:buNone/>
            </a:pPr>
            <a:r>
              <a:rPr lang="en-US" sz="1000" dirty="0">
                <a:solidFill>
                  <a:schemeClr val="tx1"/>
                </a:solidFill>
              </a:rPr>
              <a:t>Needs an OBD-II scanner</a:t>
            </a:r>
            <a:endParaRPr lang="en-US" sz="1000" dirty="0"/>
          </a:p>
        </p:txBody>
      </p:sp>
      <p:sp>
        <p:nvSpPr>
          <p:cNvPr id="184" name="Shape 184"/>
          <p:cNvSpPr/>
          <p:nvPr/>
        </p:nvSpPr>
        <p:spPr>
          <a:xfrm>
            <a:off x="8595360" y="4928616"/>
            <a:ext cx="2697480" cy="420624"/>
          </a:xfrm>
          <a:prstGeom prst="roundRect">
            <a:avLst>
              <a:gd name="adj" fmla="val 30000"/>
            </a:avLst>
          </a:prstGeom>
          <a:solidFill>
            <a:schemeClr val="accent2"/>
          </a:solidFill>
          <a:ln>
            <a:noFill/>
          </a:ln>
        </p:spPr>
      </p:sp>
      <p:sp>
        <p:nvSpPr>
          <p:cNvPr id="185" name="Text 185"/>
          <p:cNvSpPr txBox="1"/>
          <p:nvPr/>
        </p:nvSpPr>
        <p:spPr>
          <a:xfrm>
            <a:off x="8732520" y="4800600"/>
            <a:ext cx="2468880" cy="676656"/>
          </a:xfrm>
          <a:prstGeom prst="rect">
            <a:avLst/>
          </a:prstGeom>
          <a:noFill/>
          <a:ln>
            <a:noFill/>
          </a:ln>
        </p:spPr>
        <p:txBody>
          <a:bodyPr wrap="square" lIns="0" tIns="0" rIns="0" bIns="0" rtlCol="0" anchor="ctr"/>
          <a:lstStyle/>
          <a:p>
            <a:pPr algn="l" indent="0" marL="0">
              <a:spcAft>
                <a:spcPts val="100"/>
              </a:spcAft>
              <a:buNone/>
            </a:pPr>
            <a:r>
              <a:rPr lang="en-US" sz="1150" b="1" dirty="0">
                <a:solidFill>
                  <a:schemeClr val="tx1"/>
                </a:solidFill>
              </a:rPr>
              <a:t>InfoCar</a:t>
            </a:r>
            <a:endParaRPr lang="en-US" sz="1150" dirty="0"/>
          </a:p>
          <a:p>
            <a:pPr algn="l" indent="0" marL="0">
              <a:buNone/>
            </a:pPr>
            <a:r>
              <a:rPr lang="en-US" sz="1000" dirty="0">
                <a:solidFill>
                  <a:schemeClr val="tx1"/>
                </a:solidFill>
              </a:rPr>
              <a:t>Needs only photos</a:t>
            </a:r>
            <a:endParaRPr lang="en-US" sz="1000" dirty="0"/>
          </a:p>
        </p:txBody>
      </p:sp>
      <p:sp>
        <p:nvSpPr>
          <p:cNvPr id="186" name="sparkle 186"/>
          <p:cNvSpPr/>
          <p:nvPr/>
        </p:nvSpPr>
        <p:spPr>
          <a:xfrm>
            <a:off x="11338560" y="1965960"/>
            <a:ext cx="548640" cy="548640"/>
          </a:xfrm>
          <a:prstGeom prst="star4">
            <a:avLst/>
          </a:prstGeom>
          <a:solidFill>
            <a:schemeClr val="accent2"/>
          </a:solidFill>
          <a:ln>
            <a:noFill/>
          </a:ln>
        </p:spPr>
      </p:sp>
      <p:sp>
        <p:nvSpPr>
          <p:cNvPr id="187" name="Pill 187"/>
          <p:cNvSpPr txBox="1"/>
          <p:nvPr/>
        </p:nvSpPr>
        <p:spPr>
          <a:xfrm>
            <a:off x="548640" y="5760720"/>
            <a:ext cx="7680960" cy="365760"/>
          </a:xfrm>
          <a:prstGeom prst="roundRect">
            <a:avLst>
              <a:gd name="adj" fmla="val 50000"/>
            </a:avLst>
          </a:prstGeom>
          <a:solidFill>
            <a:schemeClr val="tx1"/>
          </a:solidFill>
          <a:ln>
            <a:noFill/>
          </a:ln>
        </p:spPr>
        <p:txBody>
          <a:bodyPr wrap="square" lIns="36576" tIns="0" rIns="36576" bIns="0" rtlCol="0" anchor="ctr"/>
          <a:lstStyle/>
          <a:p>
            <a:pPr algn="ctr" indent="0" marL="0">
              <a:buNone/>
            </a:pPr>
            <a:r>
              <a:rPr lang="en-US" sz="1100" b="1" dirty="0">
                <a:solidFill>
                  <a:schemeClr val="bg1"/>
                </a:solidFill>
              </a:rPr>
              <a:t>The dealer's customer never pays. Both prices are hypotheses that OE5 tests.</a:t>
            </a:r>
            <a:endParaRPr lang="en-US" sz="110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What we want to understand</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The objectives come first: every method decision follows from them.</a:t>
            </a:r>
            <a:endParaRPr lang="en-US" sz="1500" dirty="0"/>
          </a:p>
        </p:txBody>
      </p:sp>
      <p:sp>
        <p:nvSpPr>
          <p:cNvPr id="4" name="Text 2"/>
          <p:cNvSpPr txBox="1"/>
          <p:nvPr/>
        </p:nvSpPr>
        <p:spPr>
          <a:xfrm>
            <a:off x="548640" y="2194560"/>
            <a:ext cx="4023360" cy="3977640"/>
          </a:xfrm>
          <a:prstGeom prst="roundRect">
            <a:avLst>
              <a:gd name="adj" fmla="val 6897"/>
            </a:avLst>
          </a:prstGeom>
          <a:solidFill>
            <a:schemeClr val="accent1"/>
          </a:solidFill>
          <a:ln/>
        </p:spPr>
        <p:txBody>
          <a:bodyPr wrap="square" lIns="274320" tIns="256032" rIns="274320" bIns="228600" rtlCol="0" anchor="t"/>
          <a:lstStyle/>
          <a:p>
            <a:pPr indent="0" marL="0">
              <a:buNone/>
            </a:pPr>
            <a:endParaRPr lang="en-US" sz="1100" dirty="0"/>
          </a:p>
        </p:txBody>
      </p:sp>
      <p:sp>
        <p:nvSpPr>
          <p:cNvPr id="5" name="Text 3"/>
          <p:cNvSpPr txBox="1"/>
          <p:nvPr/>
        </p:nvSpPr>
        <p:spPr>
          <a:xfrm>
            <a:off x="868680" y="2468880"/>
            <a:ext cx="19659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General objective</a:t>
            </a:r>
            <a:endParaRPr lang="en-US" sz="1100" dirty="0"/>
          </a:p>
        </p:txBody>
      </p:sp>
      <p:sp>
        <p:nvSpPr>
          <p:cNvPr id="6" name="Text 4"/>
          <p:cNvSpPr txBox="1"/>
          <p:nvPr/>
        </p:nvSpPr>
        <p:spPr>
          <a:xfrm>
            <a:off x="868680" y="3017520"/>
            <a:ext cx="3383280" cy="1783080"/>
          </a:xfrm>
          <a:prstGeom prst="rect">
            <a:avLst/>
          </a:prstGeom>
          <a:noFill/>
          <a:ln/>
        </p:spPr>
        <p:txBody>
          <a:bodyPr wrap="square" lIns="0" tIns="0" rIns="0" bIns="0" rtlCol="0" anchor="t"/>
          <a:lstStyle/>
          <a:p>
            <a:pPr indent="0" marL="0">
              <a:buNone/>
            </a:pPr>
            <a:r>
              <a:rPr lang="en-US" sz="2000" b="1" dirty="0">
                <a:solidFill>
                  <a:schemeClr val="bg1"/>
                </a:solidFill>
              </a:rPr>
              <a:t>To understand how technical and economic certainty is valued when setting the transaction value of used cars.</a:t>
            </a:r>
            <a:endParaRPr lang="en-US" sz="2000" dirty="0"/>
          </a:p>
        </p:txBody>
      </p:sp>
      <p:sp>
        <p:nvSpPr>
          <p:cNvPr id="7" name="Shape 5"/>
          <p:cNvSpPr/>
          <p:nvPr/>
        </p:nvSpPr>
        <p:spPr>
          <a:xfrm>
            <a:off x="868680" y="5029200"/>
            <a:ext cx="3383280" cy="0"/>
          </a:xfrm>
          <a:prstGeom prst="line">
            <a:avLst/>
          </a:prstGeom>
          <a:noFill/>
          <a:ln w="12700">
            <a:solidFill>
              <a:schemeClr val="accent4"/>
            </a:solidFill>
            <a:prstDash val="solid"/>
          </a:ln>
        </p:spPr>
      </p:sp>
      <p:sp>
        <p:nvSpPr>
          <p:cNvPr id="8" name="Text 6"/>
          <p:cNvSpPr txBox="1"/>
          <p:nvPr/>
        </p:nvSpPr>
        <p:spPr>
          <a:xfrm>
            <a:off x="868680" y="5166360"/>
            <a:ext cx="3383280" cy="777240"/>
          </a:xfrm>
          <a:prstGeom prst="rect">
            <a:avLst/>
          </a:prstGeom>
          <a:noFill/>
          <a:ln/>
        </p:spPr>
        <p:txBody>
          <a:bodyPr wrap="square" lIns="0" tIns="0" rIns="0" bIns="0" rtlCol="0" anchor="t"/>
          <a:lstStyle/>
          <a:p>
            <a:pPr indent="0" marL="0">
              <a:buNone/>
            </a:pPr>
            <a:r>
              <a:rPr lang="en-US" sz="1100" dirty="0">
                <a:solidFill>
                  <a:schemeClr val="accent5"/>
                </a:solidFill>
              </a:rPr>
              <a:t>Higher-order verb + the phenomenon. No method, no who, no where.</a:t>
            </a:r>
            <a:endParaRPr lang="en-US" sz="1100" dirty="0"/>
          </a:p>
        </p:txBody>
      </p:sp>
      <p:sp>
        <p:nvSpPr>
          <p:cNvPr id="9" name="sparkle"/>
          <p:cNvSpPr/>
          <p:nvPr/>
        </p:nvSpPr>
        <p:spPr>
          <a:xfrm>
            <a:off x="4206240" y="1920240"/>
            <a:ext cx="548640" cy="548640"/>
          </a:xfrm>
          <a:prstGeom prst="star4">
            <a:avLst/>
          </a:prstGeom>
          <a:solidFill>
            <a:schemeClr val="accent2"/>
          </a:solidFill>
          <a:ln/>
        </p:spPr>
      </p:sp>
      <p:sp>
        <p:nvSpPr>
          <p:cNvPr id="10" name="Text 8"/>
          <p:cNvSpPr txBox="1"/>
          <p:nvPr/>
        </p:nvSpPr>
        <p:spPr>
          <a:xfrm>
            <a:off x="5486400" y="2194560"/>
            <a:ext cx="2926080" cy="256032"/>
          </a:xfrm>
          <a:prstGeom prst="rect">
            <a:avLst/>
          </a:prstGeom>
          <a:noFill/>
          <a:ln/>
        </p:spPr>
        <p:txBody>
          <a:bodyPr wrap="square" lIns="0" tIns="0" rIns="0" bIns="0" rtlCol="0" anchor="t"/>
          <a:lstStyle/>
          <a:p>
            <a:pPr indent="0" marL="0">
              <a:buNone/>
            </a:pPr>
            <a:r>
              <a:rPr lang="en-US" sz="950" b="1" dirty="0">
                <a:solidFill>
                  <a:schemeClr val="tx2"/>
                </a:solidFill>
              </a:rPr>
              <a:t>Specific objective</a:t>
            </a:r>
            <a:endParaRPr lang="en-US" sz="950" dirty="0"/>
          </a:p>
        </p:txBody>
      </p:sp>
      <p:sp>
        <p:nvSpPr>
          <p:cNvPr id="11" name="Text 9"/>
          <p:cNvSpPr txBox="1"/>
          <p:nvPr/>
        </p:nvSpPr>
        <p:spPr>
          <a:xfrm>
            <a:off x="8595360" y="2194560"/>
            <a:ext cx="1554480" cy="256032"/>
          </a:xfrm>
          <a:prstGeom prst="rect">
            <a:avLst/>
          </a:prstGeom>
          <a:noFill/>
          <a:ln/>
        </p:spPr>
        <p:txBody>
          <a:bodyPr wrap="square" lIns="0" tIns="0" rIns="0" bIns="0" rtlCol="0" anchor="t"/>
          <a:lstStyle/>
          <a:p>
            <a:pPr indent="0" marL="0">
              <a:buNone/>
            </a:pPr>
            <a:r>
              <a:rPr lang="en-US" sz="950" b="1" dirty="0">
                <a:solidFill>
                  <a:schemeClr val="tx2"/>
                </a:solidFill>
              </a:rPr>
              <a:t>Dimension</a:t>
            </a:r>
            <a:endParaRPr lang="en-US" sz="950" dirty="0"/>
          </a:p>
        </p:txBody>
      </p:sp>
      <p:sp>
        <p:nvSpPr>
          <p:cNvPr id="12" name="Text 10"/>
          <p:cNvSpPr txBox="1"/>
          <p:nvPr/>
        </p:nvSpPr>
        <p:spPr>
          <a:xfrm>
            <a:off x="10287000" y="2194560"/>
            <a:ext cx="1353312" cy="256032"/>
          </a:xfrm>
          <a:prstGeom prst="rect">
            <a:avLst/>
          </a:prstGeom>
          <a:noFill/>
          <a:ln/>
        </p:spPr>
        <p:txBody>
          <a:bodyPr wrap="square" lIns="0" tIns="0" rIns="0" bIns="0" rtlCol="0" anchor="t"/>
          <a:lstStyle/>
          <a:p>
            <a:pPr indent="0" marL="0">
              <a:buNone/>
            </a:pPr>
            <a:r>
              <a:rPr lang="en-US" sz="950" b="1" dirty="0">
                <a:solidFill>
                  <a:schemeClr val="tx2"/>
                </a:solidFill>
              </a:rPr>
              <a:t>Informs</a:t>
            </a:r>
            <a:endParaRPr lang="en-US" sz="950" dirty="0"/>
          </a:p>
        </p:txBody>
      </p:sp>
      <p:sp>
        <p:nvSpPr>
          <p:cNvPr id="13" name="Shape 11"/>
          <p:cNvSpPr/>
          <p:nvPr/>
        </p:nvSpPr>
        <p:spPr>
          <a:xfrm>
            <a:off x="4937760" y="2514600"/>
            <a:ext cx="6702552" cy="0"/>
          </a:xfrm>
          <a:prstGeom prst="line">
            <a:avLst/>
          </a:prstGeom>
          <a:noFill/>
          <a:ln w="12700">
            <a:solidFill>
              <a:schemeClr val="accent6"/>
            </a:solidFill>
            <a:prstDash val="solid"/>
          </a:ln>
        </p:spPr>
      </p:sp>
      <p:sp>
        <p:nvSpPr>
          <p:cNvPr id="14" name="Text 12"/>
          <p:cNvSpPr txBox="1"/>
          <p:nvPr/>
        </p:nvSpPr>
        <p:spPr>
          <a:xfrm>
            <a:off x="4937760" y="2688336"/>
            <a:ext cx="384048" cy="384048"/>
          </a:xfrm>
          <a:prstGeom prst="ellipse">
            <a:avLst/>
          </a:prstGeom>
          <a:solidFill>
            <a:schemeClr val="accent2"/>
          </a:solidFill>
          <a:ln/>
        </p:spPr>
        <p:txBody>
          <a:bodyPr wrap="square" lIns="0" tIns="0" rIns="0" bIns="0" rtlCol="0" anchor="ctr"/>
          <a:lstStyle/>
          <a:p>
            <a:pPr algn="ctr" indent="0" marL="0">
              <a:buNone/>
            </a:pPr>
            <a:r>
              <a:rPr lang="en-US" sz="1260" b="1" dirty="0">
                <a:solidFill>
                  <a:schemeClr val="tx1"/>
                </a:solidFill>
              </a:rPr>
              <a:t>1</a:t>
            </a:r>
            <a:endParaRPr lang="en-US" sz="1260" dirty="0"/>
          </a:p>
        </p:txBody>
      </p:sp>
      <p:sp>
        <p:nvSpPr>
          <p:cNvPr id="15" name="Text 13"/>
          <p:cNvSpPr txBox="1"/>
          <p:nvPr/>
        </p:nvSpPr>
        <p:spPr>
          <a:xfrm>
            <a:off x="5486400" y="2514600"/>
            <a:ext cx="2971800" cy="731520"/>
          </a:xfrm>
          <a:prstGeom prst="rect">
            <a:avLst/>
          </a:prstGeom>
          <a:noFill/>
          <a:ln/>
        </p:spPr>
        <p:txBody>
          <a:bodyPr wrap="square" lIns="0" tIns="0" rIns="0" bIns="0" rtlCol="0" anchor="ctr"/>
          <a:lstStyle/>
          <a:p>
            <a:pPr indent="0" marL="0">
              <a:buNone/>
            </a:pPr>
            <a:r>
              <a:rPr lang="en-US" sz="1100" b="1" dirty="0">
                <a:solidFill>
                  <a:schemeClr val="accent1"/>
                </a:solidFill>
              </a:rPr>
              <a:t>Identify</a:t>
            </a:r>
            <a:pPr indent="0" marL="0">
              <a:buNone/>
            </a:pPr>
            <a:r>
              <a:rPr lang="en-US" sz="1100" dirty="0">
                <a:solidFill>
                  <a:schemeClr val="tx1"/>
                </a:solidFill>
              </a:rPr>
              <a:t> the physical and aesthetic attributes that determine how a car's condition is valued.</a:t>
            </a:r>
            <a:endParaRPr lang="en-US" sz="1100" dirty="0"/>
          </a:p>
        </p:txBody>
      </p:sp>
      <p:sp>
        <p:nvSpPr>
          <p:cNvPr id="16" name="Text 14"/>
          <p:cNvSpPr txBox="1"/>
          <p:nvPr/>
        </p:nvSpPr>
        <p:spPr>
          <a:xfrm>
            <a:off x="8595360" y="2706624"/>
            <a:ext cx="1554480" cy="347472"/>
          </a:xfrm>
          <a:prstGeom prst="roundRect">
            <a:avLst>
              <a:gd name="adj" fmla="val 50000"/>
            </a:avLst>
          </a:prstGeom>
          <a:ln w="12700">
            <a:solidFill>
              <a:schemeClr val="tx1"/>
            </a:solidFill>
          </a:ln>
        </p:spPr>
        <p:txBody>
          <a:bodyPr wrap="square" lIns="0" tIns="0" rIns="0" bIns="0" rtlCol="0" anchor="ctr"/>
          <a:lstStyle/>
          <a:p>
            <a:pPr algn="ctr" indent="0" marL="0">
              <a:buNone/>
            </a:pPr>
            <a:r>
              <a:rPr lang="en-US" sz="950" dirty="0">
                <a:solidFill>
                  <a:schemeClr val="tx1"/>
                </a:solidFill>
              </a:rPr>
              <a:t>Physical &amp; aesthetic</a:t>
            </a:r>
            <a:endParaRPr lang="en-US" sz="950" dirty="0"/>
          </a:p>
        </p:txBody>
      </p:sp>
      <p:sp>
        <p:nvSpPr>
          <p:cNvPr id="17" name="Text 15"/>
          <p:cNvSpPr txBox="1"/>
          <p:nvPr/>
        </p:nvSpPr>
        <p:spPr>
          <a:xfrm>
            <a:off x="10287000" y="2514600"/>
            <a:ext cx="1353312" cy="731520"/>
          </a:xfrm>
          <a:prstGeom prst="rect">
            <a:avLst/>
          </a:prstGeom>
          <a:noFill/>
          <a:ln/>
        </p:spPr>
        <p:txBody>
          <a:bodyPr wrap="square" lIns="0" tIns="0" rIns="0" bIns="0" rtlCol="0" anchor="ctr"/>
          <a:lstStyle/>
          <a:p>
            <a:pPr indent="0" marL="0">
              <a:buNone/>
            </a:pPr>
            <a:r>
              <a:rPr lang="en-US" sz="1100" b="1" dirty="0">
                <a:solidFill>
                  <a:schemeClr val="accent1"/>
                </a:solidFill>
              </a:rPr>
              <a:t>Damage classes in the app</a:t>
            </a:r>
            <a:endParaRPr lang="en-US" sz="1100" dirty="0"/>
          </a:p>
        </p:txBody>
      </p:sp>
      <p:sp>
        <p:nvSpPr>
          <p:cNvPr id="18" name="Shape 16"/>
          <p:cNvSpPr/>
          <p:nvPr/>
        </p:nvSpPr>
        <p:spPr>
          <a:xfrm>
            <a:off x="4937760" y="3246120"/>
            <a:ext cx="6702552" cy="0"/>
          </a:xfrm>
          <a:prstGeom prst="line">
            <a:avLst/>
          </a:prstGeom>
          <a:noFill/>
          <a:ln w="12700">
            <a:solidFill>
              <a:schemeClr val="accent6"/>
            </a:solidFill>
            <a:prstDash val="solid"/>
          </a:ln>
        </p:spPr>
      </p:sp>
      <p:sp>
        <p:nvSpPr>
          <p:cNvPr id="19" name="Text 17"/>
          <p:cNvSpPr txBox="1"/>
          <p:nvPr/>
        </p:nvSpPr>
        <p:spPr>
          <a:xfrm>
            <a:off x="4937760" y="3419856"/>
            <a:ext cx="384048" cy="384048"/>
          </a:xfrm>
          <a:prstGeom prst="ellipse">
            <a:avLst/>
          </a:prstGeom>
          <a:solidFill>
            <a:schemeClr val="accent2"/>
          </a:solidFill>
          <a:ln/>
        </p:spPr>
        <p:txBody>
          <a:bodyPr wrap="square" lIns="0" tIns="0" rIns="0" bIns="0" rtlCol="0" anchor="ctr"/>
          <a:lstStyle/>
          <a:p>
            <a:pPr algn="ctr" indent="0" marL="0">
              <a:buNone/>
            </a:pPr>
            <a:r>
              <a:rPr lang="en-US" sz="1260" b="1" dirty="0">
                <a:solidFill>
                  <a:schemeClr val="tx1"/>
                </a:solidFill>
              </a:rPr>
              <a:t>2</a:t>
            </a:r>
            <a:endParaRPr lang="en-US" sz="1260" dirty="0"/>
          </a:p>
        </p:txBody>
      </p:sp>
      <p:sp>
        <p:nvSpPr>
          <p:cNvPr id="20" name="Text 18"/>
          <p:cNvSpPr txBox="1"/>
          <p:nvPr/>
        </p:nvSpPr>
        <p:spPr>
          <a:xfrm>
            <a:off x="5486400" y="3246120"/>
            <a:ext cx="2971800" cy="731520"/>
          </a:xfrm>
          <a:prstGeom prst="rect">
            <a:avLst/>
          </a:prstGeom>
          <a:noFill/>
          <a:ln/>
        </p:spPr>
        <p:txBody>
          <a:bodyPr wrap="square" lIns="0" tIns="0" rIns="0" bIns="0" rtlCol="0" anchor="ctr"/>
          <a:lstStyle/>
          <a:p>
            <a:pPr indent="0" marL="0">
              <a:buNone/>
            </a:pPr>
            <a:r>
              <a:rPr lang="en-US" sz="1100" b="1" dirty="0">
                <a:solidFill>
                  <a:schemeClr val="accent1"/>
                </a:solidFill>
              </a:rPr>
              <a:t>Analyze</a:t>
            </a:r>
            <a:pPr indent="0" marL="0">
              <a:buNone/>
            </a:pPr>
            <a:r>
              <a:rPr lang="en-US" sz="1100" dirty="0">
                <a:solidFill>
                  <a:schemeClr val="tx1"/>
                </a:solidFill>
              </a:rPr>
              <a:t> how anticipating reconditioning costs affects how the purchase offer is set.</a:t>
            </a:r>
            <a:endParaRPr lang="en-US" sz="1100" dirty="0"/>
          </a:p>
        </p:txBody>
      </p:sp>
      <p:sp>
        <p:nvSpPr>
          <p:cNvPr id="21" name="Text 19"/>
          <p:cNvSpPr txBox="1"/>
          <p:nvPr/>
        </p:nvSpPr>
        <p:spPr>
          <a:xfrm>
            <a:off x="8595360" y="3438144"/>
            <a:ext cx="1554480" cy="347472"/>
          </a:xfrm>
          <a:prstGeom prst="roundRect">
            <a:avLst>
              <a:gd name="adj" fmla="val 50000"/>
            </a:avLst>
          </a:prstGeom>
          <a:ln w="12700">
            <a:solidFill>
              <a:schemeClr val="tx1"/>
            </a:solidFill>
          </a:ln>
        </p:spPr>
        <p:txBody>
          <a:bodyPr wrap="square" lIns="0" tIns="0" rIns="0" bIns="0" rtlCol="0" anchor="ctr"/>
          <a:lstStyle/>
          <a:p>
            <a:pPr algn="ctr" indent="0" marL="0">
              <a:buNone/>
            </a:pPr>
            <a:r>
              <a:rPr lang="en-US" sz="950" dirty="0">
                <a:solidFill>
                  <a:schemeClr val="tx1"/>
                </a:solidFill>
              </a:rPr>
              <a:t>Cost foresight</a:t>
            </a:r>
            <a:endParaRPr lang="en-US" sz="950" dirty="0"/>
          </a:p>
        </p:txBody>
      </p:sp>
      <p:sp>
        <p:nvSpPr>
          <p:cNvPr id="22" name="Text 20"/>
          <p:cNvSpPr txBox="1"/>
          <p:nvPr/>
        </p:nvSpPr>
        <p:spPr>
          <a:xfrm>
            <a:off x="10287000" y="3246120"/>
            <a:ext cx="1353312" cy="731520"/>
          </a:xfrm>
          <a:prstGeom prst="rect">
            <a:avLst/>
          </a:prstGeom>
          <a:noFill/>
          <a:ln/>
        </p:spPr>
        <p:txBody>
          <a:bodyPr wrap="square" lIns="0" tIns="0" rIns="0" bIns="0" rtlCol="0" anchor="ctr"/>
          <a:lstStyle/>
          <a:p>
            <a:pPr indent="0" marL="0">
              <a:buNone/>
            </a:pPr>
            <a:r>
              <a:rPr lang="en-US" sz="1100" b="1" dirty="0">
                <a:solidFill>
                  <a:schemeClr val="accent1"/>
                </a:solidFill>
              </a:rPr>
              <a:t>Offer rule and margin</a:t>
            </a:r>
            <a:endParaRPr lang="en-US" sz="1100" dirty="0"/>
          </a:p>
        </p:txBody>
      </p:sp>
      <p:sp>
        <p:nvSpPr>
          <p:cNvPr id="23" name="Shape 21"/>
          <p:cNvSpPr/>
          <p:nvPr/>
        </p:nvSpPr>
        <p:spPr>
          <a:xfrm>
            <a:off x="4937760" y="3977640"/>
            <a:ext cx="6702552" cy="0"/>
          </a:xfrm>
          <a:prstGeom prst="line">
            <a:avLst/>
          </a:prstGeom>
          <a:noFill/>
          <a:ln w="12700">
            <a:solidFill>
              <a:schemeClr val="accent6"/>
            </a:solidFill>
            <a:prstDash val="solid"/>
          </a:ln>
        </p:spPr>
      </p:sp>
      <p:sp>
        <p:nvSpPr>
          <p:cNvPr id="24" name="Text 22"/>
          <p:cNvSpPr txBox="1"/>
          <p:nvPr/>
        </p:nvSpPr>
        <p:spPr>
          <a:xfrm>
            <a:off x="4937760" y="4151376"/>
            <a:ext cx="384048" cy="384048"/>
          </a:xfrm>
          <a:prstGeom prst="ellipse">
            <a:avLst/>
          </a:prstGeom>
          <a:solidFill>
            <a:schemeClr val="accent2"/>
          </a:solidFill>
          <a:ln/>
        </p:spPr>
        <p:txBody>
          <a:bodyPr wrap="square" lIns="0" tIns="0" rIns="0" bIns="0" rtlCol="0" anchor="ctr"/>
          <a:lstStyle/>
          <a:p>
            <a:pPr algn="ctr" indent="0" marL="0">
              <a:buNone/>
            </a:pPr>
            <a:r>
              <a:rPr lang="en-US" sz="1260" b="1" dirty="0">
                <a:solidFill>
                  <a:schemeClr val="tx1"/>
                </a:solidFill>
              </a:rPr>
              <a:t>3</a:t>
            </a:r>
            <a:endParaRPr lang="en-US" sz="1260" dirty="0"/>
          </a:p>
        </p:txBody>
      </p:sp>
      <p:sp>
        <p:nvSpPr>
          <p:cNvPr id="25" name="Text 23"/>
          <p:cNvSpPr txBox="1"/>
          <p:nvPr/>
        </p:nvSpPr>
        <p:spPr>
          <a:xfrm>
            <a:off x="5486400" y="3977640"/>
            <a:ext cx="2971800" cy="731520"/>
          </a:xfrm>
          <a:prstGeom prst="rect">
            <a:avLst/>
          </a:prstGeom>
          <a:noFill/>
          <a:ln/>
        </p:spPr>
        <p:txBody>
          <a:bodyPr wrap="square" lIns="0" tIns="0" rIns="0" bIns="0" rtlCol="0" anchor="ctr"/>
          <a:lstStyle/>
          <a:p>
            <a:pPr indent="0" marL="0">
              <a:buNone/>
            </a:pPr>
            <a:r>
              <a:rPr lang="en-US" sz="1100" b="1" dirty="0">
                <a:solidFill>
                  <a:schemeClr val="accent1"/>
                </a:solidFill>
              </a:rPr>
              <a:t>Evaluate</a:t>
            </a:r>
            <a:pPr indent="0" marL="0">
              <a:buNone/>
            </a:pPr>
            <a:r>
              <a:rPr lang="en-US" sz="1100" dirty="0">
                <a:solidFill>
                  <a:schemeClr val="tx1"/>
                </a:solidFill>
              </a:rPr>
              <a:t> the distrust barriers, resistance to automated diagnosis and technical uncertainty that shape transactions.</a:t>
            </a:r>
            <a:endParaRPr lang="en-US" sz="1100" dirty="0"/>
          </a:p>
        </p:txBody>
      </p:sp>
      <p:sp>
        <p:nvSpPr>
          <p:cNvPr id="26" name="Text 24"/>
          <p:cNvSpPr txBox="1"/>
          <p:nvPr/>
        </p:nvSpPr>
        <p:spPr>
          <a:xfrm>
            <a:off x="8595360" y="4169664"/>
            <a:ext cx="1554480" cy="347472"/>
          </a:xfrm>
          <a:prstGeom prst="roundRect">
            <a:avLst>
              <a:gd name="adj" fmla="val 50000"/>
            </a:avLst>
          </a:prstGeom>
          <a:ln w="12700">
            <a:solidFill>
              <a:schemeClr val="tx1"/>
            </a:solidFill>
          </a:ln>
        </p:spPr>
        <p:txBody>
          <a:bodyPr wrap="square" lIns="0" tIns="0" rIns="0" bIns="0" rtlCol="0" anchor="ctr"/>
          <a:lstStyle/>
          <a:p>
            <a:pPr algn="ctr" indent="0" marL="0">
              <a:buNone/>
            </a:pPr>
            <a:r>
              <a:rPr lang="en-US" sz="950" dirty="0">
                <a:solidFill>
                  <a:schemeClr val="tx1"/>
                </a:solidFill>
              </a:rPr>
              <a:t>Adoption barriers</a:t>
            </a:r>
            <a:endParaRPr lang="en-US" sz="950" dirty="0"/>
          </a:p>
        </p:txBody>
      </p:sp>
      <p:sp>
        <p:nvSpPr>
          <p:cNvPr id="27" name="Text 25"/>
          <p:cNvSpPr txBox="1"/>
          <p:nvPr/>
        </p:nvSpPr>
        <p:spPr>
          <a:xfrm>
            <a:off x="10287000" y="3977640"/>
            <a:ext cx="1353312" cy="731520"/>
          </a:xfrm>
          <a:prstGeom prst="rect">
            <a:avLst/>
          </a:prstGeom>
          <a:noFill/>
          <a:ln/>
        </p:spPr>
        <p:txBody>
          <a:bodyPr wrap="square" lIns="0" tIns="0" rIns="0" bIns="0" rtlCol="0" anchor="ctr"/>
          <a:lstStyle/>
          <a:p>
            <a:pPr indent="0" marL="0">
              <a:buNone/>
            </a:pPr>
            <a:r>
              <a:rPr lang="en-US" sz="1100" b="1" dirty="0">
                <a:solidFill>
                  <a:schemeClr val="accent1"/>
                </a:solidFill>
              </a:rPr>
              <a:t>How the report explains itself</a:t>
            </a:r>
            <a:endParaRPr lang="en-US" sz="1100" dirty="0"/>
          </a:p>
        </p:txBody>
      </p:sp>
      <p:sp>
        <p:nvSpPr>
          <p:cNvPr id="28" name="Shape 26"/>
          <p:cNvSpPr/>
          <p:nvPr/>
        </p:nvSpPr>
        <p:spPr>
          <a:xfrm>
            <a:off x="4937760" y="4709160"/>
            <a:ext cx="6702552" cy="0"/>
          </a:xfrm>
          <a:prstGeom prst="line">
            <a:avLst/>
          </a:prstGeom>
          <a:noFill/>
          <a:ln w="12700">
            <a:solidFill>
              <a:schemeClr val="accent6"/>
            </a:solidFill>
            <a:prstDash val="solid"/>
          </a:ln>
        </p:spPr>
      </p:sp>
      <p:sp>
        <p:nvSpPr>
          <p:cNvPr id="29" name="Text 27"/>
          <p:cNvSpPr txBox="1"/>
          <p:nvPr/>
        </p:nvSpPr>
        <p:spPr>
          <a:xfrm>
            <a:off x="4937760" y="4882896"/>
            <a:ext cx="384048" cy="384048"/>
          </a:xfrm>
          <a:prstGeom prst="ellipse">
            <a:avLst/>
          </a:prstGeom>
          <a:solidFill>
            <a:schemeClr val="accent2"/>
          </a:solidFill>
          <a:ln/>
        </p:spPr>
        <p:txBody>
          <a:bodyPr wrap="square" lIns="0" tIns="0" rIns="0" bIns="0" rtlCol="0" anchor="ctr"/>
          <a:lstStyle/>
          <a:p>
            <a:pPr algn="ctr" indent="0" marL="0">
              <a:buNone/>
            </a:pPr>
            <a:r>
              <a:rPr lang="en-US" sz="1260" b="1" dirty="0">
                <a:solidFill>
                  <a:schemeClr val="tx1"/>
                </a:solidFill>
              </a:rPr>
              <a:t>4</a:t>
            </a:r>
            <a:endParaRPr lang="en-US" sz="1260" dirty="0"/>
          </a:p>
        </p:txBody>
      </p:sp>
      <p:sp>
        <p:nvSpPr>
          <p:cNvPr id="30" name="Text 28"/>
          <p:cNvSpPr txBox="1"/>
          <p:nvPr/>
        </p:nvSpPr>
        <p:spPr>
          <a:xfrm>
            <a:off x="5486400" y="4709160"/>
            <a:ext cx="2971800" cy="731520"/>
          </a:xfrm>
          <a:prstGeom prst="rect">
            <a:avLst/>
          </a:prstGeom>
          <a:noFill/>
          <a:ln/>
        </p:spPr>
        <p:txBody>
          <a:bodyPr wrap="square" lIns="0" tIns="0" rIns="0" bIns="0" rtlCol="0" anchor="ctr"/>
          <a:lstStyle/>
          <a:p>
            <a:pPr indent="0" marL="0">
              <a:buNone/>
            </a:pPr>
            <a:r>
              <a:rPr lang="en-US" sz="1100" b="1" dirty="0">
                <a:solidFill>
                  <a:schemeClr val="accent1"/>
                </a:solidFill>
              </a:rPr>
              <a:t>Describe</a:t>
            </a:r>
            <a:pPr indent="0" marL="0">
              <a:buNone/>
            </a:pPr>
            <a:r>
              <a:rPr lang="en-US" sz="1100" dirty="0">
                <a:solidFill>
                  <a:schemeClr val="tx1"/>
                </a:solidFill>
              </a:rPr>
              <a:t> the operating experience and time bottlenecks of conventional exterior inspection and repair costing.</a:t>
            </a:r>
            <a:endParaRPr lang="en-US" sz="1100" dirty="0"/>
          </a:p>
        </p:txBody>
      </p:sp>
      <p:sp>
        <p:nvSpPr>
          <p:cNvPr id="31" name="Text 29"/>
          <p:cNvSpPr txBox="1"/>
          <p:nvPr/>
        </p:nvSpPr>
        <p:spPr>
          <a:xfrm>
            <a:off x="8595360" y="4901184"/>
            <a:ext cx="1554480" cy="347472"/>
          </a:xfrm>
          <a:prstGeom prst="roundRect">
            <a:avLst>
              <a:gd name="adj" fmla="val 50000"/>
            </a:avLst>
          </a:prstGeom>
          <a:ln w="12700">
            <a:solidFill>
              <a:schemeClr val="tx1"/>
            </a:solidFill>
          </a:ln>
        </p:spPr>
        <p:txBody>
          <a:bodyPr wrap="square" lIns="0" tIns="0" rIns="0" bIns="0" rtlCol="0" anchor="ctr"/>
          <a:lstStyle/>
          <a:p>
            <a:pPr algn="ctr" indent="0" marL="0">
              <a:buNone/>
            </a:pPr>
            <a:r>
              <a:rPr lang="en-US" sz="950" dirty="0">
                <a:solidFill>
                  <a:schemeClr val="tx1"/>
                </a:solidFill>
              </a:rPr>
              <a:t>Workshop experience</a:t>
            </a:r>
            <a:endParaRPr lang="en-US" sz="950" dirty="0"/>
          </a:p>
        </p:txBody>
      </p:sp>
      <p:sp>
        <p:nvSpPr>
          <p:cNvPr id="32" name="Text 30"/>
          <p:cNvSpPr txBox="1"/>
          <p:nvPr/>
        </p:nvSpPr>
        <p:spPr>
          <a:xfrm>
            <a:off x="10287000" y="4709160"/>
            <a:ext cx="1353312" cy="731520"/>
          </a:xfrm>
          <a:prstGeom prst="rect">
            <a:avLst/>
          </a:prstGeom>
          <a:noFill/>
          <a:ln/>
        </p:spPr>
        <p:txBody>
          <a:bodyPr wrap="square" lIns="0" tIns="0" rIns="0" bIns="0" rtlCol="0" anchor="ctr"/>
          <a:lstStyle/>
          <a:p>
            <a:pPr indent="0" marL="0">
              <a:buNone/>
            </a:pPr>
            <a:r>
              <a:rPr lang="en-US" sz="1100" b="1" dirty="0">
                <a:solidFill>
                  <a:schemeClr val="accent1"/>
                </a:solidFill>
              </a:rPr>
              <a:t>App flow and timing</a:t>
            </a:r>
            <a:endParaRPr lang="en-US" sz="1100" dirty="0"/>
          </a:p>
        </p:txBody>
      </p:sp>
      <p:sp>
        <p:nvSpPr>
          <p:cNvPr id="33" name="Shape 31"/>
          <p:cNvSpPr/>
          <p:nvPr/>
        </p:nvSpPr>
        <p:spPr>
          <a:xfrm>
            <a:off x="4937760" y="5440680"/>
            <a:ext cx="6702552" cy="0"/>
          </a:xfrm>
          <a:prstGeom prst="line">
            <a:avLst/>
          </a:prstGeom>
          <a:noFill/>
          <a:ln w="12700">
            <a:solidFill>
              <a:schemeClr val="accent6"/>
            </a:solidFill>
            <a:prstDash val="solid"/>
          </a:ln>
        </p:spPr>
      </p:sp>
      <p:sp>
        <p:nvSpPr>
          <p:cNvPr id="34" name="Text 32"/>
          <p:cNvSpPr txBox="1"/>
          <p:nvPr/>
        </p:nvSpPr>
        <p:spPr>
          <a:xfrm>
            <a:off x="4937760" y="5614416"/>
            <a:ext cx="384048" cy="384048"/>
          </a:xfrm>
          <a:prstGeom prst="ellipse">
            <a:avLst/>
          </a:prstGeom>
          <a:solidFill>
            <a:schemeClr val="accent2"/>
          </a:solidFill>
          <a:ln/>
        </p:spPr>
        <p:txBody>
          <a:bodyPr wrap="square" lIns="0" tIns="0" rIns="0" bIns="0" rtlCol="0" anchor="ctr"/>
          <a:lstStyle/>
          <a:p>
            <a:pPr algn="ctr" indent="0" marL="0">
              <a:buNone/>
            </a:pPr>
            <a:r>
              <a:rPr lang="en-US" sz="1260" b="1" dirty="0">
                <a:solidFill>
                  <a:schemeClr val="tx1"/>
                </a:solidFill>
              </a:rPr>
              <a:t>5</a:t>
            </a:r>
            <a:endParaRPr lang="en-US" sz="1260" dirty="0"/>
          </a:p>
        </p:txBody>
      </p:sp>
      <p:sp>
        <p:nvSpPr>
          <p:cNvPr id="35" name="Text 33"/>
          <p:cNvSpPr txBox="1"/>
          <p:nvPr/>
        </p:nvSpPr>
        <p:spPr>
          <a:xfrm>
            <a:off x="5486400" y="5440680"/>
            <a:ext cx="2971800" cy="731520"/>
          </a:xfrm>
          <a:prstGeom prst="rect">
            <a:avLst/>
          </a:prstGeom>
          <a:noFill/>
          <a:ln/>
        </p:spPr>
        <p:txBody>
          <a:bodyPr wrap="square" lIns="0" tIns="0" rIns="0" bIns="0" rtlCol="0" anchor="ctr"/>
          <a:lstStyle/>
          <a:p>
            <a:pPr indent="0" marL="0">
              <a:buNone/>
            </a:pPr>
            <a:r>
              <a:rPr lang="en-US" sz="1100" b="1" dirty="0">
                <a:solidFill>
                  <a:schemeClr val="accent1"/>
                </a:solidFill>
              </a:rPr>
              <a:t>Evaluate</a:t>
            </a:r>
            <a:pPr indent="0" marL="0">
              <a:buNone/>
            </a:pPr>
            <a:r>
              <a:rPr lang="en-US" sz="1100" dirty="0">
                <a:solidFill>
                  <a:schemeClr val="tx1"/>
                </a:solidFill>
              </a:rPr>
              <a:t> the perceived appeal, differentiation and adoption intent of a digital condition report vs. traditional appraisal.</a:t>
            </a:r>
            <a:endParaRPr lang="en-US" sz="1100" dirty="0"/>
          </a:p>
        </p:txBody>
      </p:sp>
      <p:sp>
        <p:nvSpPr>
          <p:cNvPr id="36" name="Text 34"/>
          <p:cNvSpPr txBox="1"/>
          <p:nvPr/>
        </p:nvSpPr>
        <p:spPr>
          <a:xfrm>
            <a:off x="8595360" y="5632704"/>
            <a:ext cx="1554480" cy="347472"/>
          </a:xfrm>
          <a:prstGeom prst="roundRect">
            <a:avLst>
              <a:gd name="adj" fmla="val 50000"/>
            </a:avLst>
          </a:prstGeom>
          <a:ln w="12700">
            <a:solidFill>
              <a:schemeClr val="tx1"/>
            </a:solidFill>
          </a:ln>
        </p:spPr>
        <p:txBody>
          <a:bodyPr wrap="square" lIns="0" tIns="0" rIns="0" bIns="0" rtlCol="0" anchor="ctr"/>
          <a:lstStyle/>
          <a:p>
            <a:pPr algn="ctr" indent="0" marL="0">
              <a:buNone/>
            </a:pPr>
            <a:r>
              <a:rPr lang="en-US" sz="950" dirty="0">
                <a:solidFill>
                  <a:schemeClr val="tx1"/>
                </a:solidFill>
              </a:rPr>
              <a:t>Appeal and adoption</a:t>
            </a:r>
            <a:endParaRPr lang="en-US" sz="950" dirty="0"/>
          </a:p>
        </p:txBody>
      </p:sp>
      <p:sp>
        <p:nvSpPr>
          <p:cNvPr id="37" name="Text 35"/>
          <p:cNvSpPr txBox="1"/>
          <p:nvPr/>
        </p:nvSpPr>
        <p:spPr>
          <a:xfrm>
            <a:off x="10287000" y="5440680"/>
            <a:ext cx="1353312" cy="731520"/>
          </a:xfrm>
          <a:prstGeom prst="rect">
            <a:avLst/>
          </a:prstGeom>
          <a:noFill/>
          <a:ln/>
        </p:spPr>
        <p:txBody>
          <a:bodyPr wrap="square" lIns="0" tIns="0" rIns="0" bIns="0" rtlCol="0" anchor="ctr"/>
          <a:lstStyle/>
          <a:p>
            <a:pPr indent="0" marL="0">
              <a:buNone/>
            </a:pPr>
            <a:r>
              <a:rPr lang="en-US" sz="1100" b="1" dirty="0">
                <a:solidFill>
                  <a:schemeClr val="accent1"/>
                </a:solidFill>
              </a:rPr>
              <a:t>B2B and B2C prices</a:t>
            </a:r>
            <a:endParaRPr lang="en-US" sz="1100" dirty="0"/>
          </a:p>
        </p:txBody>
      </p:sp>
      <p:sp>
        <p:nvSpPr>
          <p:cNvPr id="38" name="Shape 36"/>
          <p:cNvSpPr/>
          <p:nvPr/>
        </p:nvSpPr>
        <p:spPr>
          <a:xfrm>
            <a:off x="4937760" y="6172200"/>
            <a:ext cx="6702552" cy="0"/>
          </a:xfrm>
          <a:prstGeom prst="line">
            <a:avLst/>
          </a:prstGeom>
          <a:noFill/>
          <a:ln w="12700">
            <a:solidFill>
              <a:schemeClr val="accent6"/>
            </a:solidFill>
            <a:prstDash val="solid"/>
          </a:ln>
        </p:spPr>
      </p:sp>
      <p:sp>
        <p:nvSpPr>
          <p:cNvPr id="40"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bg1"/>
                </a:solidFill>
              </a:rPr>
              <a:t>Listen first, then measure</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accent5"/>
                </a:solidFill>
              </a:rPr>
              <a:t>A mixed, sequential design: what we hear in stage 1 becomes the questions and scales of stage 2.</a:t>
            </a:r>
            <a:endParaRPr lang="en-US" sz="1500" dirty="0"/>
          </a:p>
        </p:txBody>
      </p:sp>
      <p:sp>
        <p:nvSpPr>
          <p:cNvPr id="4" name="Text 2"/>
          <p:cNvSpPr txBox="1"/>
          <p:nvPr/>
        </p:nvSpPr>
        <p:spPr>
          <a:xfrm>
            <a:off x="548640" y="2240280"/>
            <a:ext cx="4206240" cy="2560320"/>
          </a:xfrm>
          <a:prstGeom prst="roundRect">
            <a:avLst>
              <a:gd name="adj" fmla="val 10714"/>
            </a:avLst>
          </a:prstGeom>
          <a:solidFill>
            <a:schemeClr val="bg1"/>
          </a:solidFill>
          <a:ln/>
        </p:spPr>
        <p:txBody>
          <a:bodyPr wrap="square" lIns="292608" tIns="685800" rIns="292608" bIns="566928" rtlCol="0" anchor="t"/>
          <a:lstStyle/>
          <a:p>
            <a:pPr indent="0" marL="0">
              <a:spcAft>
                <a:spcPts val="400"/>
              </a:spcAft>
              <a:buNone/>
            </a:pPr>
            <a:r>
              <a:rPr lang="en-US" sz="1900" b="1" dirty="0">
                <a:solidFill>
                  <a:schemeClr val="tx1"/>
                </a:solidFill>
              </a:rPr>
              <a:t>Qualitative, to explore</a:t>
            </a:r>
            <a:endParaRPr lang="en-US" sz="1150" dirty="0"/>
          </a:p>
          <a:p>
            <a:pPr indent="0" marL="0">
              <a:spcAft>
                <a:spcPts val="800"/>
              </a:spcAft>
              <a:buNone/>
            </a:pPr>
            <a:r>
              <a:rPr lang="en-US" sz="1050" b="1" dirty="0">
                <a:solidFill>
                  <a:schemeClr val="accent1"/>
                </a:solidFill>
              </a:rPr>
              <a:t>In-depth interviews (B2B) · Focus groups (B2C)</a:t>
            </a:r>
            <a:endParaRPr lang="en-US" sz="1150" dirty="0"/>
          </a:p>
          <a:p>
            <a:pPr indent="0" marL="0">
              <a:buNone/>
            </a:pPr>
            <a:r>
              <a:rPr lang="en-US" sz="1150" dirty="0">
                <a:solidFill>
                  <a:schemeClr val="tx1"/>
                </a:solidFill>
              </a:rPr>
              <a:t>We learn the dealers' words, their rules of thumb for pricing, and what makes them distrust.</a:t>
            </a:r>
            <a:endParaRPr lang="en-US" sz="1150" dirty="0"/>
          </a:p>
        </p:txBody>
      </p:sp>
      <p:sp>
        <p:nvSpPr>
          <p:cNvPr id="5" name="Text 3"/>
          <p:cNvSpPr txBox="1"/>
          <p:nvPr/>
        </p:nvSpPr>
        <p:spPr>
          <a:xfrm>
            <a:off x="841248" y="2496312"/>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Stage 1</a:t>
            </a:r>
            <a:endParaRPr lang="en-US" sz="1100" dirty="0"/>
          </a:p>
        </p:txBody>
      </p:sp>
      <p:sp>
        <p:nvSpPr>
          <p:cNvPr id="6" name="Text 4"/>
          <p:cNvSpPr txBox="1"/>
          <p:nvPr/>
        </p:nvSpPr>
        <p:spPr>
          <a:xfrm>
            <a:off x="841248" y="4297680"/>
            <a:ext cx="2103120" cy="310896"/>
          </a:xfrm>
          <a:prstGeom prst="roundRect">
            <a:avLst>
              <a:gd name="adj" fmla="val 50000"/>
            </a:avLst>
          </a:prstGeom>
          <a:ln w="12700">
            <a:solidFill>
              <a:schemeClr val="accent1"/>
            </a:solidFill>
          </a:ln>
        </p:spPr>
        <p:txBody>
          <a:bodyPr wrap="square" lIns="0" tIns="0" rIns="0" bIns="0" rtlCol="0" anchor="ctr"/>
          <a:lstStyle/>
          <a:p>
            <a:pPr algn="ctr" indent="0" marL="0">
              <a:buNone/>
            </a:pPr>
            <a:r>
              <a:rPr lang="en-US" sz="950" dirty="0">
                <a:solidFill>
                  <a:schemeClr val="accent1"/>
                </a:solidFill>
              </a:rPr>
              <a:t>Explores OE1 · OE3 · OE4 · OE5</a:t>
            </a:r>
            <a:endParaRPr lang="en-US" sz="950" dirty="0"/>
          </a:p>
        </p:txBody>
      </p:sp>
      <p:sp>
        <p:nvSpPr>
          <p:cNvPr id="7" name="Text 5"/>
          <p:cNvSpPr txBox="1"/>
          <p:nvPr/>
        </p:nvSpPr>
        <p:spPr>
          <a:xfrm>
            <a:off x="5074920" y="2240280"/>
            <a:ext cx="2057400" cy="2560320"/>
          </a:xfrm>
          <a:prstGeom prst="roundRect">
            <a:avLst>
              <a:gd name="adj" fmla="val 13333"/>
            </a:avLst>
          </a:prstGeom>
          <a:solidFill>
            <a:schemeClr val="accent2"/>
          </a:solidFill>
          <a:ln/>
        </p:spPr>
        <p:txBody>
          <a:bodyPr wrap="square" lIns="256032" tIns="182880" rIns="228600" bIns="182880" rtlCol="0" anchor="ctr"/>
          <a:lstStyle/>
          <a:p>
            <a:pPr indent="0" marL="0">
              <a:spcAft>
                <a:spcPts val="600"/>
              </a:spcAft>
              <a:buNone/>
            </a:pPr>
            <a:r>
              <a:rPr lang="en-US" sz="1600" b="1" dirty="0">
                <a:solidFill>
                  <a:schemeClr val="tx1"/>
                </a:solidFill>
              </a:rPr>
              <a:t>Bridge</a:t>
            </a:r>
            <a:endParaRPr lang="en-US" sz="1200" dirty="0"/>
          </a:p>
          <a:p>
            <a:pPr indent="0" marL="0">
              <a:buNone/>
            </a:pPr>
            <a:r>
              <a:rPr lang="en-US" sz="1200" dirty="0">
                <a:solidFill>
                  <a:schemeClr val="tx1"/>
                </a:solidFill>
              </a:rPr>
              <a:t>Findings become variables, scales and closed answers.</a:t>
            </a:r>
            <a:endParaRPr lang="en-US" sz="1200" dirty="0"/>
          </a:p>
        </p:txBody>
      </p:sp>
      <p:sp>
        <p:nvSpPr>
          <p:cNvPr id="8" name="Text 6"/>
          <p:cNvSpPr txBox="1"/>
          <p:nvPr/>
        </p:nvSpPr>
        <p:spPr>
          <a:xfrm>
            <a:off x="7434072" y="2240280"/>
            <a:ext cx="4206240" cy="2560320"/>
          </a:xfrm>
          <a:prstGeom prst="roundRect">
            <a:avLst>
              <a:gd name="adj" fmla="val 10714"/>
            </a:avLst>
          </a:prstGeom>
          <a:solidFill>
            <a:schemeClr val="tx1"/>
          </a:solidFill>
          <a:ln/>
        </p:spPr>
        <p:txBody>
          <a:bodyPr wrap="square" lIns="292608" tIns="685800" rIns="292608" bIns="566928" rtlCol="0" anchor="t"/>
          <a:lstStyle/>
          <a:p>
            <a:pPr indent="0" marL="0">
              <a:spcAft>
                <a:spcPts val="400"/>
              </a:spcAft>
              <a:buNone/>
            </a:pPr>
            <a:r>
              <a:rPr lang="en-US" sz="1900" b="1" dirty="0">
                <a:solidFill>
                  <a:schemeClr val="bg1"/>
                </a:solidFill>
              </a:rPr>
              <a:t>Quantitative, to conclude</a:t>
            </a:r>
            <a:endParaRPr lang="en-US" sz="1150" dirty="0"/>
          </a:p>
          <a:p>
            <a:pPr indent="0" marL="0">
              <a:spcAft>
                <a:spcPts val="800"/>
              </a:spcAft>
              <a:buNone/>
            </a:pPr>
            <a:r>
              <a:rPr lang="en-US" sz="1050" b="1" dirty="0">
                <a:solidFill>
                  <a:schemeClr val="accent2"/>
                </a:solidFill>
              </a:rPr>
              <a:t>F2F + CATI (B2B) · CAWI + intercepts (B2C)</a:t>
            </a:r>
            <a:endParaRPr lang="en-US" sz="1150" dirty="0"/>
          </a:p>
          <a:p>
            <a:pPr indent="0" marL="0">
              <a:buNone/>
            </a:pPr>
            <a:r>
              <a:rPr lang="en-US" sz="1150" dirty="0">
                <a:solidFill>
                  <a:schemeClr val="accent5"/>
                </a:solidFill>
              </a:rPr>
              <a:t>We measure how common each view is, test our hypotheses, and estimate willingness to pay.</a:t>
            </a:r>
            <a:endParaRPr lang="en-US" sz="1150" dirty="0"/>
          </a:p>
        </p:txBody>
      </p:sp>
      <p:sp>
        <p:nvSpPr>
          <p:cNvPr id="9" name="Text 7"/>
          <p:cNvSpPr txBox="1"/>
          <p:nvPr/>
        </p:nvSpPr>
        <p:spPr>
          <a:xfrm>
            <a:off x="7726680" y="2496312"/>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Stage 2</a:t>
            </a:r>
            <a:endParaRPr lang="en-US" sz="1100" dirty="0"/>
          </a:p>
        </p:txBody>
      </p:sp>
      <p:sp>
        <p:nvSpPr>
          <p:cNvPr id="10" name="Text 8"/>
          <p:cNvSpPr txBox="1"/>
          <p:nvPr/>
        </p:nvSpPr>
        <p:spPr>
          <a:xfrm>
            <a:off x="7726680" y="4297680"/>
            <a:ext cx="1783080" cy="310896"/>
          </a:xfrm>
          <a:prstGeom prst="roundRect">
            <a:avLst>
              <a:gd name="adj" fmla="val 50000"/>
            </a:avLst>
          </a:prstGeom>
          <a:ln w="12700">
            <a:solidFill>
              <a:schemeClr val="bg1"/>
            </a:solidFill>
          </a:ln>
        </p:spPr>
        <p:txBody>
          <a:bodyPr wrap="square" lIns="0" tIns="0" rIns="0" bIns="0" rtlCol="0" anchor="ctr"/>
          <a:lstStyle/>
          <a:p>
            <a:pPr algn="ctr" indent="0" marL="0">
              <a:buNone/>
            </a:pPr>
            <a:r>
              <a:rPr lang="en-US" sz="950" dirty="0">
                <a:solidFill>
                  <a:schemeClr val="bg1"/>
                </a:solidFill>
              </a:rPr>
              <a:t>Measures OE1–OE5</a:t>
            </a:r>
            <a:endParaRPr lang="en-US" sz="950" dirty="0"/>
          </a:p>
        </p:txBody>
      </p:sp>
      <p:sp>
        <p:nvSpPr>
          <p:cNvPr id="11" name="Text 9"/>
          <p:cNvSpPr txBox="1"/>
          <p:nvPr/>
        </p:nvSpPr>
        <p:spPr>
          <a:xfrm>
            <a:off x="4754880" y="3337560"/>
            <a:ext cx="365760" cy="365760"/>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10"/>
          <p:cNvSpPr txBox="1"/>
          <p:nvPr/>
        </p:nvSpPr>
        <p:spPr>
          <a:xfrm>
            <a:off x="7104888" y="3337560"/>
            <a:ext cx="365760" cy="365760"/>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3" name="sparkle"/>
          <p:cNvSpPr/>
          <p:nvPr/>
        </p:nvSpPr>
        <p:spPr>
          <a:xfrm>
            <a:off x="11292840" y="1920240"/>
            <a:ext cx="548640" cy="548640"/>
          </a:xfrm>
          <a:prstGeom prst="star4">
            <a:avLst/>
          </a:prstGeom>
          <a:solidFill>
            <a:schemeClr val="accent2"/>
          </a:solidFill>
          <a:ln/>
        </p:spPr>
      </p:sp>
      <p:sp>
        <p:nvSpPr>
          <p:cNvPr id="14" name="Text 12"/>
          <p:cNvSpPr txBox="1"/>
          <p:nvPr/>
        </p:nvSpPr>
        <p:spPr>
          <a:xfrm>
            <a:off x="548640" y="5029200"/>
            <a:ext cx="868680" cy="822960"/>
          </a:xfrm>
          <a:prstGeom prst="rect">
            <a:avLst/>
          </a:prstGeom>
          <a:noFill/>
          <a:ln/>
        </p:spPr>
        <p:txBody>
          <a:bodyPr wrap="square" lIns="0" tIns="0" rIns="0" bIns="0" rtlCol="0" anchor="ctr"/>
          <a:lstStyle/>
          <a:p>
            <a:pPr indent="0" marL="0">
              <a:buNone/>
            </a:pPr>
            <a:r>
              <a:rPr lang="en-US" sz="3400" b="1" dirty="0">
                <a:solidFill>
                  <a:schemeClr val="accent2"/>
                </a:solidFill>
              </a:rPr>
              <a:t>01</a:t>
            </a:r>
            <a:endParaRPr lang="en-US" sz="3400" dirty="0"/>
          </a:p>
        </p:txBody>
      </p:sp>
      <p:sp>
        <p:nvSpPr>
          <p:cNvPr id="15" name="Text 13"/>
          <p:cNvSpPr txBox="1"/>
          <p:nvPr/>
        </p:nvSpPr>
        <p:spPr>
          <a:xfrm>
            <a:off x="1463040" y="4983480"/>
            <a:ext cx="4526280" cy="1234440"/>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There is no standard yet</a:t>
            </a:r>
            <a:endParaRPr lang="en-US" sz="1150" dirty="0"/>
          </a:p>
          <a:p>
            <a:pPr indent="0" marL="0">
              <a:buNone/>
            </a:pPr>
            <a:r>
              <a:rPr lang="en-US" sz="1150" dirty="0">
                <a:solidFill>
                  <a:schemeClr val="accent5"/>
                </a:solidFill>
              </a:rPr>
              <a:t>Appraisal runs on rules of thumb and shop talk ("descuadre de luz", "masilla oculta"). A closed survey first would measure the wrong things.</a:t>
            </a:r>
            <a:endParaRPr lang="en-US" sz="1150" dirty="0"/>
          </a:p>
        </p:txBody>
      </p:sp>
      <p:sp>
        <p:nvSpPr>
          <p:cNvPr id="16" name="Text 14"/>
          <p:cNvSpPr txBox="1"/>
          <p:nvPr/>
        </p:nvSpPr>
        <p:spPr>
          <a:xfrm>
            <a:off x="6217920" y="5029200"/>
            <a:ext cx="868680" cy="822960"/>
          </a:xfrm>
          <a:prstGeom prst="rect">
            <a:avLst/>
          </a:prstGeom>
          <a:noFill/>
          <a:ln/>
        </p:spPr>
        <p:txBody>
          <a:bodyPr wrap="square" lIns="0" tIns="0" rIns="0" bIns="0" rtlCol="0" anchor="ctr"/>
          <a:lstStyle/>
          <a:p>
            <a:pPr indent="0" marL="0">
              <a:buNone/>
            </a:pPr>
            <a:r>
              <a:rPr lang="en-US" sz="3400" b="1" dirty="0">
                <a:solidFill>
                  <a:schemeClr val="accent2"/>
                </a:solidFill>
              </a:rPr>
              <a:t>02</a:t>
            </a:r>
            <a:endParaRPr lang="en-US" sz="3400" dirty="0"/>
          </a:p>
        </p:txBody>
      </p:sp>
      <p:sp>
        <p:nvSpPr>
          <p:cNvPr id="17" name="Text 15"/>
          <p:cNvSpPr txBox="1"/>
          <p:nvPr/>
        </p:nvSpPr>
        <p:spPr>
          <a:xfrm>
            <a:off x="7132320" y="4983480"/>
            <a:ext cx="4526280" cy="1234440"/>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Stage 1 builds stage 2</a:t>
            </a:r>
            <a:endParaRPr lang="en-US" sz="1150" dirty="0"/>
          </a:p>
          <a:p>
            <a:pPr indent="0" marL="0">
              <a:buNone/>
            </a:pPr>
            <a:r>
              <a:rPr lang="en-US" sz="1150" dirty="0">
                <a:solidFill>
                  <a:schemeClr val="accent5"/>
                </a:solidFill>
              </a:rPr>
              <a:t>What dealers and buyers tell us sets the answer options and scales of the concept test (OE5).</a:t>
            </a:r>
            <a:endParaRPr lang="en-US" sz="1150" dirty="0"/>
          </a:p>
        </p:txBody>
      </p:sp>
      <p:sp>
        <p:nvSpPr>
          <p:cNvPr id="19"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1"/>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Qualitative: one tool per customer</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Interviews for what dealers keep private; groups for what buyers share.</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Sources: Melelli Viveros (2026). Photo: Pexels.</a:t>
            </a:r>
            <a:endParaRPr lang="en-US" sz="850" dirty="0"/>
          </a:p>
        </p:txBody>
      </p:sp>
      <p:pic>
        <p:nvPicPr>
          <p:cNvPr id="5" name="Image 0" descr="/private/tmp/claude-501/-Users-seba-Documents-Visual-Studio-Proyectos-Acad-micos-Marketing/f45da085-a5d6-4f69-9770-44d4abda6eac/scratchpad/v3x/ppt/media/image-6-1.png">    </p:cNvPr>
          <p:cNvPicPr>
            <a:picLocks noChangeAspect="1"/>
          </p:cNvPicPr>
          <p:nvPr/>
        </p:nvPicPr>
        <p:blipFill>
          <a:blip r:embed="rId1"/>
          <a:stretch>
            <a:fillRect/>
          </a:stretch>
        </p:blipFill>
        <p:spPr>
          <a:xfrm>
            <a:off x="548640" y="2194560"/>
            <a:ext cx="3977640" cy="3977640"/>
          </a:xfrm>
          <a:prstGeom prst="rect">
            <a:avLst/>
          </a:prstGeom>
        </p:spPr>
      </p:pic>
      <p:sp>
        <p:nvSpPr>
          <p:cNvPr id="6" name="sparkle"/>
          <p:cNvSpPr/>
          <p:nvPr/>
        </p:nvSpPr>
        <p:spPr>
          <a:xfrm>
            <a:off x="4206240" y="1965960"/>
            <a:ext cx="548640" cy="548640"/>
          </a:xfrm>
          <a:prstGeom prst="star4">
            <a:avLst/>
          </a:prstGeom>
          <a:solidFill>
            <a:schemeClr val="accent2"/>
          </a:solidFill>
          <a:ln/>
        </p:spPr>
      </p:sp>
      <p:sp>
        <p:nvSpPr>
          <p:cNvPr id="7" name="Text 4"/>
          <p:cNvSpPr txBox="1"/>
          <p:nvPr/>
        </p:nvSpPr>
        <p:spPr>
          <a:xfrm>
            <a:off x="4846320" y="2194560"/>
            <a:ext cx="6793992" cy="1920240"/>
          </a:xfrm>
          <a:prstGeom prst="roundRect">
            <a:avLst>
              <a:gd name="adj" fmla="val 14286"/>
            </a:avLst>
          </a:prstGeom>
          <a:solidFill>
            <a:schemeClr val="bg1"/>
          </a:solidFill>
          <a:ln/>
          <a:effectLst>
            <a:outerShdw sx="100000" sy="100000" kx="0" ky="0" algn="bl" rotWithShape="0" blurRad="152400" dist="38100" dir="5400000">
              <a:srgbClr val="12141C">
                <a:alpha val="13000"/>
              </a:srgbClr>
            </a:outerShdw>
          </a:effectLst>
        </p:spPr>
        <p:txBody>
          <a:bodyPr wrap="square" lIns="274320" tIns="256032" rIns="274320" bIns="228600" rtlCol="0" anchor="t"/>
          <a:lstStyle/>
          <a:p>
            <a:pPr indent="0" marL="0">
              <a:buNone/>
            </a:pPr>
            <a:endParaRPr lang="en-US" sz="1100" dirty="0"/>
          </a:p>
        </p:txBody>
      </p:sp>
      <p:sp>
        <p:nvSpPr>
          <p:cNvPr id="8" name="Text 5"/>
          <p:cNvSpPr txBox="1"/>
          <p:nvPr/>
        </p:nvSpPr>
        <p:spPr>
          <a:xfrm>
            <a:off x="5120640" y="2395728"/>
            <a:ext cx="5422392" cy="365760"/>
          </a:xfrm>
          <a:prstGeom prst="rect">
            <a:avLst/>
          </a:prstGeom>
          <a:noFill/>
          <a:ln/>
        </p:spPr>
        <p:txBody>
          <a:bodyPr wrap="square" lIns="0" tIns="0" rIns="0" bIns="0" rtlCol="0" anchor="ctr"/>
          <a:lstStyle/>
          <a:p>
            <a:pPr indent="0" marL="0">
              <a:buNone/>
            </a:pPr>
            <a:r>
              <a:rPr lang="en-US" sz="1600" b="1" dirty="0">
                <a:solidFill>
                  <a:schemeClr val="accent1"/>
                </a:solidFill>
              </a:rPr>
              <a:t>In-depth interviews, one-on-one</a:t>
            </a:r>
            <a:endParaRPr lang="en-US" sz="1600" dirty="0"/>
          </a:p>
        </p:txBody>
      </p:sp>
      <p:sp>
        <p:nvSpPr>
          <p:cNvPr id="9" name="Text 6"/>
          <p:cNvSpPr txBox="1"/>
          <p:nvPr/>
        </p:nvSpPr>
        <p:spPr>
          <a:xfrm>
            <a:off x="10680192" y="2414016"/>
            <a:ext cx="6858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B2B</a:t>
            </a:r>
            <a:endParaRPr lang="en-US" sz="1100" dirty="0"/>
          </a:p>
        </p:txBody>
      </p:sp>
      <p:sp>
        <p:nvSpPr>
          <p:cNvPr id="10" name="Text 7"/>
          <p:cNvSpPr txBox="1"/>
          <p:nvPr/>
        </p:nvSpPr>
        <p:spPr>
          <a:xfrm>
            <a:off x="5120640" y="2871216"/>
            <a:ext cx="172273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dirty="0">
                <a:solidFill>
                  <a:schemeClr val="tx1"/>
                </a:solidFill>
              </a:rPr>
              <a:t>Mid-size dealer owners</a:t>
            </a:r>
            <a:endParaRPr lang="en-US" sz="950" dirty="0"/>
          </a:p>
        </p:txBody>
      </p:sp>
      <p:sp>
        <p:nvSpPr>
          <p:cNvPr id="11" name="Text 8"/>
          <p:cNvSpPr txBox="1"/>
          <p:nvPr/>
        </p:nvSpPr>
        <p:spPr>
          <a:xfrm>
            <a:off x="6934810" y="2871216"/>
            <a:ext cx="932688"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dirty="0">
                <a:solidFill>
                  <a:schemeClr val="tx1"/>
                </a:solidFill>
              </a:rPr>
              <a:t>Appraisers</a:t>
            </a:r>
            <a:endParaRPr lang="en-US" sz="950" dirty="0"/>
          </a:p>
        </p:txBody>
      </p:sp>
      <p:sp>
        <p:nvSpPr>
          <p:cNvPr id="12" name="Text 9"/>
          <p:cNvSpPr txBox="1"/>
          <p:nvPr/>
        </p:nvSpPr>
        <p:spPr>
          <a:xfrm>
            <a:off x="7958938" y="2871216"/>
            <a:ext cx="801014"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dirty="0">
                <a:solidFill>
                  <a:schemeClr val="tx1"/>
                </a:solidFill>
              </a:rPr>
              <a:t>Flippers</a:t>
            </a:r>
            <a:endParaRPr lang="en-US" sz="950" dirty="0"/>
          </a:p>
        </p:txBody>
      </p:sp>
      <p:sp>
        <p:nvSpPr>
          <p:cNvPr id="13" name="Text 10"/>
          <p:cNvSpPr txBox="1"/>
          <p:nvPr/>
        </p:nvSpPr>
        <p:spPr>
          <a:xfrm>
            <a:off x="5120640" y="3291840"/>
            <a:ext cx="3154680" cy="749808"/>
          </a:xfrm>
          <a:prstGeom prst="rect">
            <a:avLst/>
          </a:prstGeom>
          <a:noFill/>
          <a:ln/>
        </p:spPr>
        <p:txBody>
          <a:bodyPr wrap="square" lIns="0" tIns="0" rIns="0" bIns="0" rtlCol="0" anchor="t"/>
          <a:lstStyle/>
          <a:p>
            <a:pPr indent="0" marL="0">
              <a:buNone/>
            </a:pPr>
            <a:r>
              <a:rPr lang="en-US" sz="1050" b="1" dirty="0">
                <a:solidFill>
                  <a:schemeClr val="tx1"/>
                </a:solidFill>
              </a:rPr>
              <a:t>Why it fits best</a:t>
            </a:r>
            <a:endParaRPr lang="en-US" sz="1050" dirty="0"/>
          </a:p>
          <a:p>
            <a:pPr indent="0" marL="0">
              <a:buNone/>
            </a:pPr>
            <a:r>
              <a:rPr lang="en-US" sz="1050" dirty="0">
                <a:solidFill>
                  <a:schemeClr val="tx2"/>
                </a:solidFill>
              </a:rPr>
              <a:t>Margins and workshop deals are trade secrets. Nobody shares them in front of competitors.</a:t>
            </a:r>
            <a:endParaRPr lang="en-US" sz="1050" dirty="0"/>
          </a:p>
        </p:txBody>
      </p:sp>
      <p:sp>
        <p:nvSpPr>
          <p:cNvPr id="14" name="Text 11"/>
          <p:cNvSpPr txBox="1"/>
          <p:nvPr/>
        </p:nvSpPr>
        <p:spPr>
          <a:xfrm>
            <a:off x="8458200" y="3291840"/>
            <a:ext cx="2926080" cy="749808"/>
          </a:xfrm>
          <a:prstGeom prst="rect">
            <a:avLst/>
          </a:prstGeom>
          <a:noFill/>
          <a:ln/>
        </p:spPr>
        <p:txBody>
          <a:bodyPr wrap="square" lIns="0" tIns="0" rIns="0" bIns="0" rtlCol="0" anchor="t"/>
          <a:lstStyle/>
          <a:p>
            <a:pPr indent="0" marL="0">
              <a:buNone/>
            </a:pPr>
            <a:r>
              <a:rPr lang="en-US" sz="1050" b="1" dirty="0">
                <a:solidFill>
                  <a:schemeClr val="tx1"/>
                </a:solidFill>
              </a:rPr>
              <a:t>What it gives us</a:t>
            </a:r>
            <a:endParaRPr lang="en-US" sz="1050" dirty="0"/>
          </a:p>
          <a:p>
            <a:pPr indent="0" marL="0">
              <a:buNone/>
            </a:pPr>
            <a:r>
              <a:rPr lang="en-US" sz="1050" dirty="0">
                <a:solidFill>
                  <a:schemeClr val="tx2"/>
                </a:solidFill>
              </a:rPr>
              <a:t>Hidden pricing rules, how far they trust AI, what fails in GoAuto or Rodar.</a:t>
            </a:r>
            <a:endParaRPr lang="en-US" sz="1050" dirty="0"/>
          </a:p>
        </p:txBody>
      </p:sp>
      <p:sp>
        <p:nvSpPr>
          <p:cNvPr id="15" name="Text 12"/>
          <p:cNvSpPr txBox="1"/>
          <p:nvPr/>
        </p:nvSpPr>
        <p:spPr>
          <a:xfrm>
            <a:off x="4846320" y="4251960"/>
            <a:ext cx="6793992" cy="1920240"/>
          </a:xfrm>
          <a:prstGeom prst="roundRect">
            <a:avLst>
              <a:gd name="adj" fmla="val 14286"/>
            </a:avLst>
          </a:prstGeom>
          <a:solidFill>
            <a:schemeClr val="bg1"/>
          </a:solidFill>
          <a:ln/>
          <a:effectLst>
            <a:outerShdw sx="100000" sy="100000" kx="0" ky="0" algn="bl" rotWithShape="0" blurRad="152400" dist="38100" dir="5400000">
              <a:srgbClr val="12141C">
                <a:alpha val="13000"/>
              </a:srgbClr>
            </a:outerShdw>
          </a:effectLst>
        </p:spPr>
        <p:txBody>
          <a:bodyPr wrap="square" lIns="274320" tIns="256032" rIns="274320" bIns="228600" rtlCol="0" anchor="t"/>
          <a:lstStyle/>
          <a:p>
            <a:pPr indent="0" marL="0">
              <a:buNone/>
            </a:pPr>
            <a:endParaRPr lang="en-US" sz="1100" dirty="0"/>
          </a:p>
        </p:txBody>
      </p:sp>
      <p:sp>
        <p:nvSpPr>
          <p:cNvPr id="16" name="Text 13"/>
          <p:cNvSpPr txBox="1"/>
          <p:nvPr/>
        </p:nvSpPr>
        <p:spPr>
          <a:xfrm>
            <a:off x="5120640" y="4453128"/>
            <a:ext cx="5422392" cy="365760"/>
          </a:xfrm>
          <a:prstGeom prst="rect">
            <a:avLst/>
          </a:prstGeom>
          <a:noFill/>
          <a:ln/>
        </p:spPr>
        <p:txBody>
          <a:bodyPr wrap="square" lIns="0" tIns="0" rIns="0" bIns="0" rtlCol="0" anchor="ctr"/>
          <a:lstStyle/>
          <a:p>
            <a:pPr indent="0" marL="0">
              <a:buNone/>
            </a:pPr>
            <a:r>
              <a:rPr lang="en-US" sz="1600" b="1" dirty="0">
                <a:solidFill>
                  <a:schemeClr val="accent1"/>
                </a:solidFill>
              </a:rPr>
              <a:t>Moderated focus groups</a:t>
            </a:r>
            <a:endParaRPr lang="en-US" sz="1600" dirty="0"/>
          </a:p>
        </p:txBody>
      </p:sp>
      <p:sp>
        <p:nvSpPr>
          <p:cNvPr id="17" name="Text 14"/>
          <p:cNvSpPr txBox="1"/>
          <p:nvPr/>
        </p:nvSpPr>
        <p:spPr>
          <a:xfrm>
            <a:off x="10680192" y="4471416"/>
            <a:ext cx="68580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B2C</a:t>
            </a:r>
            <a:endParaRPr lang="en-US" sz="1100" dirty="0"/>
          </a:p>
        </p:txBody>
      </p:sp>
      <p:sp>
        <p:nvSpPr>
          <p:cNvPr id="18" name="Text 15"/>
          <p:cNvSpPr txBox="1"/>
          <p:nvPr/>
        </p:nvSpPr>
        <p:spPr>
          <a:xfrm>
            <a:off x="5120640" y="4928616"/>
            <a:ext cx="2841955"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dirty="0">
                <a:solidFill>
                  <a:schemeClr val="tx1"/>
                </a:solidFill>
              </a:rPr>
              <a:t>Bought a used car in the last 12 months</a:t>
            </a:r>
            <a:endParaRPr lang="en-US" sz="950" dirty="0"/>
          </a:p>
        </p:txBody>
      </p:sp>
      <p:sp>
        <p:nvSpPr>
          <p:cNvPr id="19" name="Text 16"/>
          <p:cNvSpPr txBox="1"/>
          <p:nvPr/>
        </p:nvSpPr>
        <p:spPr>
          <a:xfrm>
            <a:off x="8054035" y="4928616"/>
            <a:ext cx="126187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dirty="0">
                <a:solidFill>
                  <a:schemeClr val="tx1"/>
                </a:solidFill>
              </a:rPr>
              <a:t>Plan to buy one</a:t>
            </a:r>
            <a:endParaRPr lang="en-US" sz="950" dirty="0"/>
          </a:p>
        </p:txBody>
      </p:sp>
      <p:sp>
        <p:nvSpPr>
          <p:cNvPr id="20" name="Text 17"/>
          <p:cNvSpPr txBox="1"/>
          <p:nvPr/>
        </p:nvSpPr>
        <p:spPr>
          <a:xfrm>
            <a:off x="5120640" y="5349240"/>
            <a:ext cx="3154680" cy="749808"/>
          </a:xfrm>
          <a:prstGeom prst="rect">
            <a:avLst/>
          </a:prstGeom>
          <a:noFill/>
          <a:ln/>
        </p:spPr>
        <p:txBody>
          <a:bodyPr wrap="square" lIns="0" tIns="0" rIns="0" bIns="0" rtlCol="0" anchor="t"/>
          <a:lstStyle/>
          <a:p>
            <a:pPr indent="0" marL="0">
              <a:buNone/>
            </a:pPr>
            <a:r>
              <a:rPr lang="en-US" sz="1050" b="1" dirty="0">
                <a:solidFill>
                  <a:schemeClr val="tx1"/>
                </a:solidFill>
              </a:rPr>
              <a:t>Why it fits best</a:t>
            </a:r>
            <a:endParaRPr lang="en-US" sz="1050" dirty="0"/>
          </a:p>
          <a:p>
            <a:pPr indent="0" marL="0">
              <a:buNone/>
            </a:pPr>
            <a:r>
              <a:rPr lang="en-US" sz="1050" dirty="0">
                <a:solidFill>
                  <a:schemeClr val="tx2"/>
                </a:solidFill>
              </a:rPr>
              <a:t>Fear of fraud is social: hearing others' stories makes people talk.</a:t>
            </a:r>
            <a:endParaRPr lang="en-US" sz="1050" dirty="0"/>
          </a:p>
        </p:txBody>
      </p:sp>
      <p:sp>
        <p:nvSpPr>
          <p:cNvPr id="21" name="Text 18"/>
          <p:cNvSpPr txBox="1"/>
          <p:nvPr/>
        </p:nvSpPr>
        <p:spPr>
          <a:xfrm>
            <a:off x="8458200" y="5349240"/>
            <a:ext cx="2926080" cy="749808"/>
          </a:xfrm>
          <a:prstGeom prst="rect">
            <a:avLst/>
          </a:prstGeom>
          <a:noFill/>
          <a:ln/>
        </p:spPr>
        <p:txBody>
          <a:bodyPr wrap="square" lIns="0" tIns="0" rIns="0" bIns="0" rtlCol="0" anchor="t"/>
          <a:lstStyle/>
          <a:p>
            <a:pPr indent="0" marL="0">
              <a:buNone/>
            </a:pPr>
            <a:r>
              <a:rPr lang="en-US" sz="1050" b="1" dirty="0">
                <a:solidFill>
                  <a:schemeClr val="tx1"/>
                </a:solidFill>
              </a:rPr>
              <a:t>What it gives us</a:t>
            </a:r>
            <a:endParaRPr lang="en-US" sz="1050" dirty="0"/>
          </a:p>
          <a:p>
            <a:pPr indent="0" marL="0">
              <a:buNone/>
            </a:pPr>
            <a:r>
              <a:rPr lang="en-US" sz="1050" dirty="0">
                <a:solidFill>
                  <a:schemeClr val="tx2"/>
                </a:solidFill>
              </a:rPr>
              <a:t>Shared risk perceptions, the buyer's own words, first reaction to the report.</a:t>
            </a:r>
            <a:endParaRPr lang="en-US" sz="10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Quantitative: meet each customer</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Dealers in person at work, buyers online at scale. Phone calls and intercepts close the gaps.</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Photo: Pexels.</a:t>
            </a:r>
            <a:endParaRPr lang="en-US" sz="850" dirty="0"/>
          </a:p>
        </p:txBody>
      </p:sp>
      <p:sp>
        <p:nvSpPr>
          <p:cNvPr id="5" name="Text 3"/>
          <p:cNvSpPr txBox="1"/>
          <p:nvPr/>
        </p:nvSpPr>
        <p:spPr>
          <a:xfrm rot="-78000">
            <a:off x="548640" y="2331720"/>
            <a:ext cx="3657600" cy="3108960"/>
          </a:xfrm>
          <a:prstGeom prst="roundRect">
            <a:avLst>
              <a:gd name="adj" fmla="val 8824"/>
            </a:avLst>
          </a:prstGeom>
          <a:solidFill>
            <a:schemeClr val="bg1"/>
          </a:solidFill>
          <a:ln/>
          <a:effectLst>
            <a:outerShdw sx="100000" sy="100000" kx="0" ky="0" algn="bl" rotWithShape="0" blurRad="152400" dist="38100" dir="5400000">
              <a:srgbClr val="12141C">
                <a:alpha val="13000"/>
              </a:srgbClr>
            </a:outerShdw>
          </a:effectLst>
        </p:spPr>
        <p:txBody>
          <a:bodyPr wrap="square" lIns="274320" tIns="384048" rIns="274320" bIns="182880" rtlCol="0" anchor="t"/>
          <a:lstStyle/>
          <a:p>
            <a:pPr indent="0" marL="0">
              <a:spcAft>
                <a:spcPts val="800"/>
              </a:spcAft>
              <a:buNone/>
            </a:pPr>
            <a:r>
              <a:rPr lang="en-US" sz="1500" b="1" dirty="0">
                <a:solidFill>
                  <a:schemeClr val="accent1"/>
                </a:solidFill>
              </a:rPr>
              <a:t>F2F in situ + CATI</a:t>
            </a:r>
            <a:endParaRPr lang="en-US" sz="1050" dirty="0"/>
          </a:p>
          <a:p>
            <a:pPr indent="0" marL="0">
              <a:buNone/>
            </a:pPr>
            <a:r>
              <a:rPr lang="en-US" sz="1050" b="1" dirty="0">
                <a:solidFill>
                  <a:schemeClr val="tx1"/>
                </a:solidFill>
              </a:rPr>
              <a:t>How</a:t>
            </a:r>
            <a:endParaRPr lang="en-US" sz="1050" dirty="0"/>
          </a:p>
          <a:p>
            <a:pPr indent="0" marL="0">
              <a:spcAft>
                <a:spcPts val="800"/>
              </a:spcAft>
              <a:buNone/>
            </a:pPr>
            <a:r>
              <a:rPr lang="en-US" sz="1050" dirty="0">
                <a:solidFill>
                  <a:schemeClr val="tx2"/>
                </a:solidFill>
              </a:rPr>
              <a:t>Face to face at the dealer's workplace, in car hubs like Gran Avenida or Av. Bilbao, with a tablet. Phone survey (CATI) for regions.</a:t>
            </a:r>
            <a:endParaRPr lang="en-US" sz="1050" dirty="0"/>
          </a:p>
          <a:p>
            <a:pPr indent="0" marL="0">
              <a:buNone/>
            </a:pPr>
            <a:r>
              <a:rPr lang="en-US" sz="1050" b="1" dirty="0">
                <a:solidFill>
                  <a:schemeClr val="tx1"/>
                </a:solidFill>
              </a:rPr>
              <a:t>Why it fits best</a:t>
            </a:r>
            <a:endParaRPr lang="en-US" sz="1050" dirty="0"/>
          </a:p>
          <a:p>
            <a:pPr indent="0" marL="0">
              <a:spcAft>
                <a:spcPts val="800"/>
              </a:spcAft>
              <a:buNone/>
            </a:pPr>
            <a:r>
              <a:rPr lang="en-US" sz="1050" dirty="0">
                <a:solidFill>
                  <a:schemeClr val="tx2"/>
                </a:solidFill>
              </a:rPr>
              <a:t>Dealers rarely answer web surveys, and we must show them the report prototype.</a:t>
            </a:r>
            <a:endParaRPr lang="en-US" sz="1050" dirty="0"/>
          </a:p>
          <a:p>
            <a:pPr indent="0" marL="0">
              <a:buNone/>
            </a:pPr>
            <a:r>
              <a:rPr lang="en-US" sz="1050" b="1" dirty="0">
                <a:solidFill>
                  <a:schemeClr val="tx1"/>
                </a:solidFill>
              </a:rPr>
              <a:t>What it gives us</a:t>
            </a:r>
            <a:endParaRPr lang="en-US" sz="1050" dirty="0"/>
          </a:p>
          <a:p>
            <a:pPr indent="0" marL="0">
              <a:buNone/>
            </a:pPr>
            <a:r>
              <a:rPr lang="en-US" sz="1050" dirty="0">
                <a:solidFill>
                  <a:schemeClr val="tx2"/>
                </a:solidFill>
              </a:rPr>
              <a:t>Pricing rules at scale, reaction to the prototype, intent to subscribe.</a:t>
            </a:r>
            <a:endParaRPr lang="en-US" sz="1050" dirty="0"/>
          </a:p>
        </p:txBody>
      </p:sp>
      <p:sp>
        <p:nvSpPr>
          <p:cNvPr id="6" name="Text 4"/>
          <p:cNvSpPr txBox="1"/>
          <p:nvPr/>
        </p:nvSpPr>
        <p:spPr>
          <a:xfrm>
            <a:off x="822960" y="2167128"/>
            <a:ext cx="7315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B2B</a:t>
            </a:r>
            <a:endParaRPr lang="en-US" sz="1100" dirty="0"/>
          </a:p>
        </p:txBody>
      </p:sp>
      <p:sp>
        <p:nvSpPr>
          <p:cNvPr id="7" name="Text 5"/>
          <p:cNvSpPr txBox="1"/>
          <p:nvPr/>
        </p:nvSpPr>
        <p:spPr>
          <a:xfrm rot="66000">
            <a:off x="4434840" y="2331720"/>
            <a:ext cx="3657600" cy="3108960"/>
          </a:xfrm>
          <a:prstGeom prst="roundRect">
            <a:avLst>
              <a:gd name="adj" fmla="val 8824"/>
            </a:avLst>
          </a:prstGeom>
          <a:solidFill>
            <a:schemeClr val="bg1"/>
          </a:solidFill>
          <a:ln/>
          <a:effectLst>
            <a:outerShdw sx="100000" sy="100000" kx="0" ky="0" algn="bl" rotWithShape="0" blurRad="152400" dist="38100" dir="5400000">
              <a:srgbClr val="12141C">
                <a:alpha val="13000"/>
              </a:srgbClr>
            </a:outerShdw>
          </a:effectLst>
        </p:spPr>
        <p:txBody>
          <a:bodyPr wrap="square" lIns="274320" tIns="384048" rIns="274320" bIns="182880" rtlCol="0" anchor="t"/>
          <a:lstStyle/>
          <a:p>
            <a:pPr indent="0" marL="0">
              <a:spcAft>
                <a:spcPts val="800"/>
              </a:spcAft>
              <a:buNone/>
            </a:pPr>
            <a:r>
              <a:rPr lang="en-US" sz="1500" b="1" dirty="0">
                <a:solidFill>
                  <a:schemeClr val="accent1"/>
                </a:solidFill>
              </a:rPr>
              <a:t>CAWI with quotas + intercepts</a:t>
            </a:r>
            <a:endParaRPr lang="en-US" sz="1050" dirty="0"/>
          </a:p>
          <a:p>
            <a:pPr indent="0" marL="0">
              <a:buNone/>
            </a:pPr>
            <a:r>
              <a:rPr lang="en-US" sz="1050" b="1" dirty="0">
                <a:solidFill>
                  <a:schemeClr val="tx1"/>
                </a:solidFill>
              </a:rPr>
              <a:t>How</a:t>
            </a:r>
            <a:endParaRPr lang="en-US" sz="1050" dirty="0"/>
          </a:p>
          <a:p>
            <a:pPr indent="0" marL="0">
              <a:spcAft>
                <a:spcPts val="800"/>
              </a:spcAft>
              <a:buNone/>
            </a:pPr>
            <a:r>
              <a:rPr lang="en-US" sz="1050" dirty="0">
                <a:solidFill>
                  <a:schemeClr val="tx2"/>
                </a:solidFill>
              </a:rPr>
              <a:t>Online survey with quotas by gender, age and car age. Intercepts at notaries and inspection plants (PRT) if a quota fills slowly.</a:t>
            </a:r>
            <a:endParaRPr lang="en-US" sz="1050" dirty="0"/>
          </a:p>
          <a:p>
            <a:pPr indent="0" marL="0">
              <a:buNone/>
            </a:pPr>
            <a:r>
              <a:rPr lang="en-US" sz="1050" b="1" dirty="0">
                <a:solidFill>
                  <a:schemeClr val="tx1"/>
                </a:solidFill>
              </a:rPr>
              <a:t>Why it fits best</a:t>
            </a:r>
            <a:endParaRPr lang="en-US" sz="1050" dirty="0"/>
          </a:p>
          <a:p>
            <a:pPr indent="0" marL="0">
              <a:spcAft>
                <a:spcPts val="800"/>
              </a:spcAft>
              <a:buNone/>
            </a:pPr>
            <a:r>
              <a:rPr lang="en-US" sz="1050" dirty="0">
                <a:solidFill>
                  <a:schemeClr val="tx2"/>
                </a:solidFill>
              </a:rPr>
              <a:t>Volume, low cost, speed and real-time results. Quotas limit self-selection.</a:t>
            </a:r>
            <a:endParaRPr lang="en-US" sz="1050" dirty="0"/>
          </a:p>
          <a:p>
            <a:pPr indent="0" marL="0">
              <a:buNone/>
            </a:pPr>
            <a:r>
              <a:rPr lang="en-US" sz="1050" b="1" dirty="0">
                <a:solidFill>
                  <a:schemeClr val="tx1"/>
                </a:solidFill>
              </a:rPr>
              <a:t>What it gives us</a:t>
            </a:r>
            <a:endParaRPr lang="en-US" sz="1050" dirty="0"/>
          </a:p>
          <a:p>
            <a:pPr indent="0" marL="0">
              <a:buNone/>
            </a:pPr>
            <a:r>
              <a:rPr lang="en-US" sz="1050" dirty="0">
                <a:solidFill>
                  <a:schemeClr val="tx2"/>
                </a:solidFill>
              </a:rPr>
              <a:t>How common each fear is, intent to buy a report, price range.</a:t>
            </a:r>
            <a:endParaRPr lang="en-US" sz="1050" dirty="0"/>
          </a:p>
        </p:txBody>
      </p:sp>
      <p:sp>
        <p:nvSpPr>
          <p:cNvPr id="8" name="Text 6"/>
          <p:cNvSpPr txBox="1"/>
          <p:nvPr/>
        </p:nvSpPr>
        <p:spPr>
          <a:xfrm>
            <a:off x="4709160" y="2167128"/>
            <a:ext cx="73152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B2C</a:t>
            </a:r>
            <a:endParaRPr lang="en-US" sz="1100" dirty="0"/>
          </a:p>
        </p:txBody>
      </p:sp>
      <p:sp>
        <p:nvSpPr>
          <p:cNvPr id="9" name="Text 7"/>
          <p:cNvSpPr txBox="1"/>
          <p:nvPr/>
        </p:nvSpPr>
        <p:spPr>
          <a:xfrm>
            <a:off x="548640" y="5760720"/>
            <a:ext cx="7543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150" b="1" dirty="0">
                <a:solidFill>
                  <a:schemeClr val="tx1"/>
                </a:solidFill>
              </a:rPr>
              <a:t>Each mode reaches one customer; together they cover both sides of the deal.</a:t>
            </a:r>
            <a:endParaRPr lang="en-US" sz="1150" dirty="0"/>
          </a:p>
        </p:txBody>
      </p:sp>
      <p:pic>
        <p:nvPicPr>
          <p:cNvPr id="10" name="Image 0" descr="/private/tmp/claude-501/-Users-seba-Documents-Visual-Studio-Proyectos-Acad-micos-Marketing/f45da085-a5d6-4f69-9770-44d4abda6eac/scratchpad/v3x/ppt/media/image-4-1.png">    </p:cNvPr>
          <p:cNvPicPr>
            <a:picLocks noChangeAspect="1"/>
          </p:cNvPicPr>
          <p:nvPr/>
        </p:nvPicPr>
        <p:blipFill>
          <a:blip r:embed="rId1"/>
          <a:stretch>
            <a:fillRect/>
          </a:stretch>
        </p:blipFill>
        <p:spPr>
          <a:xfrm>
            <a:off x="8503920" y="2103120"/>
            <a:ext cx="3136392" cy="4027018"/>
          </a:xfrm>
          <a:prstGeom prst="rect">
            <a:avLst/>
          </a:prstGeom>
        </p:spPr>
      </p:pic>
      <p:sp>
        <p:nvSpPr>
          <p:cNvPr id="11" name="sparkle"/>
          <p:cNvSpPr/>
          <p:nvPr/>
        </p:nvSpPr>
        <p:spPr>
          <a:xfrm>
            <a:off x="8229600" y="1828800"/>
            <a:ext cx="548640" cy="548640"/>
          </a:xfrm>
          <a:prstGeom prst="star4">
            <a:avLst/>
          </a:prstGeom>
          <a:solidFill>
            <a:schemeClr val="accent2"/>
          </a:solidFill>
          <a:ln/>
        </p:spPr>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From method to objectives</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Read each row from left to right: what we explore, what we measure, and the decision it informs.</a:t>
            </a:r>
            <a:endParaRPr lang="en-US" sz="1500" dirty="0"/>
          </a:p>
        </p:txBody>
      </p:sp>
      <p:sp>
        <p:nvSpPr>
          <p:cNvPr id="4"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r>
              <a:rPr lang="en-US" sz="850" dirty="0">
                <a:solidFill>
                  <a:schemeClr val="tx2"/>
                </a:solidFill>
              </a:rPr>
              <a:t>Population and sample size are set in the next stage, as the brief asks. Prices are hypotheses to test.</a:t>
            </a:r>
            <a:endParaRPr lang="en-US" sz="850" dirty="0"/>
          </a:p>
        </p:txBody>
      </p:sp>
      <p:sp>
        <p:nvSpPr>
          <p:cNvPr id="188" name="Text 188"/>
          <p:cNvSpPr txBox="1"/>
          <p:nvPr/>
        </p:nvSpPr>
        <p:spPr>
          <a:xfrm>
            <a:off x="548640" y="2176272"/>
            <a:ext cx="2240280" cy="292608"/>
          </a:xfrm>
          <a:prstGeom prst="rect">
            <a:avLst/>
          </a:prstGeom>
          <a:noFill/>
          <a:ln>
            <a:noFill/>
          </a:ln>
        </p:spPr>
        <p:txBody>
          <a:bodyPr wrap="square" lIns="0" tIns="0" rIns="0" bIns="0" rtlCol="0" anchor="ctr"/>
          <a:lstStyle/>
          <a:p>
            <a:pPr algn="l" indent="0" marL="0">
              <a:buNone/>
            </a:pPr>
            <a:r>
              <a:rPr lang="en-US" sz="1000" b="1" dirty="0">
                <a:solidFill>
                  <a:schemeClr val="tx2"/>
                </a:solidFill>
              </a:rPr>
              <a:t>Specific objective</a:t>
            </a:r>
            <a:endParaRPr lang="en-US" sz="1000" dirty="0"/>
          </a:p>
        </p:txBody>
      </p:sp>
      <p:sp>
        <p:nvSpPr>
          <p:cNvPr id="189" name="Pill 189"/>
          <p:cNvSpPr txBox="1"/>
          <p:nvPr/>
        </p:nvSpPr>
        <p:spPr>
          <a:xfrm>
            <a:off x="2880360" y="2176272"/>
            <a:ext cx="3291840" cy="292608"/>
          </a:xfrm>
          <a:prstGeom prst="roundRect">
            <a:avLst>
              <a:gd name="adj" fmla="val 50000"/>
            </a:avLst>
          </a:prstGeom>
          <a:solidFill>
            <a:schemeClr val="accent2"/>
          </a:solidFill>
          <a:ln>
            <a:noFill/>
          </a:ln>
        </p:spPr>
        <p:txBody>
          <a:bodyPr wrap="square" lIns="36576" tIns="0" rIns="36576" bIns="0" rtlCol="0" anchor="ctr"/>
          <a:lstStyle/>
          <a:p>
            <a:pPr algn="ctr" indent="0" marL="0">
              <a:buNone/>
            </a:pPr>
            <a:r>
              <a:rPr lang="en-US" sz="1000" b="1" dirty="0">
                <a:solidFill>
                  <a:schemeClr val="tx1"/>
                </a:solidFill>
              </a:rPr>
              <a:t>Step 1  ·  Explore (qualitative)</a:t>
            </a:r>
            <a:endParaRPr lang="en-US" sz="1000" dirty="0"/>
          </a:p>
        </p:txBody>
      </p:sp>
      <p:sp>
        <p:nvSpPr>
          <p:cNvPr id="190" name="Circle 190"/>
          <p:cNvSpPr txBox="1"/>
          <p:nvPr/>
        </p:nvSpPr>
        <p:spPr>
          <a:xfrm>
            <a:off x="6300216" y="2157984"/>
            <a:ext cx="329184" cy="329184"/>
          </a:xfrm>
          <a:prstGeom prst="ellipse">
            <a:avLst/>
          </a:prstGeom>
          <a:solidFill>
            <a:schemeClr val="tx1"/>
          </a:solidFill>
          <a:ln>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91" name="Pill 191"/>
          <p:cNvSpPr txBox="1"/>
          <p:nvPr/>
        </p:nvSpPr>
        <p:spPr>
          <a:xfrm>
            <a:off x="6766560" y="2176272"/>
            <a:ext cx="3291840" cy="292608"/>
          </a:xfrm>
          <a:prstGeom prst="roundRect">
            <a:avLst>
              <a:gd name="adj" fmla="val 50000"/>
            </a:avLst>
          </a:prstGeom>
          <a:solidFill>
            <a:schemeClr val="tx1"/>
          </a:solidFill>
          <a:ln>
            <a:noFill/>
          </a:ln>
        </p:spPr>
        <p:txBody>
          <a:bodyPr wrap="square" lIns="36576" tIns="0" rIns="36576" bIns="0" rtlCol="0" anchor="ctr"/>
          <a:lstStyle/>
          <a:p>
            <a:pPr algn="ctr" indent="0" marL="0">
              <a:buNone/>
            </a:pPr>
            <a:r>
              <a:rPr lang="en-US" sz="1000" b="1" dirty="0">
                <a:solidFill>
                  <a:schemeClr val="bg1"/>
                </a:solidFill>
              </a:rPr>
              <a:t>Step 2  ·  Measure (quantitative)</a:t>
            </a:r>
            <a:endParaRPr lang="en-US" sz="1000" dirty="0"/>
          </a:p>
        </p:txBody>
      </p:sp>
      <p:sp>
        <p:nvSpPr>
          <p:cNvPr id="192" name="Pill 192"/>
          <p:cNvSpPr txBox="1"/>
          <p:nvPr/>
        </p:nvSpPr>
        <p:spPr>
          <a:xfrm>
            <a:off x="10195560" y="2176272"/>
            <a:ext cx="1444752" cy="292608"/>
          </a:xfrm>
          <a:prstGeom prst="roundRect">
            <a:avLst>
              <a:gd name="adj" fmla="val 50000"/>
            </a:avLst>
          </a:prstGeom>
          <a:solidFill>
            <a:schemeClr val="accent1"/>
          </a:solidFill>
          <a:ln>
            <a:noFill/>
          </a:ln>
        </p:spPr>
        <p:txBody>
          <a:bodyPr wrap="square" lIns="36576" tIns="0" rIns="36576" bIns="0" rtlCol="0" anchor="ctr"/>
          <a:lstStyle/>
          <a:p>
            <a:pPr algn="ctr" indent="0" marL="0">
              <a:buNone/>
            </a:pPr>
            <a:r>
              <a:rPr lang="en-US" sz="1000" b="1" dirty="0">
                <a:solidFill>
                  <a:schemeClr val="bg1"/>
                </a:solidFill>
              </a:rPr>
              <a:t>Step 3  ·  Decide</a:t>
            </a:r>
            <a:endParaRPr lang="en-US" sz="1000" dirty="0"/>
          </a:p>
        </p:txBody>
      </p:sp>
      <p:sp>
        <p:nvSpPr>
          <p:cNvPr id="193" name="Text 193"/>
          <p:cNvSpPr txBox="1"/>
          <p:nvPr/>
        </p:nvSpPr>
        <p:spPr>
          <a:xfrm>
            <a:off x="2880360" y="2542032"/>
            <a:ext cx="1600200" cy="438912"/>
          </a:xfrm>
          <a:prstGeom prst="rect">
            <a:avLst/>
          </a:prstGeom>
          <a:noFill/>
          <a:ln>
            <a:noFill/>
          </a:ln>
        </p:spPr>
        <p:txBody>
          <a:bodyPr wrap="square" lIns="0" tIns="0" rIns="0" bIns="0" rtlCol="0" anchor="ctr"/>
          <a:lstStyle/>
          <a:p>
            <a:pPr algn="ctr" indent="0" marL="0">
              <a:buNone/>
            </a:pPr>
            <a:r>
              <a:rPr lang="en-US" sz="1000" b="1" dirty="0">
                <a:solidFill>
                  <a:schemeClr val="tx1"/>
                </a:solidFill>
              </a:rPr>
              <a:t>In-depth interviews</a:t>
            </a:r>
            <a:endParaRPr lang="en-US" sz="1000" dirty="0"/>
          </a:p>
          <a:p>
            <a:pPr algn="ctr" indent="0" marL="0">
              <a:buNone/>
            </a:pPr>
            <a:r>
              <a:rPr lang="en-US" sz="900" b="1" dirty="0">
                <a:solidFill>
                  <a:schemeClr val="accent1"/>
                </a:solidFill>
              </a:rPr>
              <a:t>B2B</a:t>
            </a:r>
            <a:endParaRPr lang="en-US" sz="900" dirty="0"/>
          </a:p>
        </p:txBody>
      </p:sp>
      <p:sp>
        <p:nvSpPr>
          <p:cNvPr id="194" name="Text 194"/>
          <p:cNvSpPr txBox="1"/>
          <p:nvPr/>
        </p:nvSpPr>
        <p:spPr>
          <a:xfrm>
            <a:off x="4572000" y="2542032"/>
            <a:ext cx="1600200" cy="438912"/>
          </a:xfrm>
          <a:prstGeom prst="rect">
            <a:avLst/>
          </a:prstGeom>
          <a:noFill/>
          <a:ln>
            <a:noFill/>
          </a:ln>
        </p:spPr>
        <p:txBody>
          <a:bodyPr wrap="square" lIns="0" tIns="0" rIns="0" bIns="0" rtlCol="0" anchor="ctr"/>
          <a:lstStyle/>
          <a:p>
            <a:pPr algn="ctr" indent="0" marL="0">
              <a:buNone/>
            </a:pPr>
            <a:r>
              <a:rPr lang="en-US" sz="1000" b="1" dirty="0">
                <a:solidFill>
                  <a:schemeClr val="tx1"/>
                </a:solidFill>
              </a:rPr>
              <a:t>Focus groups</a:t>
            </a:r>
            <a:endParaRPr lang="en-US" sz="1000" dirty="0"/>
          </a:p>
          <a:p>
            <a:pPr algn="ctr" indent="0" marL="0">
              <a:buNone/>
            </a:pPr>
            <a:r>
              <a:rPr lang="en-US" sz="900" b="1" dirty="0">
                <a:solidFill>
                  <a:schemeClr val="accent1"/>
                </a:solidFill>
              </a:rPr>
              <a:t>B2C</a:t>
            </a:r>
            <a:endParaRPr lang="en-US" sz="900" dirty="0"/>
          </a:p>
        </p:txBody>
      </p:sp>
      <p:sp>
        <p:nvSpPr>
          <p:cNvPr id="195" name="Text 195"/>
          <p:cNvSpPr txBox="1"/>
          <p:nvPr/>
        </p:nvSpPr>
        <p:spPr>
          <a:xfrm>
            <a:off x="6766560" y="2542032"/>
            <a:ext cx="1600200" cy="438912"/>
          </a:xfrm>
          <a:prstGeom prst="rect">
            <a:avLst/>
          </a:prstGeom>
          <a:noFill/>
          <a:ln>
            <a:noFill/>
          </a:ln>
        </p:spPr>
        <p:txBody>
          <a:bodyPr wrap="square" lIns="0" tIns="0" rIns="0" bIns="0" rtlCol="0" anchor="ctr"/>
          <a:lstStyle/>
          <a:p>
            <a:pPr algn="ctr" indent="0" marL="0">
              <a:buNone/>
            </a:pPr>
            <a:r>
              <a:rPr lang="en-US" sz="1000" b="1" dirty="0">
                <a:solidFill>
                  <a:schemeClr val="tx1"/>
                </a:solidFill>
              </a:rPr>
              <a:t>F2F in situ + CATI</a:t>
            </a:r>
            <a:endParaRPr lang="en-US" sz="1000" dirty="0"/>
          </a:p>
          <a:p>
            <a:pPr algn="ctr" indent="0" marL="0">
              <a:buNone/>
            </a:pPr>
            <a:r>
              <a:rPr lang="en-US" sz="900" b="1" dirty="0">
                <a:solidFill>
                  <a:schemeClr val="accent1"/>
                </a:solidFill>
              </a:rPr>
              <a:t>B2B</a:t>
            </a:r>
            <a:endParaRPr lang="en-US" sz="900" dirty="0"/>
          </a:p>
        </p:txBody>
      </p:sp>
      <p:sp>
        <p:nvSpPr>
          <p:cNvPr id="196" name="Text 196"/>
          <p:cNvSpPr txBox="1"/>
          <p:nvPr/>
        </p:nvSpPr>
        <p:spPr>
          <a:xfrm>
            <a:off x="8458200" y="2542032"/>
            <a:ext cx="1600200" cy="438912"/>
          </a:xfrm>
          <a:prstGeom prst="rect">
            <a:avLst/>
          </a:prstGeom>
          <a:noFill/>
          <a:ln>
            <a:noFill/>
          </a:ln>
        </p:spPr>
        <p:txBody>
          <a:bodyPr wrap="square" lIns="0" tIns="0" rIns="0" bIns="0" rtlCol="0" anchor="ctr"/>
          <a:lstStyle/>
          <a:p>
            <a:pPr algn="ctr" indent="0" marL="0">
              <a:buNone/>
            </a:pPr>
            <a:r>
              <a:rPr lang="en-US" sz="1000" b="1" dirty="0">
                <a:solidFill>
                  <a:schemeClr val="tx1"/>
                </a:solidFill>
              </a:rPr>
              <a:t>CAWI + intercepts</a:t>
            </a:r>
            <a:endParaRPr lang="en-US" sz="1000" dirty="0"/>
          </a:p>
          <a:p>
            <a:pPr algn="ctr" indent="0" marL="0">
              <a:buNone/>
            </a:pPr>
            <a:r>
              <a:rPr lang="en-US" sz="900" b="1" dirty="0">
                <a:solidFill>
                  <a:schemeClr val="accent1"/>
                </a:solidFill>
              </a:rPr>
              <a:t>B2C</a:t>
            </a:r>
            <a:endParaRPr lang="en-US" sz="900" dirty="0"/>
          </a:p>
        </p:txBody>
      </p:sp>
      <p:sp>
        <p:nvSpPr>
          <p:cNvPr id="197" name="Text 197"/>
          <p:cNvSpPr txBox="1"/>
          <p:nvPr/>
        </p:nvSpPr>
        <p:spPr>
          <a:xfrm>
            <a:off x="6172200" y="2542032"/>
            <a:ext cx="603504" cy="438912"/>
          </a:xfrm>
          <a:prstGeom prst="rect">
            <a:avLst/>
          </a:prstGeom>
          <a:noFill/>
          <a:ln>
            <a:noFill/>
          </a:ln>
        </p:spPr>
        <p:txBody>
          <a:bodyPr wrap="square" lIns="0" tIns="0" rIns="0" bIns="0" rtlCol="0" anchor="ctr"/>
          <a:lstStyle/>
          <a:p>
            <a:pPr algn="ctr" indent="0" marL="0">
              <a:buNone/>
            </a:pPr>
            <a:r>
              <a:rPr lang="en-US" sz="800" b="1" dirty="0">
                <a:solidFill>
                  <a:schemeClr val="tx2"/>
                </a:solidFill>
              </a:rPr>
              <a:t>becomes</a:t>
            </a:r>
            <a:endParaRPr lang="en-US" sz="800" dirty="0"/>
          </a:p>
          <a:p>
            <a:pPr algn="ctr" indent="0" marL="0">
              <a:buNone/>
            </a:pPr>
            <a:r>
              <a:rPr lang="en-US" sz="800" b="1" dirty="0">
                <a:solidFill>
                  <a:schemeClr val="tx2"/>
                </a:solidFill>
              </a:rPr>
              <a:t>questions</a:t>
            </a:r>
            <a:endParaRPr lang="en-US" sz="800" dirty="0"/>
          </a:p>
        </p:txBody>
      </p:sp>
      <p:sp>
        <p:nvSpPr>
          <p:cNvPr id="198" name="Text 198"/>
          <p:cNvSpPr txBox="1"/>
          <p:nvPr/>
        </p:nvSpPr>
        <p:spPr>
          <a:xfrm>
            <a:off x="10195560" y="2542032"/>
            <a:ext cx="1444752" cy="438912"/>
          </a:xfrm>
          <a:prstGeom prst="rect">
            <a:avLst/>
          </a:prstGeom>
          <a:noFill/>
          <a:ln>
            <a:noFill/>
          </a:ln>
        </p:spPr>
        <p:txBody>
          <a:bodyPr wrap="square" lIns="0" tIns="0" rIns="0" bIns="0" rtlCol="0" anchor="ctr"/>
          <a:lstStyle/>
          <a:p>
            <a:pPr algn="ctr" indent="0" marL="0">
              <a:buNone/>
            </a:pPr>
            <a:r>
              <a:rPr lang="en-US" sz="1000" b="1" dirty="0">
                <a:solidFill>
                  <a:schemeClr val="tx1"/>
                </a:solidFill>
              </a:rPr>
              <a:t>Business decision</a:t>
            </a:r>
            <a:endParaRPr lang="en-US" sz="1000" dirty="0"/>
          </a:p>
        </p:txBody>
      </p:sp>
      <p:sp>
        <p:nvSpPr>
          <p:cNvPr id="199" name="Shape 199"/>
          <p:cNvSpPr/>
          <p:nvPr/>
        </p:nvSpPr>
        <p:spPr>
          <a:xfrm>
            <a:off x="548640" y="3017520"/>
            <a:ext cx="9555480" cy="475488"/>
          </a:xfrm>
          <a:prstGeom prst="roundRect">
            <a:avLst>
              <a:gd name="adj" fmla="val 20000"/>
            </a:avLst>
          </a:prstGeom>
          <a:solidFill>
            <a:schemeClr val="bg1"/>
          </a:solidFill>
          <a:ln>
            <a:noFill/>
          </a:ln>
          <a:effectLst>
            <a:outerShdw blurRad="152400" dist="38100" dir="5400000" sx="100000" sy="100000" kx="0" ky="0" algn="bl" rotWithShape="0">
              <a:srgbClr val="12141C">
                <a:alpha val="13000"/>
              </a:srgbClr>
            </a:outerShdw>
          </a:effectLst>
        </p:spPr>
      </p:sp>
      <p:sp>
        <p:nvSpPr>
          <p:cNvPr id="200" name="Circle 200"/>
          <p:cNvSpPr txBox="1"/>
          <p:nvPr/>
        </p:nvSpPr>
        <p:spPr>
          <a:xfrm>
            <a:off x="685800" y="3099816"/>
            <a:ext cx="310896" cy="310896"/>
          </a:xfrm>
          <a:prstGeom prst="ellipse">
            <a:avLst/>
          </a:prstGeom>
          <a:solidFill>
            <a:schemeClr val="accent1"/>
          </a:solidFill>
          <a:ln>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01" name="Text 201"/>
          <p:cNvSpPr txBox="1"/>
          <p:nvPr/>
        </p:nvSpPr>
        <p:spPr>
          <a:xfrm>
            <a:off x="1097280" y="3017520"/>
            <a:ext cx="1691640" cy="475488"/>
          </a:xfrm>
          <a:prstGeom prst="rect">
            <a:avLst/>
          </a:prstGeom>
          <a:noFill/>
          <a:ln>
            <a:noFill/>
          </a:ln>
        </p:spPr>
        <p:txBody>
          <a:bodyPr wrap="square" lIns="0" tIns="0" rIns="0" bIns="0" rtlCol="0" anchor="ctr"/>
          <a:lstStyle/>
          <a:p>
            <a:pPr algn="l" indent="0" marL="0">
              <a:buNone/>
            </a:pPr>
            <a:r>
              <a:rPr lang="en-US" sz="850" b="1" dirty="0">
                <a:solidFill>
                  <a:schemeClr val="accent1"/>
                </a:solidFill>
              </a:rPr>
              <a:t>OE1</a:t>
            </a:r>
            <a:endParaRPr lang="en-US" sz="850" dirty="0"/>
          </a:p>
          <a:p>
            <a:pPr algn="l" indent="0" marL="0">
              <a:buNone/>
            </a:pPr>
            <a:r>
              <a:rPr lang="en-US" sz="1050" b="1" dirty="0">
                <a:solidFill>
                  <a:schemeClr val="tx1"/>
                </a:solidFill>
              </a:rPr>
              <a:t>Physical &amp; aesthetic</a:t>
            </a:r>
            <a:endParaRPr lang="en-US" sz="1050" dirty="0"/>
          </a:p>
        </p:txBody>
      </p:sp>
      <p:sp>
        <p:nvSpPr>
          <p:cNvPr id="202" name="Shape 202"/>
          <p:cNvSpPr txBox="1"/>
          <p:nvPr/>
        </p:nvSpPr>
        <p:spPr>
          <a:xfrm>
            <a:off x="2935224" y="3072384"/>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algn="ctr" indent="0" marL="0">
              <a:lnSpc>
                <a:spcPct val="88000"/>
              </a:lnSpc>
              <a:buNone/>
            </a:pPr>
            <a:r>
              <a:rPr lang="en-US" sz="850" b="1" dirty="0">
                <a:solidFill>
                  <a:schemeClr val="accent1"/>
                </a:solidFill>
              </a:rPr>
              <a:t>Words for each damage</a:t>
            </a:r>
            <a:endParaRPr lang="en-US" sz="850" dirty="0"/>
          </a:p>
        </p:txBody>
      </p:sp>
      <p:sp>
        <p:nvSpPr>
          <p:cNvPr id="203" name="Line 203"/>
          <p:cNvSpPr/>
          <p:nvPr/>
        </p:nvSpPr>
        <p:spPr>
          <a:xfrm>
            <a:off x="5262372" y="3255264"/>
            <a:ext cx="219456" cy="0"/>
          </a:xfrm>
          <a:prstGeom prst="line">
            <a:avLst/>
          </a:prstGeom>
          <a:noFill/>
          <a:ln w="19050">
            <a:solidFill>
              <a:schemeClr val="accent6"/>
            </a:solidFill>
          </a:ln>
        </p:spPr>
      </p:sp>
      <p:sp>
        <p:nvSpPr>
          <p:cNvPr id="204" name="Shape 204"/>
          <p:cNvSpPr txBox="1"/>
          <p:nvPr/>
        </p:nvSpPr>
        <p:spPr>
          <a:xfrm>
            <a:off x="6821424" y="3072384"/>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Severity of 12 damages, Likert 1–5</a:t>
            </a:r>
            <a:endParaRPr lang="en-US" sz="850" dirty="0"/>
          </a:p>
        </p:txBody>
      </p:sp>
      <p:sp>
        <p:nvSpPr>
          <p:cNvPr id="205" name="Line 205"/>
          <p:cNvSpPr/>
          <p:nvPr/>
        </p:nvSpPr>
        <p:spPr>
          <a:xfrm>
            <a:off x="9148572" y="3255264"/>
            <a:ext cx="219456" cy="0"/>
          </a:xfrm>
          <a:prstGeom prst="line">
            <a:avLst/>
          </a:prstGeom>
          <a:noFill/>
          <a:ln w="19050">
            <a:solidFill>
              <a:schemeClr val="accent6"/>
            </a:solidFill>
          </a:ln>
        </p:spPr>
      </p:sp>
      <p:sp>
        <p:nvSpPr>
          <p:cNvPr id="206" name="Text 206"/>
          <p:cNvSpPr txBox="1"/>
          <p:nvPr/>
        </p:nvSpPr>
        <p:spPr>
          <a:xfrm>
            <a:off x="6236208" y="3017520"/>
            <a:ext cx="457200" cy="475488"/>
          </a:xfrm>
          <a:prstGeom prst="rect">
            <a:avLst/>
          </a:prstGeom>
          <a:noFill/>
          <a:ln>
            <a:no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207" name="Shape 207"/>
          <p:cNvSpPr txBox="1"/>
          <p:nvPr/>
        </p:nvSpPr>
        <p:spPr>
          <a:xfrm>
            <a:off x="10195560" y="3017520"/>
            <a:ext cx="1444752" cy="475488"/>
          </a:xfrm>
          <a:prstGeom prst="roundRect">
            <a:avLst>
              <a:gd name="adj" fmla="val 20000"/>
            </a:avLst>
          </a:prstGeom>
          <a:solidFill>
            <a:schemeClr val="accent3"/>
          </a:solidFill>
          <a:ln>
            <a:noFill/>
          </a:ln>
        </p:spPr>
        <p:txBody>
          <a:bodyPr wrap="square" lIns="128016" tIns="0" rIns="91440" bIns="0" rtlCol="0" anchor="ctr"/>
          <a:lstStyle/>
          <a:p>
            <a:pPr algn="l" indent="0" marL="0">
              <a:lnSpc>
                <a:spcPct val="90000"/>
              </a:lnSpc>
              <a:buNone/>
            </a:pPr>
            <a:r>
              <a:rPr lang="en-US" sz="950" b="1" dirty="0">
                <a:solidFill>
                  <a:schemeClr val="accent1"/>
                </a:solidFill>
              </a:rPr>
              <a:t>Damage classes in the app</a:t>
            </a:r>
            <a:endParaRPr lang="en-US" sz="950" dirty="0"/>
          </a:p>
        </p:txBody>
      </p:sp>
      <p:sp>
        <p:nvSpPr>
          <p:cNvPr id="208" name="Shape 208"/>
          <p:cNvSpPr/>
          <p:nvPr/>
        </p:nvSpPr>
        <p:spPr>
          <a:xfrm>
            <a:off x="548640" y="3557016"/>
            <a:ext cx="9555480" cy="475488"/>
          </a:xfrm>
          <a:prstGeom prst="roundRect">
            <a:avLst>
              <a:gd name="adj" fmla="val 20000"/>
            </a:avLst>
          </a:prstGeom>
          <a:solidFill>
            <a:schemeClr val="bg1"/>
          </a:solidFill>
          <a:ln>
            <a:noFill/>
          </a:ln>
          <a:effectLst>
            <a:outerShdw blurRad="152400" dist="38100" dir="5400000" sx="100000" sy="100000" kx="0" ky="0" algn="bl" rotWithShape="0">
              <a:srgbClr val="12141C">
                <a:alpha val="13000"/>
              </a:srgbClr>
            </a:outerShdw>
          </a:effectLst>
        </p:spPr>
      </p:sp>
      <p:sp>
        <p:nvSpPr>
          <p:cNvPr id="209" name="Circle 209"/>
          <p:cNvSpPr txBox="1"/>
          <p:nvPr/>
        </p:nvSpPr>
        <p:spPr>
          <a:xfrm>
            <a:off x="685800" y="3639312"/>
            <a:ext cx="310896" cy="310896"/>
          </a:xfrm>
          <a:prstGeom prst="ellipse">
            <a:avLst/>
          </a:prstGeom>
          <a:solidFill>
            <a:schemeClr val="accent1"/>
          </a:solidFill>
          <a:ln>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10" name="Text 210"/>
          <p:cNvSpPr txBox="1"/>
          <p:nvPr/>
        </p:nvSpPr>
        <p:spPr>
          <a:xfrm>
            <a:off x="1097280" y="3557016"/>
            <a:ext cx="1691640" cy="475488"/>
          </a:xfrm>
          <a:prstGeom prst="rect">
            <a:avLst/>
          </a:prstGeom>
          <a:noFill/>
          <a:ln>
            <a:noFill/>
          </a:ln>
        </p:spPr>
        <p:txBody>
          <a:bodyPr wrap="square" lIns="0" tIns="0" rIns="0" bIns="0" rtlCol="0" anchor="ctr"/>
          <a:lstStyle/>
          <a:p>
            <a:pPr algn="l" indent="0" marL="0">
              <a:buNone/>
            </a:pPr>
            <a:r>
              <a:rPr lang="en-US" sz="850" b="1" dirty="0">
                <a:solidFill>
                  <a:schemeClr val="accent1"/>
                </a:solidFill>
              </a:rPr>
              <a:t>OE2</a:t>
            </a:r>
            <a:endParaRPr lang="en-US" sz="850" dirty="0"/>
          </a:p>
          <a:p>
            <a:pPr algn="l" indent="0" marL="0">
              <a:buNone/>
            </a:pPr>
            <a:r>
              <a:rPr lang="en-US" sz="1050" b="1" dirty="0">
                <a:solidFill>
                  <a:schemeClr val="tx1"/>
                </a:solidFill>
              </a:rPr>
              <a:t>Cost foresight</a:t>
            </a:r>
            <a:endParaRPr lang="en-US" sz="1050" dirty="0"/>
          </a:p>
        </p:txBody>
      </p:sp>
      <p:sp>
        <p:nvSpPr>
          <p:cNvPr id="211" name="Line 211"/>
          <p:cNvSpPr/>
          <p:nvPr/>
        </p:nvSpPr>
        <p:spPr>
          <a:xfrm>
            <a:off x="3570732" y="3794760"/>
            <a:ext cx="219456" cy="0"/>
          </a:xfrm>
          <a:prstGeom prst="line">
            <a:avLst/>
          </a:prstGeom>
          <a:noFill/>
          <a:ln w="19050">
            <a:solidFill>
              <a:schemeClr val="accent6"/>
            </a:solidFill>
          </a:ln>
        </p:spPr>
      </p:sp>
      <p:sp>
        <p:nvSpPr>
          <p:cNvPr id="212" name="Line 212"/>
          <p:cNvSpPr/>
          <p:nvPr/>
        </p:nvSpPr>
        <p:spPr>
          <a:xfrm>
            <a:off x="5262372" y="3794760"/>
            <a:ext cx="219456" cy="0"/>
          </a:xfrm>
          <a:prstGeom prst="line">
            <a:avLst/>
          </a:prstGeom>
          <a:noFill/>
          <a:ln w="19050">
            <a:solidFill>
              <a:schemeClr val="accent6"/>
            </a:solidFill>
          </a:ln>
        </p:spPr>
      </p:sp>
      <p:sp>
        <p:nvSpPr>
          <p:cNvPr id="213" name="Shape 213"/>
          <p:cNvSpPr txBox="1"/>
          <p:nvPr/>
        </p:nvSpPr>
        <p:spPr>
          <a:xfrm>
            <a:off x="6821424" y="3611880"/>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Choice experiment: blind vs. costed</a:t>
            </a:r>
            <a:endParaRPr lang="en-US" sz="850" dirty="0"/>
          </a:p>
        </p:txBody>
      </p:sp>
      <p:sp>
        <p:nvSpPr>
          <p:cNvPr id="214" name="Line 214"/>
          <p:cNvSpPr/>
          <p:nvPr/>
        </p:nvSpPr>
        <p:spPr>
          <a:xfrm>
            <a:off x="9148572" y="3794760"/>
            <a:ext cx="219456" cy="0"/>
          </a:xfrm>
          <a:prstGeom prst="line">
            <a:avLst/>
          </a:prstGeom>
          <a:noFill/>
          <a:ln w="19050">
            <a:solidFill>
              <a:schemeClr val="accent6"/>
            </a:solidFill>
          </a:ln>
        </p:spPr>
      </p:sp>
      <p:sp>
        <p:nvSpPr>
          <p:cNvPr id="215" name="Shape 215"/>
          <p:cNvSpPr txBox="1"/>
          <p:nvPr/>
        </p:nvSpPr>
        <p:spPr>
          <a:xfrm>
            <a:off x="10195560" y="3557016"/>
            <a:ext cx="1444752" cy="475488"/>
          </a:xfrm>
          <a:prstGeom prst="roundRect">
            <a:avLst>
              <a:gd name="adj" fmla="val 20000"/>
            </a:avLst>
          </a:prstGeom>
          <a:solidFill>
            <a:schemeClr val="accent3"/>
          </a:solidFill>
          <a:ln>
            <a:noFill/>
          </a:ln>
        </p:spPr>
        <p:txBody>
          <a:bodyPr wrap="square" lIns="128016" tIns="0" rIns="91440" bIns="0" rtlCol="0" anchor="ctr"/>
          <a:lstStyle/>
          <a:p>
            <a:pPr algn="l" indent="0" marL="0">
              <a:lnSpc>
                <a:spcPct val="90000"/>
              </a:lnSpc>
              <a:buNone/>
            </a:pPr>
            <a:r>
              <a:rPr lang="en-US" sz="950" b="1" dirty="0">
                <a:solidFill>
                  <a:schemeClr val="accent1"/>
                </a:solidFill>
              </a:rPr>
              <a:t>Offer rule and margin</a:t>
            </a:r>
            <a:endParaRPr lang="en-US" sz="950" dirty="0"/>
          </a:p>
        </p:txBody>
      </p:sp>
      <p:sp>
        <p:nvSpPr>
          <p:cNvPr id="216" name="Shape 216"/>
          <p:cNvSpPr/>
          <p:nvPr/>
        </p:nvSpPr>
        <p:spPr>
          <a:xfrm>
            <a:off x="548640" y="4096512"/>
            <a:ext cx="9555480" cy="475488"/>
          </a:xfrm>
          <a:prstGeom prst="roundRect">
            <a:avLst>
              <a:gd name="adj" fmla="val 20000"/>
            </a:avLst>
          </a:prstGeom>
          <a:solidFill>
            <a:schemeClr val="bg1"/>
          </a:solidFill>
          <a:ln>
            <a:noFill/>
          </a:ln>
          <a:effectLst>
            <a:outerShdw blurRad="152400" dist="38100" dir="5400000" sx="100000" sy="100000" kx="0" ky="0" algn="bl" rotWithShape="0">
              <a:srgbClr val="12141C">
                <a:alpha val="13000"/>
              </a:srgbClr>
            </a:outerShdw>
          </a:effectLst>
        </p:spPr>
      </p:sp>
      <p:sp>
        <p:nvSpPr>
          <p:cNvPr id="217" name="Circle 217"/>
          <p:cNvSpPr txBox="1"/>
          <p:nvPr/>
        </p:nvSpPr>
        <p:spPr>
          <a:xfrm>
            <a:off x="685800" y="4178808"/>
            <a:ext cx="310896" cy="310896"/>
          </a:xfrm>
          <a:prstGeom prst="ellipse">
            <a:avLst/>
          </a:prstGeom>
          <a:solidFill>
            <a:schemeClr val="accent1"/>
          </a:solidFill>
          <a:ln>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18" name="Text 218"/>
          <p:cNvSpPr txBox="1"/>
          <p:nvPr/>
        </p:nvSpPr>
        <p:spPr>
          <a:xfrm>
            <a:off x="1097280" y="4096512"/>
            <a:ext cx="1691640" cy="475488"/>
          </a:xfrm>
          <a:prstGeom prst="rect">
            <a:avLst/>
          </a:prstGeom>
          <a:noFill/>
          <a:ln>
            <a:noFill/>
          </a:ln>
        </p:spPr>
        <p:txBody>
          <a:bodyPr wrap="square" lIns="0" tIns="0" rIns="0" bIns="0" rtlCol="0" anchor="ctr"/>
          <a:lstStyle/>
          <a:p>
            <a:pPr algn="l" indent="0" marL="0">
              <a:buNone/>
            </a:pPr>
            <a:r>
              <a:rPr lang="en-US" sz="850" b="1" dirty="0">
                <a:solidFill>
                  <a:schemeClr val="accent1"/>
                </a:solidFill>
              </a:rPr>
              <a:t>OE3</a:t>
            </a:r>
            <a:endParaRPr lang="en-US" sz="850" dirty="0"/>
          </a:p>
          <a:p>
            <a:pPr algn="l" indent="0" marL="0">
              <a:buNone/>
            </a:pPr>
            <a:r>
              <a:rPr lang="en-US" sz="1050" b="1" dirty="0">
                <a:solidFill>
                  <a:schemeClr val="tx1"/>
                </a:solidFill>
              </a:rPr>
              <a:t>Adoption barriers</a:t>
            </a:r>
            <a:endParaRPr lang="en-US" sz="1050" dirty="0"/>
          </a:p>
        </p:txBody>
      </p:sp>
      <p:sp>
        <p:nvSpPr>
          <p:cNvPr id="219" name="Shape 219"/>
          <p:cNvSpPr txBox="1"/>
          <p:nvPr/>
        </p:nvSpPr>
        <p:spPr>
          <a:xfrm>
            <a:off x="2935224" y="4151376"/>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algn="ctr" indent="0" marL="0">
              <a:lnSpc>
                <a:spcPct val="88000"/>
              </a:lnSpc>
              <a:buNone/>
            </a:pPr>
            <a:r>
              <a:rPr lang="en-US" sz="850" b="1" dirty="0">
                <a:solidFill>
                  <a:schemeClr val="accent1"/>
                </a:solidFill>
              </a:rPr>
              <a:t>Objections to AI</a:t>
            </a:r>
            <a:endParaRPr lang="en-US" sz="850" dirty="0"/>
          </a:p>
        </p:txBody>
      </p:sp>
      <p:sp>
        <p:nvSpPr>
          <p:cNvPr id="220" name="Shape 220"/>
          <p:cNvSpPr txBox="1"/>
          <p:nvPr/>
        </p:nvSpPr>
        <p:spPr>
          <a:xfrm>
            <a:off x="4626864" y="4151376"/>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algn="ctr" indent="0" marL="0">
              <a:lnSpc>
                <a:spcPct val="88000"/>
              </a:lnSpc>
              <a:buNone/>
            </a:pPr>
            <a:r>
              <a:rPr lang="en-US" sz="850" b="1" dirty="0">
                <a:solidFill>
                  <a:schemeClr val="accent1"/>
                </a:solidFill>
              </a:rPr>
              <a:t>Fear of fraud</a:t>
            </a:r>
            <a:endParaRPr lang="en-US" sz="850" dirty="0"/>
          </a:p>
        </p:txBody>
      </p:sp>
      <p:sp>
        <p:nvSpPr>
          <p:cNvPr id="221" name="Shape 221"/>
          <p:cNvSpPr txBox="1"/>
          <p:nvPr/>
        </p:nvSpPr>
        <p:spPr>
          <a:xfrm>
            <a:off x="6821424" y="4151376"/>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Criticality, Likert 1–5</a:t>
            </a:r>
            <a:endParaRPr lang="en-US" sz="850" dirty="0"/>
          </a:p>
        </p:txBody>
      </p:sp>
      <p:sp>
        <p:nvSpPr>
          <p:cNvPr id="222" name="Shape 222"/>
          <p:cNvSpPr txBox="1"/>
          <p:nvPr/>
        </p:nvSpPr>
        <p:spPr>
          <a:xfrm>
            <a:off x="8513064" y="4151376"/>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How common each fear is</a:t>
            </a:r>
            <a:endParaRPr lang="en-US" sz="850" dirty="0"/>
          </a:p>
        </p:txBody>
      </p:sp>
      <p:sp>
        <p:nvSpPr>
          <p:cNvPr id="223" name="Text 223"/>
          <p:cNvSpPr txBox="1"/>
          <p:nvPr/>
        </p:nvSpPr>
        <p:spPr>
          <a:xfrm>
            <a:off x="6236208" y="4096512"/>
            <a:ext cx="457200" cy="475488"/>
          </a:xfrm>
          <a:prstGeom prst="rect">
            <a:avLst/>
          </a:prstGeom>
          <a:noFill/>
          <a:ln>
            <a:no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224" name="Shape 224"/>
          <p:cNvSpPr txBox="1"/>
          <p:nvPr/>
        </p:nvSpPr>
        <p:spPr>
          <a:xfrm>
            <a:off x="10195560" y="4096512"/>
            <a:ext cx="1444752" cy="475488"/>
          </a:xfrm>
          <a:prstGeom prst="roundRect">
            <a:avLst>
              <a:gd name="adj" fmla="val 20000"/>
            </a:avLst>
          </a:prstGeom>
          <a:solidFill>
            <a:schemeClr val="accent3"/>
          </a:solidFill>
          <a:ln>
            <a:noFill/>
          </a:ln>
        </p:spPr>
        <p:txBody>
          <a:bodyPr wrap="square" lIns="128016" tIns="0" rIns="91440" bIns="0" rtlCol="0" anchor="ctr"/>
          <a:lstStyle/>
          <a:p>
            <a:pPr algn="l" indent="0" marL="0">
              <a:lnSpc>
                <a:spcPct val="90000"/>
              </a:lnSpc>
              <a:buNone/>
            </a:pPr>
            <a:r>
              <a:rPr lang="en-US" sz="950" b="1" dirty="0">
                <a:solidFill>
                  <a:schemeClr val="accent1"/>
                </a:solidFill>
              </a:rPr>
              <a:t>How the report explains itself</a:t>
            </a:r>
            <a:endParaRPr lang="en-US" sz="950" dirty="0"/>
          </a:p>
        </p:txBody>
      </p:sp>
      <p:sp>
        <p:nvSpPr>
          <p:cNvPr id="225" name="Shape 225"/>
          <p:cNvSpPr/>
          <p:nvPr/>
        </p:nvSpPr>
        <p:spPr>
          <a:xfrm>
            <a:off x="548640" y="4636008"/>
            <a:ext cx="9555480" cy="475488"/>
          </a:xfrm>
          <a:prstGeom prst="roundRect">
            <a:avLst>
              <a:gd name="adj" fmla="val 20000"/>
            </a:avLst>
          </a:prstGeom>
          <a:solidFill>
            <a:schemeClr val="bg1"/>
          </a:solidFill>
          <a:ln>
            <a:noFill/>
          </a:ln>
          <a:effectLst>
            <a:outerShdw blurRad="152400" dist="38100" dir="5400000" sx="100000" sy="100000" kx="0" ky="0" algn="bl" rotWithShape="0">
              <a:srgbClr val="12141C">
                <a:alpha val="13000"/>
              </a:srgbClr>
            </a:outerShdw>
          </a:effectLst>
        </p:spPr>
      </p:sp>
      <p:sp>
        <p:nvSpPr>
          <p:cNvPr id="226" name="Circle 226"/>
          <p:cNvSpPr txBox="1"/>
          <p:nvPr/>
        </p:nvSpPr>
        <p:spPr>
          <a:xfrm>
            <a:off x="685800" y="4718304"/>
            <a:ext cx="310896" cy="310896"/>
          </a:xfrm>
          <a:prstGeom prst="ellipse">
            <a:avLst/>
          </a:prstGeom>
          <a:solidFill>
            <a:schemeClr val="accent1"/>
          </a:solidFill>
          <a:ln>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7" name="Text 227"/>
          <p:cNvSpPr txBox="1"/>
          <p:nvPr/>
        </p:nvSpPr>
        <p:spPr>
          <a:xfrm>
            <a:off x="1097280" y="4636008"/>
            <a:ext cx="1691640" cy="475488"/>
          </a:xfrm>
          <a:prstGeom prst="rect">
            <a:avLst/>
          </a:prstGeom>
          <a:noFill/>
          <a:ln>
            <a:noFill/>
          </a:ln>
        </p:spPr>
        <p:txBody>
          <a:bodyPr wrap="square" lIns="0" tIns="0" rIns="0" bIns="0" rtlCol="0" anchor="ctr"/>
          <a:lstStyle/>
          <a:p>
            <a:pPr algn="l" indent="0" marL="0">
              <a:buNone/>
            </a:pPr>
            <a:r>
              <a:rPr lang="en-US" sz="850" b="1" dirty="0">
                <a:solidFill>
                  <a:schemeClr val="accent1"/>
                </a:solidFill>
              </a:rPr>
              <a:t>OE4</a:t>
            </a:r>
            <a:endParaRPr lang="en-US" sz="850" dirty="0"/>
          </a:p>
          <a:p>
            <a:pPr algn="l" indent="0" marL="0">
              <a:buNone/>
            </a:pPr>
            <a:r>
              <a:rPr lang="en-US" sz="1050" b="1" dirty="0">
                <a:solidFill>
                  <a:schemeClr val="tx1"/>
                </a:solidFill>
              </a:rPr>
              <a:t>Workshop experience</a:t>
            </a:r>
            <a:endParaRPr lang="en-US" sz="1050" dirty="0"/>
          </a:p>
        </p:txBody>
      </p:sp>
      <p:sp>
        <p:nvSpPr>
          <p:cNvPr id="228" name="Shape 228"/>
          <p:cNvSpPr txBox="1"/>
          <p:nvPr/>
        </p:nvSpPr>
        <p:spPr>
          <a:xfrm>
            <a:off x="2935224" y="4690872"/>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algn="ctr" indent="0" marL="0">
              <a:lnSpc>
                <a:spcPct val="88000"/>
              </a:lnSpc>
              <a:buNone/>
            </a:pPr>
            <a:r>
              <a:rPr lang="en-US" sz="850" b="1" dirty="0">
                <a:solidFill>
                  <a:schemeClr val="accent1"/>
                </a:solidFill>
              </a:rPr>
              <a:t>Where time is lost</a:t>
            </a:r>
            <a:endParaRPr lang="en-US" sz="850" dirty="0"/>
          </a:p>
        </p:txBody>
      </p:sp>
      <p:sp>
        <p:nvSpPr>
          <p:cNvPr id="229" name="Line 229"/>
          <p:cNvSpPr/>
          <p:nvPr/>
        </p:nvSpPr>
        <p:spPr>
          <a:xfrm>
            <a:off x="5262372" y="4873752"/>
            <a:ext cx="219456" cy="0"/>
          </a:xfrm>
          <a:prstGeom prst="line">
            <a:avLst/>
          </a:prstGeom>
          <a:noFill/>
          <a:ln w="19050">
            <a:solidFill>
              <a:schemeClr val="accent6"/>
            </a:solidFill>
          </a:ln>
        </p:spPr>
      </p:sp>
      <p:sp>
        <p:nvSpPr>
          <p:cNvPr id="230" name="Shape 230"/>
          <p:cNvSpPr txBox="1"/>
          <p:nvPr/>
        </p:nvSpPr>
        <p:spPr>
          <a:xfrm>
            <a:off x="6821424" y="4690872"/>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Days stopped, hours to quote</a:t>
            </a:r>
            <a:endParaRPr lang="en-US" sz="850" dirty="0"/>
          </a:p>
        </p:txBody>
      </p:sp>
      <p:sp>
        <p:nvSpPr>
          <p:cNvPr id="231" name="Line 231"/>
          <p:cNvSpPr/>
          <p:nvPr/>
        </p:nvSpPr>
        <p:spPr>
          <a:xfrm>
            <a:off x="9148572" y="4873752"/>
            <a:ext cx="219456" cy="0"/>
          </a:xfrm>
          <a:prstGeom prst="line">
            <a:avLst/>
          </a:prstGeom>
          <a:noFill/>
          <a:ln w="19050">
            <a:solidFill>
              <a:schemeClr val="accent6"/>
            </a:solidFill>
          </a:ln>
        </p:spPr>
      </p:sp>
      <p:sp>
        <p:nvSpPr>
          <p:cNvPr id="232" name="Text 232"/>
          <p:cNvSpPr txBox="1"/>
          <p:nvPr/>
        </p:nvSpPr>
        <p:spPr>
          <a:xfrm>
            <a:off x="6236208" y="4636008"/>
            <a:ext cx="457200" cy="475488"/>
          </a:xfrm>
          <a:prstGeom prst="rect">
            <a:avLst/>
          </a:prstGeom>
          <a:noFill/>
          <a:ln>
            <a:no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233" name="Shape 233"/>
          <p:cNvSpPr txBox="1"/>
          <p:nvPr/>
        </p:nvSpPr>
        <p:spPr>
          <a:xfrm>
            <a:off x="10195560" y="4636008"/>
            <a:ext cx="1444752" cy="475488"/>
          </a:xfrm>
          <a:prstGeom prst="roundRect">
            <a:avLst>
              <a:gd name="adj" fmla="val 20000"/>
            </a:avLst>
          </a:prstGeom>
          <a:solidFill>
            <a:schemeClr val="accent3"/>
          </a:solidFill>
          <a:ln>
            <a:noFill/>
          </a:ln>
        </p:spPr>
        <p:txBody>
          <a:bodyPr wrap="square" lIns="128016" tIns="0" rIns="91440" bIns="0" rtlCol="0" anchor="ctr"/>
          <a:lstStyle/>
          <a:p>
            <a:pPr algn="l" indent="0" marL="0">
              <a:lnSpc>
                <a:spcPct val="90000"/>
              </a:lnSpc>
              <a:buNone/>
            </a:pPr>
            <a:r>
              <a:rPr lang="en-US" sz="950" b="1" dirty="0">
                <a:solidFill>
                  <a:schemeClr val="accent1"/>
                </a:solidFill>
              </a:rPr>
              <a:t>App flow and timing</a:t>
            </a:r>
            <a:endParaRPr lang="en-US" sz="950" dirty="0"/>
          </a:p>
        </p:txBody>
      </p:sp>
      <p:sp>
        <p:nvSpPr>
          <p:cNvPr id="234" name="Shape 234"/>
          <p:cNvSpPr/>
          <p:nvPr/>
        </p:nvSpPr>
        <p:spPr>
          <a:xfrm>
            <a:off x="548640" y="5175504"/>
            <a:ext cx="9555480" cy="475488"/>
          </a:xfrm>
          <a:prstGeom prst="roundRect">
            <a:avLst>
              <a:gd name="adj" fmla="val 20000"/>
            </a:avLst>
          </a:prstGeom>
          <a:solidFill>
            <a:schemeClr val="bg1"/>
          </a:solidFill>
          <a:ln>
            <a:noFill/>
          </a:ln>
          <a:effectLst>
            <a:outerShdw blurRad="152400" dist="38100" dir="5400000" sx="100000" sy="100000" kx="0" ky="0" algn="bl" rotWithShape="0">
              <a:srgbClr val="12141C">
                <a:alpha val="13000"/>
              </a:srgbClr>
            </a:outerShdw>
          </a:effectLst>
        </p:spPr>
      </p:sp>
      <p:sp>
        <p:nvSpPr>
          <p:cNvPr id="235" name="Circle 235"/>
          <p:cNvSpPr txBox="1"/>
          <p:nvPr/>
        </p:nvSpPr>
        <p:spPr>
          <a:xfrm>
            <a:off x="685800" y="5257800"/>
            <a:ext cx="310896" cy="310896"/>
          </a:xfrm>
          <a:prstGeom prst="ellipse">
            <a:avLst/>
          </a:prstGeom>
          <a:solidFill>
            <a:schemeClr val="accent1"/>
          </a:solidFill>
          <a:ln>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36" name="Text 236"/>
          <p:cNvSpPr txBox="1"/>
          <p:nvPr/>
        </p:nvSpPr>
        <p:spPr>
          <a:xfrm>
            <a:off x="1097280" y="5175504"/>
            <a:ext cx="1691640" cy="475488"/>
          </a:xfrm>
          <a:prstGeom prst="rect">
            <a:avLst/>
          </a:prstGeom>
          <a:noFill/>
          <a:ln>
            <a:noFill/>
          </a:ln>
        </p:spPr>
        <p:txBody>
          <a:bodyPr wrap="square" lIns="0" tIns="0" rIns="0" bIns="0" rtlCol="0" anchor="ctr"/>
          <a:lstStyle/>
          <a:p>
            <a:pPr algn="l" indent="0" marL="0">
              <a:buNone/>
            </a:pPr>
            <a:r>
              <a:rPr lang="en-US" sz="850" b="1" dirty="0">
                <a:solidFill>
                  <a:schemeClr val="accent1"/>
                </a:solidFill>
              </a:rPr>
              <a:t>OE5</a:t>
            </a:r>
            <a:endParaRPr lang="en-US" sz="850" dirty="0"/>
          </a:p>
          <a:p>
            <a:pPr algn="l" indent="0" marL="0">
              <a:buNone/>
            </a:pPr>
            <a:r>
              <a:rPr lang="en-US" sz="1050" b="1" dirty="0">
                <a:solidFill>
                  <a:schemeClr val="tx1"/>
                </a:solidFill>
              </a:rPr>
              <a:t>Appeal and adoption</a:t>
            </a:r>
            <a:endParaRPr lang="en-US" sz="1050" dirty="0"/>
          </a:p>
        </p:txBody>
      </p:sp>
      <p:sp>
        <p:nvSpPr>
          <p:cNvPr id="237" name="Line 237"/>
          <p:cNvSpPr/>
          <p:nvPr/>
        </p:nvSpPr>
        <p:spPr>
          <a:xfrm>
            <a:off x="3570732" y="5413248"/>
            <a:ext cx="219456" cy="0"/>
          </a:xfrm>
          <a:prstGeom prst="line">
            <a:avLst/>
          </a:prstGeom>
          <a:noFill/>
          <a:ln w="19050">
            <a:solidFill>
              <a:schemeClr val="accent6"/>
            </a:solidFill>
          </a:ln>
        </p:spPr>
      </p:sp>
      <p:sp>
        <p:nvSpPr>
          <p:cNvPr id="238" name="Shape 238"/>
          <p:cNvSpPr txBox="1"/>
          <p:nvPr/>
        </p:nvSpPr>
        <p:spPr>
          <a:xfrm>
            <a:off x="4626864" y="5230368"/>
            <a:ext cx="1490472" cy="365760"/>
          </a:xfrm>
          <a:prstGeom prst="roundRect">
            <a:avLst>
              <a:gd name="adj" fmla="val 50000"/>
            </a:avLst>
          </a:prstGeom>
          <a:solidFill>
            <a:schemeClr val="bg1"/>
          </a:solidFill>
          <a:ln w="12700">
            <a:solidFill>
              <a:schemeClr val="accent1"/>
            </a:solidFill>
          </a:ln>
        </p:spPr>
        <p:txBody>
          <a:bodyPr wrap="square" lIns="73152" tIns="0" rIns="73152" bIns="0" rtlCol="0" anchor="ctr"/>
          <a:lstStyle/>
          <a:p>
            <a:pPr algn="ctr" indent="0" marL="0">
              <a:lnSpc>
                <a:spcPct val="88000"/>
              </a:lnSpc>
              <a:buNone/>
            </a:pPr>
            <a:r>
              <a:rPr lang="en-US" sz="850" b="1" dirty="0">
                <a:solidFill>
                  <a:schemeClr val="accent1"/>
                </a:solidFill>
              </a:rPr>
              <a:t>First reaction to the report</a:t>
            </a:r>
            <a:endParaRPr lang="en-US" sz="850" dirty="0"/>
          </a:p>
        </p:txBody>
      </p:sp>
      <p:sp>
        <p:nvSpPr>
          <p:cNvPr id="239" name="Shape 239"/>
          <p:cNvSpPr txBox="1"/>
          <p:nvPr/>
        </p:nvSpPr>
        <p:spPr>
          <a:xfrm>
            <a:off x="6821424" y="5230368"/>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Concept test, Top-2 Box</a:t>
            </a:r>
            <a:endParaRPr lang="en-US" sz="850" dirty="0"/>
          </a:p>
        </p:txBody>
      </p:sp>
      <p:sp>
        <p:nvSpPr>
          <p:cNvPr id="240" name="Shape 240"/>
          <p:cNvSpPr txBox="1"/>
          <p:nvPr/>
        </p:nvSpPr>
        <p:spPr>
          <a:xfrm>
            <a:off x="8513064" y="5230368"/>
            <a:ext cx="1490472" cy="365760"/>
          </a:xfrm>
          <a:prstGeom prst="roundRect">
            <a:avLst>
              <a:gd name="adj" fmla="val 50000"/>
            </a:avLst>
          </a:prstGeom>
          <a:solidFill>
            <a:schemeClr val="accent1"/>
          </a:solidFill>
          <a:ln>
            <a:noFill/>
          </a:ln>
        </p:spPr>
        <p:txBody>
          <a:bodyPr wrap="square" lIns="73152" tIns="0" rIns="73152" bIns="0" rtlCol="0" anchor="ctr"/>
          <a:lstStyle/>
          <a:p>
            <a:pPr algn="ctr" indent="0" marL="0">
              <a:lnSpc>
                <a:spcPct val="88000"/>
              </a:lnSpc>
              <a:buNone/>
            </a:pPr>
            <a:r>
              <a:rPr lang="en-US" sz="850" b="1" dirty="0">
                <a:solidFill>
                  <a:schemeClr val="bg1"/>
                </a:solidFill>
              </a:rPr>
              <a:t>Intent + Van Westendorp</a:t>
            </a:r>
            <a:endParaRPr lang="en-US" sz="850" dirty="0"/>
          </a:p>
        </p:txBody>
      </p:sp>
      <p:sp>
        <p:nvSpPr>
          <p:cNvPr id="241" name="Text 241"/>
          <p:cNvSpPr txBox="1"/>
          <p:nvPr/>
        </p:nvSpPr>
        <p:spPr>
          <a:xfrm>
            <a:off x="6236208" y="5175504"/>
            <a:ext cx="457200" cy="475488"/>
          </a:xfrm>
          <a:prstGeom prst="rect">
            <a:avLst/>
          </a:prstGeom>
          <a:noFill/>
          <a:ln>
            <a:noFill/>
          </a:ln>
        </p:spPr>
        <p:txBody>
          <a:bodyPr wrap="square" lIns="0" tIns="0" rIns="0" bIns="0" rtlCol="0" anchor="ctr"/>
          <a:lstStyle/>
          <a:p>
            <a:pPr algn="ctr" indent="0" marL="0">
              <a:buNone/>
            </a:pPr>
            <a:r>
              <a:rPr lang="en-US" sz="1400" b="1" dirty="0">
                <a:solidFill>
                  <a:schemeClr val="accent4"/>
                </a:solidFill>
              </a:rPr>
              <a:t>→</a:t>
            </a:r>
            <a:endParaRPr lang="en-US" sz="1400" dirty="0"/>
          </a:p>
        </p:txBody>
      </p:sp>
      <p:sp>
        <p:nvSpPr>
          <p:cNvPr id="242" name="Shape 242"/>
          <p:cNvSpPr txBox="1"/>
          <p:nvPr/>
        </p:nvSpPr>
        <p:spPr>
          <a:xfrm>
            <a:off x="10195560" y="5175504"/>
            <a:ext cx="1444752" cy="475488"/>
          </a:xfrm>
          <a:prstGeom prst="roundRect">
            <a:avLst>
              <a:gd name="adj" fmla="val 20000"/>
            </a:avLst>
          </a:prstGeom>
          <a:solidFill>
            <a:schemeClr val="accent3"/>
          </a:solidFill>
          <a:ln>
            <a:noFill/>
          </a:ln>
        </p:spPr>
        <p:txBody>
          <a:bodyPr wrap="square" lIns="128016" tIns="0" rIns="91440" bIns="0" rtlCol="0" anchor="ctr"/>
          <a:lstStyle/>
          <a:p>
            <a:pPr algn="l" indent="0" marL="0">
              <a:lnSpc>
                <a:spcPct val="90000"/>
              </a:lnSpc>
              <a:buNone/>
            </a:pPr>
            <a:r>
              <a:rPr lang="en-US" sz="950" b="1" dirty="0">
                <a:solidFill>
                  <a:schemeClr val="accent1"/>
                </a:solidFill>
              </a:rPr>
              <a:t>B2B and B2C prices</a:t>
            </a:r>
            <a:endParaRPr lang="en-US" sz="950" dirty="0"/>
          </a:p>
        </p:txBody>
      </p:sp>
      <p:sp>
        <p:nvSpPr>
          <p:cNvPr id="243" name="sparkle 243"/>
          <p:cNvSpPr/>
          <p:nvPr/>
        </p:nvSpPr>
        <p:spPr>
          <a:xfrm>
            <a:off x="11430000" y="1920240"/>
            <a:ext cx="384048" cy="384048"/>
          </a:xfrm>
          <a:prstGeom prst="star4">
            <a:avLst/>
          </a:prstGeom>
          <a:solidFill>
            <a:schemeClr val="accent2"/>
          </a:solidFill>
          <a:ln>
            <a:noFill/>
          </a:ln>
        </p:spPr>
      </p:sp>
      <p:sp>
        <p:nvSpPr>
          <p:cNvPr id="244" name="Text 244"/>
          <p:cNvSpPr txBox="1"/>
          <p:nvPr/>
        </p:nvSpPr>
        <p:spPr>
          <a:xfrm>
            <a:off x="548640" y="5769864"/>
            <a:ext cx="1188720" cy="274320"/>
          </a:xfrm>
          <a:prstGeom prst="rect">
            <a:avLst/>
          </a:prstGeom>
          <a:noFill/>
          <a:ln>
            <a:noFill/>
          </a:ln>
        </p:spPr>
        <p:txBody>
          <a:bodyPr wrap="square" lIns="0" tIns="0" rIns="0" bIns="0" rtlCol="0" anchor="ctr"/>
          <a:lstStyle/>
          <a:p>
            <a:pPr algn="l" indent="0" marL="0">
              <a:buNone/>
            </a:pPr>
            <a:r>
              <a:rPr lang="en-US" sz="950" b="1" dirty="0">
                <a:solidFill>
                  <a:schemeClr val="tx1"/>
                </a:solidFill>
              </a:rPr>
              <a:t>How to read it</a:t>
            </a:r>
            <a:endParaRPr lang="en-US" sz="950" dirty="0"/>
          </a:p>
        </p:txBody>
      </p:sp>
      <p:sp>
        <p:nvSpPr>
          <p:cNvPr id="245" name="Shape 245"/>
          <p:cNvSpPr/>
          <p:nvPr/>
        </p:nvSpPr>
        <p:spPr>
          <a:xfrm>
            <a:off x="1783080" y="5806440"/>
            <a:ext cx="457200" cy="201168"/>
          </a:xfrm>
          <a:prstGeom prst="roundRect">
            <a:avLst>
              <a:gd name="adj" fmla="val 50000"/>
            </a:avLst>
          </a:prstGeom>
          <a:solidFill>
            <a:schemeClr val="bg1"/>
          </a:solidFill>
          <a:ln w="12700">
            <a:solidFill>
              <a:schemeClr val="accent1"/>
            </a:solidFill>
          </a:ln>
        </p:spPr>
      </p:sp>
      <p:sp>
        <p:nvSpPr>
          <p:cNvPr id="246" name="Text 246"/>
          <p:cNvSpPr txBox="1"/>
          <p:nvPr/>
        </p:nvSpPr>
        <p:spPr>
          <a:xfrm>
            <a:off x="2313432" y="5769864"/>
            <a:ext cx="2194560" cy="274320"/>
          </a:xfrm>
          <a:prstGeom prst="rect">
            <a:avLst/>
          </a:prstGeom>
          <a:noFill/>
          <a:ln>
            <a:noFill/>
          </a:ln>
        </p:spPr>
        <p:txBody>
          <a:bodyPr wrap="square" lIns="0" tIns="0" rIns="0" bIns="0" rtlCol="0" anchor="ctr"/>
          <a:lstStyle/>
          <a:p>
            <a:pPr algn="l" indent="0" marL="0">
              <a:buNone/>
            </a:pPr>
            <a:r>
              <a:rPr lang="en-US" sz="900" dirty="0">
                <a:solidFill>
                  <a:schemeClr val="tx2"/>
                </a:solidFill>
              </a:rPr>
              <a:t>stage 1 explores: words and reasons</a:t>
            </a:r>
            <a:endParaRPr lang="en-US" sz="900" dirty="0"/>
          </a:p>
        </p:txBody>
      </p:sp>
      <p:sp>
        <p:nvSpPr>
          <p:cNvPr id="247" name="Shape 247"/>
          <p:cNvSpPr/>
          <p:nvPr/>
        </p:nvSpPr>
        <p:spPr>
          <a:xfrm>
            <a:off x="4572000" y="5806440"/>
            <a:ext cx="457200" cy="201168"/>
          </a:xfrm>
          <a:prstGeom prst="roundRect">
            <a:avLst>
              <a:gd name="adj" fmla="val 50000"/>
            </a:avLst>
          </a:prstGeom>
          <a:solidFill>
            <a:schemeClr val="accent1"/>
          </a:solidFill>
          <a:ln>
            <a:noFill/>
          </a:ln>
        </p:spPr>
      </p:sp>
      <p:sp>
        <p:nvSpPr>
          <p:cNvPr id="248" name="Text 248"/>
          <p:cNvSpPr txBox="1"/>
          <p:nvPr/>
        </p:nvSpPr>
        <p:spPr>
          <a:xfrm>
            <a:off x="5102352" y="5769864"/>
            <a:ext cx="2377440" cy="274320"/>
          </a:xfrm>
          <a:prstGeom prst="rect">
            <a:avLst/>
          </a:prstGeom>
          <a:noFill/>
          <a:ln>
            <a:noFill/>
          </a:ln>
        </p:spPr>
        <p:txBody>
          <a:bodyPr wrap="square" lIns="0" tIns="0" rIns="0" bIns="0" rtlCol="0" anchor="ctr"/>
          <a:lstStyle/>
          <a:p>
            <a:pPr algn="l" indent="0" marL="0">
              <a:buNone/>
            </a:pPr>
            <a:r>
              <a:rPr lang="en-US" sz="900" dirty="0">
                <a:solidFill>
                  <a:schemeClr val="tx2"/>
                </a:solidFill>
              </a:rPr>
              <a:t>stage 2 measures: how many, how much</a:t>
            </a:r>
            <a:endParaRPr lang="en-US" sz="900" dirty="0"/>
          </a:p>
        </p:txBody>
      </p:sp>
      <p:sp>
        <p:nvSpPr>
          <p:cNvPr id="249" name="Line 249"/>
          <p:cNvSpPr/>
          <p:nvPr/>
        </p:nvSpPr>
        <p:spPr>
          <a:xfrm>
            <a:off x="7662672" y="5907024"/>
            <a:ext cx="219456" cy="0"/>
          </a:xfrm>
          <a:prstGeom prst="line">
            <a:avLst/>
          </a:prstGeom>
          <a:noFill/>
          <a:ln w="19050">
            <a:solidFill>
              <a:schemeClr val="accent6"/>
            </a:solidFill>
          </a:ln>
        </p:spPr>
      </p:sp>
      <p:sp>
        <p:nvSpPr>
          <p:cNvPr id="250" name="Text 250"/>
          <p:cNvSpPr txBox="1"/>
          <p:nvPr/>
        </p:nvSpPr>
        <p:spPr>
          <a:xfrm>
            <a:off x="8074152" y="5769864"/>
            <a:ext cx="2377440" cy="274320"/>
          </a:xfrm>
          <a:prstGeom prst="rect">
            <a:avLst/>
          </a:prstGeom>
          <a:noFill/>
          <a:ln>
            <a:noFill/>
          </a:ln>
        </p:spPr>
        <p:txBody>
          <a:bodyPr wrap="square" lIns="0" tIns="0" rIns="0" bIns="0" rtlCol="0" anchor="ctr"/>
          <a:lstStyle/>
          <a:p>
            <a:pPr algn="l" indent="0" marL="0">
              <a:buNone/>
            </a:pPr>
            <a:r>
              <a:rPr lang="en-US" sz="900" dirty="0">
                <a:solidFill>
                  <a:schemeClr val="tx2"/>
                </a:solidFill>
              </a:rPr>
              <a:t>technique not used for this objective</a:t>
            </a:r>
            <a:endParaRPr lang="en-US" sz="90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seba-Documents-Visual-Studio-Proyectos-Acad-micos-Marketing/f45da085-a5d6-4f69-9770-44d4abda6eac/scratchpad/v3x/ppt/media/image-1-1.png">    </p:cNvPr>
          <p:cNvPicPr>
            <a:picLocks noChangeAspect="1"/>
          </p:cNvPicPr>
          <p:nvPr/>
        </p:nvPicPr>
        <p:blipFill>
          <a:blip r:embed="rId1"/>
          <a:stretch>
            <a:fillRect/>
          </a:stretch>
        </p:blipFill>
        <p:spPr>
          <a:xfrm>
            <a:off x="548640" y="411480"/>
            <a:ext cx="1463040" cy="512064"/>
          </a:xfrm>
          <a:prstGeom prst="rect">
            <a:avLst/>
          </a:prstGeom>
        </p:spPr>
      </p:pic>
      <p:sp>
        <p:nvSpPr>
          <p:cNvPr id="3" name="Text 0"/>
          <p:cNvSpPr txBox="1"/>
          <p:nvPr/>
        </p:nvSpPr>
        <p:spPr>
          <a:xfrm>
            <a:off x="384048" y="960120"/>
            <a:ext cx="11430000" cy="1783080"/>
          </a:xfrm>
          <a:prstGeom prst="rect">
            <a:avLst/>
          </a:prstGeom>
          <a:noFill/>
          <a:ln/>
        </p:spPr>
        <p:txBody>
          <a:bodyPr wrap="square" lIns="0" tIns="0" rIns="0" bIns="0" rtlCol="0" anchor="ctr"/>
          <a:lstStyle/>
          <a:p>
            <a:pPr indent="0" marL="0">
              <a:buNone/>
            </a:pPr>
            <a:r>
              <a:rPr lang="en-US" sz="13000" b="1" dirty="0">
                <a:solidFill>
                  <a:schemeClr val="bg1"/>
                </a:solidFill>
              </a:rPr>
              <a:t>Thank you</a:t>
            </a:r>
            <a:endParaRPr lang="en-US" sz="13000" dirty="0"/>
          </a:p>
        </p:txBody>
      </p:sp>
      <p:sp>
        <p:nvSpPr>
          <p:cNvPr id="4" name="sparkle"/>
          <p:cNvSpPr/>
          <p:nvPr/>
        </p:nvSpPr>
        <p:spPr>
          <a:xfrm>
            <a:off x="10241280" y="914400"/>
            <a:ext cx="685800" cy="685800"/>
          </a:xfrm>
          <a:prstGeom prst="star4">
            <a:avLst/>
          </a:prstGeom>
          <a:solidFill>
            <a:schemeClr val="accent2"/>
          </a:solidFill>
          <a:ln/>
        </p:spPr>
      </p:sp>
      <p:sp>
        <p:nvSpPr>
          <p:cNvPr id="5" name="Text 2"/>
          <p:cNvSpPr txBox="1"/>
          <p:nvPr/>
        </p:nvSpPr>
        <p:spPr>
          <a:xfrm rot="-72000">
            <a:off x="658368" y="3063240"/>
            <a:ext cx="2331720" cy="1005840"/>
          </a:xfrm>
          <a:prstGeom prst="roundRect">
            <a:avLst>
              <a:gd name="adj" fmla="val 27273"/>
            </a:avLst>
          </a:prstGeom>
          <a:solidFill>
            <a:schemeClr val="bg1"/>
          </a:solidFill>
          <a:ln/>
        </p:spPr>
        <p:txBody>
          <a:bodyPr wrap="square" lIns="502920" tIns="91440" rIns="182880" bIns="91440" rtlCol="0" anchor="ctr"/>
          <a:lstStyle/>
          <a:p>
            <a:pPr indent="0" marL="0">
              <a:spcAft>
                <a:spcPts val="200"/>
              </a:spcAft>
              <a:buNone/>
            </a:pPr>
            <a:r>
              <a:rPr lang="en-US" sz="1300" b="1" dirty="0">
                <a:solidFill>
                  <a:schemeClr val="accent1"/>
                </a:solidFill>
              </a:rPr>
              <a:t>Diagnosis</a:t>
            </a:r>
            <a:endParaRPr lang="en-US" sz="1100" dirty="0"/>
          </a:p>
          <a:p>
            <a:pPr indent="0" marL="0">
              <a:buNone/>
            </a:pPr>
            <a:r>
              <a:rPr lang="en-US" sz="1100" dirty="0">
                <a:solidFill>
                  <a:schemeClr val="tx1"/>
                </a:solidFill>
              </a:rPr>
              <a:t>Buyers cannot see a car's condition.</a:t>
            </a:r>
            <a:endParaRPr lang="en-US" sz="1100" dirty="0"/>
          </a:p>
        </p:txBody>
      </p:sp>
      <p:sp>
        <p:nvSpPr>
          <p:cNvPr id="6" name="Text 3"/>
          <p:cNvSpPr txBox="1"/>
          <p:nvPr/>
        </p:nvSpPr>
        <p:spPr>
          <a:xfrm>
            <a:off x="768096" y="3364992"/>
            <a:ext cx="329184" cy="32918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7" name="Text 4"/>
          <p:cNvSpPr txBox="1"/>
          <p:nvPr/>
        </p:nvSpPr>
        <p:spPr>
          <a:xfrm rot="48000">
            <a:off x="3172968" y="3063240"/>
            <a:ext cx="2331720" cy="1005840"/>
          </a:xfrm>
          <a:prstGeom prst="roundRect">
            <a:avLst>
              <a:gd name="adj" fmla="val 27273"/>
            </a:avLst>
          </a:prstGeom>
          <a:solidFill>
            <a:schemeClr val="bg1"/>
          </a:solidFill>
          <a:ln/>
        </p:spPr>
        <p:txBody>
          <a:bodyPr wrap="square" lIns="502920" tIns="91440" rIns="182880" bIns="91440" rtlCol="0" anchor="ctr"/>
          <a:lstStyle/>
          <a:p>
            <a:pPr indent="0" marL="0">
              <a:spcAft>
                <a:spcPts val="200"/>
              </a:spcAft>
              <a:buNone/>
            </a:pPr>
            <a:r>
              <a:rPr lang="en-US" sz="1300" b="1" dirty="0">
                <a:solidFill>
                  <a:schemeClr val="accent1"/>
                </a:solidFill>
              </a:rPr>
              <a:t>Objective</a:t>
            </a:r>
            <a:endParaRPr lang="en-US" sz="1100" dirty="0"/>
          </a:p>
          <a:p>
            <a:pPr indent="0" marL="0">
              <a:buNone/>
            </a:pPr>
            <a:r>
              <a:rPr lang="en-US" sz="1100" dirty="0">
                <a:solidFill>
                  <a:schemeClr val="tx1"/>
                </a:solidFill>
              </a:rPr>
              <a:t>Understand what certainty is worth.</a:t>
            </a:r>
            <a:endParaRPr lang="en-US" sz="1100" dirty="0"/>
          </a:p>
        </p:txBody>
      </p:sp>
      <p:sp>
        <p:nvSpPr>
          <p:cNvPr id="8" name="Text 5"/>
          <p:cNvSpPr txBox="1"/>
          <p:nvPr/>
        </p:nvSpPr>
        <p:spPr>
          <a:xfrm>
            <a:off x="3282696" y="3364992"/>
            <a:ext cx="329184" cy="32918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9" name="Text 6"/>
          <p:cNvSpPr txBox="1"/>
          <p:nvPr/>
        </p:nvSpPr>
        <p:spPr>
          <a:xfrm rot="-36000">
            <a:off x="5687568" y="3063240"/>
            <a:ext cx="2331720" cy="1005840"/>
          </a:xfrm>
          <a:prstGeom prst="roundRect">
            <a:avLst>
              <a:gd name="adj" fmla="val 27273"/>
            </a:avLst>
          </a:prstGeom>
          <a:solidFill>
            <a:schemeClr val="bg1"/>
          </a:solidFill>
          <a:ln/>
        </p:spPr>
        <p:txBody>
          <a:bodyPr wrap="square" lIns="502920" tIns="91440" rIns="182880" bIns="91440" rtlCol="0" anchor="ctr"/>
          <a:lstStyle/>
          <a:p>
            <a:pPr indent="0" marL="0">
              <a:spcAft>
                <a:spcPts val="200"/>
              </a:spcAft>
              <a:buNone/>
            </a:pPr>
            <a:r>
              <a:rPr lang="en-US" sz="1300" b="1" dirty="0">
                <a:solidFill>
                  <a:schemeClr val="accent1"/>
                </a:solidFill>
              </a:rPr>
              <a:t>Method</a:t>
            </a:r>
            <a:endParaRPr lang="en-US" sz="1100" dirty="0"/>
          </a:p>
          <a:p>
            <a:pPr indent="0" marL="0">
              <a:buNone/>
            </a:pPr>
            <a:r>
              <a:rPr lang="en-US" sz="1100" dirty="0">
                <a:solidFill>
                  <a:schemeClr val="tx1"/>
                </a:solidFill>
              </a:rPr>
              <a:t>Listen first, then measure.</a:t>
            </a:r>
            <a:endParaRPr lang="en-US" sz="1100" dirty="0"/>
          </a:p>
        </p:txBody>
      </p:sp>
      <p:sp>
        <p:nvSpPr>
          <p:cNvPr id="10" name="Text 7"/>
          <p:cNvSpPr txBox="1"/>
          <p:nvPr/>
        </p:nvSpPr>
        <p:spPr>
          <a:xfrm>
            <a:off x="5797296" y="3364992"/>
            <a:ext cx="329184" cy="329184"/>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1" name="Text 8"/>
          <p:cNvSpPr txBox="1"/>
          <p:nvPr/>
        </p:nvSpPr>
        <p:spPr>
          <a:xfrm>
            <a:off x="548640" y="4434840"/>
            <a:ext cx="1691640" cy="512064"/>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rPr>
              <a:t>Questions?</a:t>
            </a:r>
            <a:endParaRPr lang="en-US" sz="1600" dirty="0"/>
          </a:p>
        </p:txBody>
      </p:sp>
      <p:pic>
        <p:nvPicPr>
          <p:cNvPr id="12" name="Image 1" descr="/private/tmp/claude-501/-Users-seba-Documents-Visual-Studio-Proyectos-Acad-micos-Marketing/f45da085-a5d6-4f69-9770-44d4abda6eac/scratchpad/v3x/ppt/media/image-1-2.png">    </p:cNvPr>
          <p:cNvPicPr>
            <a:picLocks noChangeAspect="1"/>
          </p:cNvPicPr>
          <p:nvPr/>
        </p:nvPicPr>
        <p:blipFill>
          <a:blip r:embed="rId2"/>
          <a:stretch>
            <a:fillRect/>
          </a:stretch>
        </p:blipFill>
        <p:spPr>
          <a:xfrm>
            <a:off x="6583680" y="4023360"/>
            <a:ext cx="5029200" cy="1547165"/>
          </a:xfrm>
          <a:prstGeom prst="rect">
            <a:avLst/>
          </a:prstGeom>
        </p:spPr>
      </p:pic>
      <p:sp>
        <p:nvSpPr>
          <p:cNvPr id="13" name="sparkle"/>
          <p:cNvSpPr/>
          <p:nvPr/>
        </p:nvSpPr>
        <p:spPr>
          <a:xfrm>
            <a:off x="11201400" y="3429000"/>
            <a:ext cx="347472" cy="347472"/>
          </a:xfrm>
          <a:prstGeom prst="star4">
            <a:avLst/>
          </a:prstGeom>
          <a:solidFill>
            <a:schemeClr val="bg1"/>
          </a:solidFill>
          <a:ln/>
        </p:spPr>
      </p:sp>
      <p:sp>
        <p:nvSpPr>
          <p:cNvPr id="14" name="Text 10"/>
          <p:cNvSpPr txBox="1"/>
          <p:nvPr/>
        </p:nvSpPr>
        <p:spPr>
          <a:xfrm>
            <a:off x="548640" y="626364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InfoCar · Strategic Marketing · Universidad del Desarrollo · October 2026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548640" y="841248"/>
            <a:ext cx="9692640" cy="731520"/>
          </a:xfrm>
          <a:prstGeom prst="rect">
            <a:avLst/>
          </a:prstGeom>
          <a:noFill/>
          <a:ln/>
        </p:spPr>
        <p:txBody>
          <a:bodyPr wrap="square" lIns="0" tIns="0" rIns="0" bIns="0" rtlCol="0" anchor="t"/>
          <a:lstStyle/>
          <a:p>
            <a:pPr algn="l" indent="0" marL="0">
              <a:buNone/>
            </a:pPr>
            <a:r>
              <a:rPr lang="en-US" sz="3600" b="1" dirty="0">
                <a:solidFill>
                  <a:schemeClr val="tx1"/>
                </a:solidFill>
              </a:rPr>
              <a:t>References</a:t>
            </a:r>
            <a:endParaRPr lang="en-US" sz="3600" dirty="0"/>
          </a:p>
        </p:txBody>
      </p:sp>
      <p:sp>
        <p:nvSpPr>
          <p:cNvPr id="3" name="Text 3"/>
          <p:cNvSpPr/>
          <p:nvPr>
            <p:ph idx="105" type="body" hasCustomPrompt="1"/>
          </p:nvPr>
        </p:nvSpPr>
        <p:spPr>
          <a:xfrm>
            <a:off x="548640" y="1536192"/>
            <a:ext cx="9692640" cy="548640"/>
          </a:xfrm>
          <a:prstGeom prst="rect">
            <a:avLst/>
          </a:prstGeom>
          <a:noFill/>
          <a:ln/>
        </p:spPr>
        <p:txBody>
          <a:bodyPr wrap="square" lIns="0" tIns="0" rIns="0" bIns="0" rtlCol="0" anchor="t"/>
          <a:lstStyle/>
          <a:p>
            <a:pPr algn="l" indent="0" marL="0">
              <a:buNone/>
            </a:pPr>
            <a:r>
              <a:rPr lang="en-US" sz="1500" dirty="0">
                <a:solidFill>
                  <a:schemeClr val="tx2"/>
                </a:solidFill>
              </a:rPr>
              <a:t>APA 7th edition. Appendix, not part of the timed presentation.</a:t>
            </a:r>
            <a:endParaRPr lang="en-US" sz="1500" dirty="0"/>
          </a:p>
        </p:txBody>
      </p:sp>
      <p:sp>
        <p:nvSpPr>
          <p:cNvPr id="4" name="Text 2"/>
          <p:cNvSpPr txBox="1"/>
          <p:nvPr/>
        </p:nvSpPr>
        <p:spPr>
          <a:xfrm>
            <a:off x="548640" y="2240280"/>
            <a:ext cx="5394960" cy="3931920"/>
          </a:xfrm>
          <a:prstGeom prst="rect">
            <a:avLst/>
          </a:prstGeom>
          <a:noFill/>
          <a:ln/>
        </p:spPr>
        <p:txBody>
          <a:bodyPr wrap="square" lIns="0" tIns="0" rIns="0" bIns="0" rtlCol="0" anchor="t"/>
          <a:lstStyle/>
          <a:p>
            <a:pPr indent="0" marL="0">
              <a:spcAft>
                <a:spcPts val="600"/>
              </a:spcAft>
              <a:buNone/>
            </a:pPr>
            <a:r>
              <a:rPr lang="en-US" sz="900" dirty="0">
                <a:solidFill>
                  <a:schemeClr val="tx1"/>
                </a:solidFill>
              </a:rPr>
              <a:t>Akerlof, G. A. (1970). The market for "lemons": Quality uncertainty and the market mechanism. The Quarterly Journal of Economics, 84(3), 488–500. https://doi.org/10.2307/1879431</a:t>
            </a:r>
            <a:endParaRPr lang="en-US" sz="900" dirty="0"/>
          </a:p>
          <a:p>
            <a:pPr indent="0" marL="0">
              <a:spcAft>
                <a:spcPts val="600"/>
              </a:spcAft>
              <a:buNone/>
            </a:pPr>
            <a:r>
              <a:rPr lang="en-US" sz="900" dirty="0">
                <a:solidFill>
                  <a:schemeClr val="tx1"/>
                </a:solidFill>
              </a:rPr>
              <a:t>Asociación Nacional Automotriz de Chile [ANAC]. (2026). Informe del sector automotor: Cierre 2025 y evolución acumulada 2026. https://www.anac.cl</a:t>
            </a:r>
            <a:endParaRPr lang="en-US" sz="900" dirty="0"/>
          </a:p>
          <a:p>
            <a:pPr indent="0" marL="0">
              <a:spcAft>
                <a:spcPts val="600"/>
              </a:spcAft>
              <a:buNone/>
            </a:pPr>
            <a:r>
              <a:rPr lang="en-US" sz="900" dirty="0">
                <a:solidFill>
                  <a:schemeClr val="tx1"/>
                </a:solidFill>
              </a:rPr>
              <a:t>Cámara de Comercio Automotriz de Chile [CAVEM]. (2026a). Informe del mercado automotor diciembre 2025: Balance de transferencias de livianos y medianos. https://www.cavem.cl</a:t>
            </a:r>
            <a:endParaRPr lang="en-US" sz="900" dirty="0"/>
          </a:p>
          <a:p>
            <a:pPr indent="0" marL="0">
              <a:spcAft>
                <a:spcPts val="600"/>
              </a:spcAft>
              <a:buNone/>
            </a:pPr>
            <a:r>
              <a:rPr lang="en-US" sz="900" dirty="0">
                <a:solidFill>
                  <a:schemeClr val="tx1"/>
                </a:solidFill>
              </a:rPr>
              <a:t>Cámara de Comercio Automotriz de Chile [CAVEM]. (2026c). Informe estadístico septiembre 2026: Transferencias acumuladas de usados y ventas de nuevos. https://www.cavem.cl</a:t>
            </a:r>
            <a:endParaRPr lang="en-US" sz="900" dirty="0"/>
          </a:p>
          <a:p>
            <a:pPr indent="0" marL="0">
              <a:spcAft>
                <a:spcPts val="600"/>
              </a:spcAft>
              <a:buNone/>
            </a:pPr>
            <a:r>
              <a:rPr lang="en-US" sz="900" dirty="0">
                <a:solidFill>
                  <a:schemeClr val="tx1"/>
                </a:solidFill>
              </a:rPr>
              <a:t>Cámara de Comercio Automotriz de Chile [CAVEM]. (2026e, October 11). Marcas chinas de autos usados en Chile: cuántas se transfieren y qué buscan los compradores según CAVEM. https://www.cavem.cl/noticias/marcas-chinas-de-autos-usados-en-chile-cuntas-se-transfieren-y-qu-buscan-los-compradores-segn-cavem</a:t>
            </a:r>
            <a:endParaRPr lang="en-US" sz="900" dirty="0"/>
          </a:p>
          <a:p>
            <a:pPr indent="0" marL="0">
              <a:spcAft>
                <a:spcPts val="600"/>
              </a:spcAft>
              <a:buNone/>
            </a:pPr>
            <a:r>
              <a:rPr lang="en-US" sz="900" dirty="0">
                <a:solidFill>
                  <a:schemeClr val="tx1"/>
                </a:solidFill>
              </a:rPr>
              <a:t>Farías, C. (2026, May 8). El dolor de cabeza tras chocar: Reparaciones de vehículos en talleres asegurados promedian 52 días. La Tercera. https://www.latercera.com</a:t>
            </a:r>
            <a:endParaRPr lang="en-US" sz="900" dirty="0"/>
          </a:p>
        </p:txBody>
      </p:sp>
      <p:sp>
        <p:nvSpPr>
          <p:cNvPr id="5" name="Text 3"/>
          <p:cNvSpPr txBox="1"/>
          <p:nvPr/>
        </p:nvSpPr>
        <p:spPr>
          <a:xfrm>
            <a:off x="6217920" y="2240280"/>
            <a:ext cx="5394960" cy="3931920"/>
          </a:xfrm>
          <a:prstGeom prst="rect">
            <a:avLst/>
          </a:prstGeom>
          <a:noFill/>
          <a:ln/>
        </p:spPr>
        <p:txBody>
          <a:bodyPr wrap="square" lIns="0" tIns="0" rIns="0" bIns="0" rtlCol="0" anchor="t"/>
          <a:lstStyle/>
          <a:p>
            <a:pPr indent="0" marL="0">
              <a:spcAft>
                <a:spcPts val="600"/>
              </a:spcAft>
              <a:buNone/>
            </a:pPr>
            <a:r>
              <a:rPr lang="en-US" sz="900" dirty="0">
                <a:solidFill>
                  <a:schemeClr val="tx1"/>
                </a:solidFill>
              </a:rPr>
              <a:t>GoAuto. (n.d.). GoAuto. Retrieved October 26, 2026, from https://www.goauto.cl/</a:t>
            </a:r>
            <a:endParaRPr lang="en-US" sz="900" dirty="0"/>
          </a:p>
          <a:p>
            <a:pPr indent="0" marL="0">
              <a:spcAft>
                <a:spcPts val="600"/>
              </a:spcAft>
              <a:buNone/>
            </a:pPr>
            <a:r>
              <a:rPr lang="en-US" sz="900" dirty="0">
                <a:solidFill>
                  <a:schemeClr val="tx1"/>
                </a:solidFill>
              </a:rPr>
              <a:t>Guzmán, J. P. (2026, February 13). Radiografía al mercado de autos usados en Chile 2025: Precios promedio suben 5% y Ford F-150 lidera búsquedas. Emol Economía. https://www.emol.com</a:t>
            </a:r>
            <a:endParaRPr lang="en-US" sz="900" dirty="0"/>
          </a:p>
          <a:p>
            <a:pPr indent="0" marL="0">
              <a:spcAft>
                <a:spcPts val="600"/>
              </a:spcAft>
              <a:buNone/>
            </a:pPr>
            <a:r>
              <a:rPr lang="en-US" sz="900" dirty="0">
                <a:solidFill>
                  <a:schemeClr val="tx1"/>
                </a:solidFill>
              </a:rPr>
              <a:t>Ley N.° 19.496. (1997, March 7). Establece normas sobre protección de los derechos de los consumidores. Biblioteca del Congreso Nacional de Chile. https://www.bcn.cl/leychile/navegar?idNorma=61438</a:t>
            </a:r>
            <a:endParaRPr lang="en-US" sz="900" dirty="0"/>
          </a:p>
          <a:p>
            <a:pPr indent="0" marL="0">
              <a:spcAft>
                <a:spcPts val="600"/>
              </a:spcAft>
              <a:buNone/>
            </a:pPr>
            <a:r>
              <a:rPr lang="en-US" sz="900" dirty="0">
                <a:solidFill>
                  <a:schemeClr val="tx1"/>
                </a:solidFill>
              </a:rPr>
              <a:t>Melelli Viveros, A. (2026, October 6). Récord de fraudes vehiculares en Chile: Causas judiciales ingresadas suben 64% en 2025. The Clinic. https://www.theclinic.cl</a:t>
            </a:r>
            <a:endParaRPr lang="en-US" sz="900" dirty="0"/>
          </a:p>
          <a:p>
            <a:pPr indent="0" marL="0">
              <a:spcAft>
                <a:spcPts val="600"/>
              </a:spcAft>
              <a:buNone/>
            </a:pPr>
            <a:r>
              <a:rPr lang="en-US" sz="900" dirty="0">
                <a:solidFill>
                  <a:schemeClr val="tx1"/>
                </a:solidFill>
              </a:rPr>
              <a:t>Rodar. (n.d.). Rodar. Retrieved October 26, 2026, from https://www.rodar.cl/</a:t>
            </a:r>
            <a:endParaRPr lang="en-US" sz="900" dirty="0"/>
          </a:p>
          <a:p>
            <a:pPr indent="0" marL="0">
              <a:spcAft>
                <a:spcPts val="600"/>
              </a:spcAft>
              <a:buNone/>
            </a:pPr>
            <a:r>
              <a:rPr lang="en-US" sz="900" dirty="0">
                <a:solidFill>
                  <a:schemeClr val="tx1"/>
                </a:solidFill>
              </a:rPr>
              <a:t>Servicio de Impuestos Internos [SII]. (2024). Estadísticas de empresas por rubro y actividad económica. https://www.sii.cl/sobre_el_sii/estadisticas_de_empresas.html</a:t>
            </a:r>
            <a:endParaRPr lang="en-US" sz="900" dirty="0"/>
          </a:p>
        </p:txBody>
      </p:sp>
      <p:sp>
        <p:nvSpPr>
          <p:cNvPr id="6" name="Text 3"/>
          <p:cNvSpPr/>
          <p:nvPr>
            <p:ph idx="106" type="body" hasCustomPrompt="1"/>
          </p:nvPr>
        </p:nvSpPr>
        <p:spPr>
          <a:xfrm>
            <a:off x="548640" y="6309360"/>
            <a:ext cx="9966960" cy="292608"/>
          </a:xfrm>
          <a:prstGeom prst="rect">
            <a:avLst/>
          </a:prstGeom>
          <a:noFill/>
          <a:ln/>
        </p:spPr>
        <p:txBody>
          <a:bodyPr wrap="square" lIns="0" tIns="0" rIns="0" bIns="0" rtlCol="0" anchor="ctr"/>
          <a:lstStyle/>
          <a:p>
            <a:pPr algn="l" indent="0" marL="0">
              <a:buNone/>
            </a:pPr>
            <a:endParaRPr lang="en-US" sz="850" dirty="0"/>
          </a:p>
        </p:txBody>
      </p:sp>
      <p:sp>
        <p:nvSpPr>
          <p:cNvPr id="25" name="Slide Number Placeholder 0"/>
          <p:cNvSpPr>
            <a:spLocks noGrp="1"/>
          </p:cNvSpPr>
          <p:nvPr>
            <p:ph type="sldNum" sz="quarter" idx="4294967295"/>
          </p:nvPr>
        </p:nvSpPr>
        <p:spPr>
          <a:xfrm>
            <a:off x="10981944" y="6309360"/>
            <a:ext cx="658368" cy="292608"/>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1"/>
                </a:solidFill>
              </a:defRPr>
            </a:lvl1pPr>
          </a:lstStyle>
          <a:p>
            <a:pPr algn="ct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InfoCar Canva">
  <a:themeElements>
    <a:clrScheme name="InfoCar Canva">
      <a:dk1>
        <a:srgbClr val="12141C"/>
      </a:dk1>
      <a:lt1>
        <a:srgbClr val="FFFFFF"/>
      </a:lt1>
      <a:dk2>
        <a:srgbClr val="5E6475"/>
      </a:dk2>
      <a:lt2>
        <a:srgbClr val="F3F4F7"/>
      </a:lt2>
      <a:accent1>
        <a:srgbClr val="2340E0"/>
      </a:accent1>
      <a:accent2>
        <a:srgbClr val="FFCF1F"/>
      </a:accent2>
      <a:accent3>
        <a:srgbClr val="E4E9FF"/>
      </a:accent3>
      <a:accent4>
        <a:srgbClr val="9AABF5"/>
      </a:accent4>
      <a:accent5>
        <a:srgbClr val="C9D2FF"/>
      </a:accent5>
      <a:accent6>
        <a:srgbClr val="D5D9E3"/>
      </a:accent6>
      <a:hlink>
        <a:srgbClr val="2340E0"/>
      </a:hlink>
      <a:folHlink>
        <a:srgbClr val="5E6475"/>
      </a:folHlink>
    </a:clrScheme>
    <a:fontScheme name="InfoCar Canv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Universidad del Desarrollo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InfoCar: Research Methodology Proposal</dc:title>
  <dc:subject>PptxGenJS Presentation</dc:subject>
  <dc:creator>InfoCar team, Universidad del Desarrollo</dc:creator>
  <cp:lastModifiedBy>InfoCar team, Universidad del Desarrollo</cp:lastModifiedBy>
  <cp:revision>1</cp:revision>
  <dcterms:created xsi:type="dcterms:W3CDTF">2026-10-26T18:41:02Z</dcterms:created>
  <dcterms:modified xsi:type="dcterms:W3CDTF">2026-10-26T18:41:02Z</dcterms:modified>
</cp:coreProperties>
</file>